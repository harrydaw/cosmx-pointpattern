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99" cy="4280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999" cy="44640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360000"/>
            <a:ext cx="25200000" cy="1872000"/>
          </a:xfrm>
          <a:prstGeom prst="rect">
            <a:avLst/>
          </a:prstGeom>
          <a:noFill/>
        </p:spPr>
        <p:txBody>
          <a:bodyPr wrap="square" anchor="t" lIns="36000" rIns="36000" tIns="18000" bIns="18000">
            <a:spAutoFit/>
          </a:bodyPr>
          <a:lstStyle/>
          <a:p>
            <a:pPr algn="l">
              <a:lnSpc>
                <a:spcPct val="100000"/>
              </a:lnSpc>
            </a:pPr>
            <a:r>
              <a:rPr sz="5800" b="1" i="0">
                <a:solidFill>
                  <a:srgbClr val="FFFFFF"/>
                </a:solidFill>
                <a:latin typeface="Arial"/>
              </a:rPr>
              <a:t>NoSeggs: Segmentation-Free Ligand–Receptor Co-Localisation in Spatial Transcriptomics</a:t>
            </a:r>
          </a:p>
        </p:txBody>
      </p:sp>
      <p:sp>
        <p:nvSpPr>
          <p:cNvPr id="4" name="TextBox 3"/>
          <p:cNvSpPr txBox="1"/>
          <p:nvPr/>
        </p:nvSpPr>
        <p:spPr>
          <a:xfrm>
            <a:off x="720000" y="2340000"/>
            <a:ext cx="25920000" cy="612000"/>
          </a:xfrm>
          <a:prstGeom prst="rect">
            <a:avLst/>
          </a:prstGeom>
          <a:noFill/>
        </p:spPr>
        <p:txBody>
          <a:bodyPr wrap="square" anchor="t" lIns="36000" rIns="36000" tIns="18000" bIns="18000">
            <a:spAutoFit/>
          </a:bodyPr>
          <a:lstStyle/>
          <a:p>
            <a:pPr algn="l"/>
            <a:r>
              <a:rPr sz="2600" b="0" i="1">
                <a:solidFill>
                  <a:srgbClr val="C9A8D4"/>
                </a:solidFill>
                <a:latin typeface="Arial"/>
              </a:rPr>
              <a:t>Bivariate point-pattern statistics on raw transcripts — no cells, no clusters, no segmentation.</a:t>
            </a:r>
          </a:p>
        </p:txBody>
      </p:sp>
      <p:sp>
        <p:nvSpPr>
          <p:cNvPr id="5" name="TextBox 4"/>
          <p:cNvSpPr txBox="1"/>
          <p:nvPr/>
        </p:nvSpPr>
        <p:spPr>
          <a:xfrm>
            <a:off x="720000" y="3060000"/>
            <a:ext cx="27360000" cy="468000"/>
          </a:xfrm>
          <a:prstGeom prst="rect">
            <a:avLst/>
          </a:prstGeom>
          <a:noFill/>
        </p:spPr>
        <p:txBody>
          <a:bodyPr wrap="square" anchor="t" lIns="36000" rIns="36000" tIns="18000" bIns="18000">
            <a:spAutoFit/>
          </a:bodyPr>
          <a:lstStyle/>
          <a:p>
            <a:pPr algn="l"/>
            <a:r>
              <a:rPr sz="2200" b="0" i="0">
                <a:solidFill>
                  <a:srgbClr val="FFFFFF"/>
                </a:solidFill>
                <a:latin typeface="Arial"/>
              </a:rPr>
              <a:t>Harry Woodward   ·   Supervisor: Dr Dan Nicolau, Nicolau Lab   ·   MSc Bioinformatics, King's College London   ·   2026</a:t>
            </a:r>
          </a:p>
        </p:txBody>
      </p:sp>
      <p:sp>
        <p:nvSpPr>
          <p:cNvPr id="6" name="TextBox 5"/>
          <p:cNvSpPr txBox="1"/>
          <p:nvPr/>
        </p:nvSpPr>
        <p:spPr>
          <a:xfrm>
            <a:off x="720000" y="3600000"/>
            <a:ext cx="27360000" cy="540000"/>
          </a:xfrm>
          <a:prstGeom prst="rect">
            <a:avLst/>
          </a:prstGeom>
          <a:noFill/>
        </p:spPr>
        <p:txBody>
          <a:bodyPr wrap="square" anchor="t" lIns="36000" rIns="36000" tIns="18000" bIns="18000">
            <a:spAutoFit/>
          </a:bodyPr>
          <a:lstStyle/>
          <a:p>
            <a:pPr algn="l"/>
            <a:r>
              <a:rPr sz="1800" b="0" i="0">
                <a:solidFill>
                  <a:srgbClr val="C9A8D4"/>
                </a:solidFill>
                <a:latin typeface="Arial"/>
              </a:rPr>
              <a:t>Platform: NanoString CosMx SMI    ·    Tissue: severe asthmatic, RSV-infected human lung    ·    ~2.66 M transcripts    ·    1,000-gene panel</a:t>
            </a:r>
          </a:p>
        </p:txBody>
      </p:sp>
      <p:pic>
        <p:nvPicPr>
          <p:cNvPr id="7" name="Picture 6" descr="pic_48.png"/>
          <p:cNvPicPr>
            <a:picLocks noChangeAspect="1"/>
          </p:cNvPicPr>
          <p:nvPr/>
        </p:nvPicPr>
        <p:blipFill>
          <a:blip r:embed="rId2"/>
          <a:stretch>
            <a:fillRect/>
          </a:stretch>
        </p:blipFill>
        <p:spPr>
          <a:xfrm>
            <a:off x="26604000" y="396000"/>
            <a:ext cx="3096000" cy="2360700"/>
          </a:xfrm>
          <a:prstGeom prst="rect">
            <a:avLst/>
          </a:prstGeom>
        </p:spPr>
      </p:pic>
      <p:sp>
        <p:nvSpPr>
          <p:cNvPr id="8" name="Rounded Rectangle 7"/>
          <p:cNvSpPr/>
          <p:nvPr/>
        </p:nvSpPr>
        <p:spPr>
          <a:xfrm>
            <a:off x="720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512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0304000" y="4752000"/>
            <a:ext cx="9252000" cy="31463999"/>
          </a:xfrm>
          <a:prstGeom prst="roundRect">
            <a:avLst>
              <a:gd name="adj" fmla="val 3000"/>
            </a:avLst>
          </a:prstGeom>
          <a:solidFill>
            <a:srgbClr val="F3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6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Introduction</a:t>
            </a:r>
          </a:p>
        </p:txBody>
      </p:sp>
      <p:sp>
        <p:nvSpPr>
          <p:cNvPr id="12" name="Rectangle 11"/>
          <p:cNvSpPr/>
          <p:nvPr/>
        </p:nvSpPr>
        <p:spPr>
          <a:xfrm>
            <a:off x="936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5543999"/>
            <a:ext cx="8820000" cy="4680000"/>
          </a:xfrm>
          <a:prstGeom prst="rect">
            <a:avLst/>
          </a:prstGeom>
          <a:noFill/>
        </p:spPr>
        <p:txBody>
          <a:bodyPr wrap="square" anchor="t" lIns="36000" rIns="36000" tIns="18000" bIns="18000">
            <a:spAutoFit/>
          </a:bodyPr>
          <a:lstStyle/>
          <a:p>
            <a:pPr algn="l">
              <a:lnSpc>
                <a:spcPct val="104000"/>
              </a:lnSpc>
              <a:spcAft>
                <a:spcPts val="800"/>
              </a:spcAft>
            </a:pPr>
            <a:r>
              <a:rPr sz="1600" b="0" i="0">
                <a:solidFill>
                  <a:srgbClr val="2C2C2C"/>
                </a:solidFill>
                <a:latin typeface="Arial"/>
              </a:rPr>
              <a:t>Spatial transcriptomics maps gene expression at single-molecule resolution in intact tissue. Almost every downstream analysis — cell-type calling, ligand–receptor inference, niche detection — requires a fragile first step: assigning each transcript to a cell.</a:t>
            </a:r>
          </a:p>
          <a:p>
            <a:pPr algn="l">
              <a:lnSpc>
                <a:spcPct val="104000"/>
              </a:lnSpc>
              <a:spcAft>
                <a:spcPts val="800"/>
              </a:spcAft>
            </a:pPr>
            <a:r>
              <a:rPr sz="1600" b="0" i="0">
                <a:solidFill>
                  <a:srgbClr val="2C2C2C"/>
                </a:solidFill>
                <a:latin typeface="Arial"/>
              </a:rPr>
              <a:t>On the CosMx sample analysed here, vendor segmentation leaves ~42% of transcripts unassigned and most subcellular labels missing. Third-party tools (Cellpose, MOSAIK) cannot recover the signal from poor DAPI staining, so standard downstream tools (CellChat, LIANA, Bento) become unusable.</a:t>
            </a:r>
          </a:p>
          <a:p>
            <a:pPr algn="l">
              <a:lnSpc>
                <a:spcPct val="104000"/>
              </a:lnSpc>
              <a:spcAft>
                <a:spcPts val="600"/>
              </a:spcAft>
            </a:pPr>
            <a:r>
              <a:rPr sz="1600" b="0" i="0">
                <a:solidFill>
                  <a:srgbClr val="2C2C2C"/>
                </a:solidFill>
                <a:latin typeface="Arial"/>
              </a:rPr>
              <a:t>NoSeggs takes a different route: treat each gene as a 2D point pattern in tissue space, and use bivariate Ripley's K-functions with label-permutation envelopes to detect ligand–receptor co-localisation directly. No cells. No clusters. Just transcripts.</a:t>
            </a:r>
          </a:p>
          <a:p>
            <a:pPr algn="l"/>
            <a:r>
              <a:rPr sz="1300" b="0" i="1">
                <a:solidFill>
                  <a:srgbClr val="9A7AAE"/>
                </a:solidFill>
                <a:latin typeface="Arial"/>
              </a:rPr>
              <a:t>[ FILL: confirm 42% dropout wording matches M1 = 43.6%; add one sentence on why this dataset matters clinically. ]</a:t>
            </a:r>
          </a:p>
        </p:txBody>
      </p:sp>
      <p:sp>
        <p:nvSpPr>
          <p:cNvPr id="14" name="TextBox 13"/>
          <p:cNvSpPr txBox="1"/>
          <p:nvPr/>
        </p:nvSpPr>
        <p:spPr>
          <a:xfrm>
            <a:off x="936000" y="10367999"/>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The Problem — Segmentation Fails</a:t>
            </a:r>
          </a:p>
        </p:txBody>
      </p:sp>
      <p:sp>
        <p:nvSpPr>
          <p:cNvPr id="15" name="Rectangle 14"/>
          <p:cNvSpPr/>
          <p:nvPr/>
        </p:nvSpPr>
        <p:spPr>
          <a:xfrm>
            <a:off x="936000" y="10889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14_M0_raw_data.png"/>
          <p:cNvPicPr>
            <a:picLocks noChangeAspect="1"/>
          </p:cNvPicPr>
          <p:nvPr/>
        </p:nvPicPr>
        <p:blipFill>
          <a:blip r:embed="rId3"/>
          <a:stretch>
            <a:fillRect/>
          </a:stretch>
        </p:blipFill>
        <p:spPr>
          <a:xfrm>
            <a:off x="936000" y="10979999"/>
            <a:ext cx="8820000" cy="3310173"/>
          </a:xfrm>
          <a:prstGeom prst="rect">
            <a:avLst/>
          </a:prstGeom>
        </p:spPr>
      </p:pic>
      <p:sp>
        <p:nvSpPr>
          <p:cNvPr id="17" name="TextBox 16"/>
          <p:cNvSpPr txBox="1"/>
          <p:nvPr/>
        </p:nvSpPr>
        <p:spPr>
          <a:xfrm>
            <a:off x="936000" y="14380173"/>
            <a:ext cx="8820000" cy="1296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M0. </a:t>
            </a:r>
            <a:r>
              <a:rPr sz="1400" b="0" i="0">
                <a:solidFill>
                  <a:srgbClr val="3A3A3A"/>
                </a:solidFill>
                <a:latin typeface="Arial"/>
              </a:rPr>
              <a:t>One field of view, three layers. Left: raw DAPI morphology. Middle: the vendor cell-segmentation mask (148 cells) — the layer NoSeggs discards. Right: the raw transcripts, with ~40% never assigned to any cell (magenta). NoSeggs carries every point through.</a:t>
            </a:r>
          </a:p>
        </p:txBody>
      </p:sp>
      <p:pic>
        <p:nvPicPr>
          <p:cNvPr id="18" name="Picture 17" descr="14_M1_segmentation_dropout.png"/>
          <p:cNvPicPr>
            <a:picLocks noChangeAspect="1"/>
          </p:cNvPicPr>
          <p:nvPr/>
        </p:nvPicPr>
        <p:blipFill>
          <a:blip r:embed="rId4"/>
          <a:stretch>
            <a:fillRect/>
          </a:stretch>
        </p:blipFill>
        <p:spPr>
          <a:xfrm>
            <a:off x="936000" y="15784173"/>
            <a:ext cx="8820000" cy="3736103"/>
          </a:xfrm>
          <a:prstGeom prst="rect">
            <a:avLst/>
          </a:prstGeom>
        </p:spPr>
      </p:pic>
      <p:sp>
        <p:nvSpPr>
          <p:cNvPr id="19" name="TextBox 18"/>
          <p:cNvSpPr txBox="1"/>
          <p:nvPr/>
        </p:nvSpPr>
        <p:spPr>
          <a:xfrm>
            <a:off x="936000" y="19610276"/>
            <a:ext cx="8820000" cy="104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M1. </a:t>
            </a:r>
            <a:r>
              <a:rPr sz="1400" b="0" i="0">
                <a:solidFill>
                  <a:srgbClr val="3A3A3A"/>
                </a:solidFill>
                <a:latin typeface="Arial"/>
              </a:rPr>
              <a:t>Across all FOVs, vendor segmentation never assigns 43.6% of transcripts to a cell, so every cell-level tool silently discards them — consistently across the whole dataset.</a:t>
            </a:r>
          </a:p>
        </p:txBody>
      </p:sp>
      <p:sp>
        <p:nvSpPr>
          <p:cNvPr id="20" name="TextBox 19"/>
          <p:cNvSpPr txBox="1"/>
          <p:nvPr/>
        </p:nvSpPr>
        <p:spPr>
          <a:xfrm>
            <a:off x="936000" y="20762276"/>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From Transcripts to Point Patterns</a:t>
            </a:r>
          </a:p>
        </p:txBody>
      </p:sp>
      <p:sp>
        <p:nvSpPr>
          <p:cNvPr id="21" name="Rectangle 20"/>
          <p:cNvSpPr/>
          <p:nvPr/>
        </p:nvSpPr>
        <p:spPr>
          <a:xfrm>
            <a:off x="936000" y="21284276"/>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4_M2_gmm_strips.png"/>
          <p:cNvPicPr>
            <a:picLocks noChangeAspect="1"/>
          </p:cNvPicPr>
          <p:nvPr/>
        </p:nvPicPr>
        <p:blipFill>
          <a:blip r:embed="rId5"/>
          <a:stretch>
            <a:fillRect/>
          </a:stretch>
        </p:blipFill>
        <p:spPr>
          <a:xfrm>
            <a:off x="936000" y="21374276"/>
            <a:ext cx="8820000" cy="4675427"/>
          </a:xfrm>
          <a:prstGeom prst="rect">
            <a:avLst/>
          </a:prstGeom>
        </p:spPr>
      </p:pic>
      <p:sp>
        <p:nvSpPr>
          <p:cNvPr id="23" name="TextBox 22"/>
          <p:cNvSpPr txBox="1"/>
          <p:nvPr/>
        </p:nvSpPr>
        <p:spPr>
          <a:xfrm>
            <a:off x="936000" y="26139703"/>
            <a:ext cx="8820000" cy="1080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M2. </a:t>
            </a:r>
            <a:r>
              <a:rPr sz="1400" b="0" i="0">
                <a:solidFill>
                  <a:srgbClr val="3A3A3A"/>
                </a:solidFill>
                <a:latin typeface="Arial"/>
              </a:rPr>
              <a:t>After PCA aligns the tissue axis, a per-FOV 3-component Gaussian mixture separates the three tissue strips; boundaries are set per FOV, with manual overrides where the mixture is ambiguous.</a:t>
            </a:r>
          </a:p>
        </p:txBody>
      </p:sp>
      <p:sp>
        <p:nvSpPr>
          <p:cNvPr id="24" name="TextBox 23"/>
          <p:cNvSpPr txBox="1"/>
          <p:nvPr/>
        </p:nvSpPr>
        <p:spPr>
          <a:xfrm>
            <a:off x="936000" y="27363703"/>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Adaptive noise removal</a:t>
            </a:r>
          </a:p>
        </p:txBody>
      </p:sp>
      <p:pic>
        <p:nvPicPr>
          <p:cNvPr id="25" name="Picture 24" descr="14_M3_dbscan_qc.png"/>
          <p:cNvPicPr>
            <a:picLocks noChangeAspect="1"/>
          </p:cNvPicPr>
          <p:nvPr/>
        </p:nvPicPr>
        <p:blipFill>
          <a:blip r:embed="rId6"/>
          <a:stretch>
            <a:fillRect/>
          </a:stretch>
        </p:blipFill>
        <p:spPr>
          <a:xfrm>
            <a:off x="936000" y="27777703"/>
            <a:ext cx="8820000" cy="3996734"/>
          </a:xfrm>
          <a:prstGeom prst="rect">
            <a:avLst/>
          </a:prstGeom>
        </p:spPr>
      </p:pic>
      <p:sp>
        <p:nvSpPr>
          <p:cNvPr id="26" name="TextBox 25"/>
          <p:cNvSpPr txBox="1"/>
          <p:nvPr/>
        </p:nvSpPr>
        <p:spPr>
          <a:xfrm>
            <a:off x="936000" y="31864436"/>
            <a:ext cx="8820000" cy="104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M3. </a:t>
            </a:r>
            <a:r>
              <a:rPr sz="1400" b="0" i="0">
                <a:solidFill>
                  <a:srgbClr val="3A3A3A"/>
                </a:solidFill>
                <a:latin typeface="Arial"/>
              </a:rPr>
              <a:t>DBSCAN with an adaptively-set ε (97th-percentile 1-NN, clipped 20–30 px) flags diffuse background and stray clusters; 87% of transcripts survive QC.</a:t>
            </a:r>
          </a:p>
        </p:txBody>
      </p:sp>
      <p:sp>
        <p:nvSpPr>
          <p:cNvPr id="27" name="TextBox 26"/>
          <p:cNvSpPr txBox="1"/>
          <p:nvPr/>
        </p:nvSpPr>
        <p:spPr>
          <a:xfrm>
            <a:off x="10728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Methods — The NoSeggs Pipeline</a:t>
            </a:r>
          </a:p>
        </p:txBody>
      </p:sp>
      <p:sp>
        <p:nvSpPr>
          <p:cNvPr id="28" name="Rectangle 27"/>
          <p:cNvSpPr/>
          <p:nvPr/>
        </p:nvSpPr>
        <p:spPr>
          <a:xfrm>
            <a:off x="10728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14_M6_workflow.png"/>
          <p:cNvPicPr>
            <a:picLocks noChangeAspect="1"/>
          </p:cNvPicPr>
          <p:nvPr/>
        </p:nvPicPr>
        <p:blipFill>
          <a:blip r:embed="rId7"/>
          <a:stretch>
            <a:fillRect/>
          </a:stretch>
        </p:blipFill>
        <p:spPr>
          <a:xfrm>
            <a:off x="12167999" y="5543999"/>
            <a:ext cx="5940000" cy="8000955"/>
          </a:xfrm>
          <a:prstGeom prst="rect">
            <a:avLst/>
          </a:prstGeom>
        </p:spPr>
      </p:pic>
      <p:sp>
        <p:nvSpPr>
          <p:cNvPr id="30" name="TextBox 29"/>
          <p:cNvSpPr txBox="1"/>
          <p:nvPr/>
        </p:nvSpPr>
        <p:spPr>
          <a:xfrm>
            <a:off x="10728000" y="13616955"/>
            <a:ext cx="8820000" cy="1152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M6. </a:t>
            </a:r>
            <a:r>
              <a:rPr sz="1400" b="0" i="0">
                <a:solidFill>
                  <a:srgbClr val="3A3A3A"/>
                </a:solidFill>
                <a:latin typeface="Arial"/>
              </a:rPr>
              <a:t>The end-to-end workflow and a quick-start guide. Eight stages from raw transcripts to signalling networks; amber chips mark the tunable options at each step (GMM components, adaptive ε, window type, multi-scale r-grid, n_sim, binary vs continuous SES).</a:t>
            </a:r>
          </a:p>
        </p:txBody>
      </p:sp>
      <p:sp>
        <p:nvSpPr>
          <p:cNvPr id="31" name="TextBox 30"/>
          <p:cNvSpPr txBox="1"/>
          <p:nvPr/>
        </p:nvSpPr>
        <p:spPr>
          <a:xfrm>
            <a:off x="10728000" y="14858955"/>
            <a:ext cx="8820000" cy="1152000"/>
          </a:xfrm>
          <a:prstGeom prst="rect">
            <a:avLst/>
          </a:prstGeom>
          <a:noFill/>
        </p:spPr>
        <p:txBody>
          <a:bodyPr wrap="square" anchor="t" lIns="36000" rIns="36000" tIns="18000" bIns="18000">
            <a:spAutoFit/>
          </a:bodyPr>
          <a:lstStyle/>
          <a:p>
            <a:pPr algn="l">
              <a:lnSpc>
                <a:spcPct val="103000"/>
              </a:lnSpc>
              <a:spcAft>
                <a:spcPts val="500"/>
              </a:spcAft>
            </a:pPr>
            <a:r>
              <a:rPr sz="1500" b="1" i="0">
                <a:solidFill>
                  <a:srgbClr val="500778"/>
                </a:solidFill>
                <a:latin typeface="Arial"/>
              </a:rPr>
              <a:t>Significance → effect size.  </a:t>
            </a:r>
            <a:r>
              <a:rPr sz="1500" b="0" i="0">
                <a:solidFill>
                  <a:srgbClr val="2C2C2C"/>
                </a:solidFill>
                <a:latin typeface="Arial"/>
              </a:rPr>
              <a:t>Under the production concave-hull window even the positive control sits within the permutation envelope — the window is the dominant lever for inferential power. We rank pairs by continuous standardised effect size (SES), the continuous form of the global rank envelope test (Myllymäki 2017), not binary significance.</a:t>
            </a:r>
          </a:p>
        </p:txBody>
      </p:sp>
      <p:sp>
        <p:nvSpPr>
          <p:cNvPr id="32" name="TextBox 31"/>
          <p:cNvSpPr txBox="1"/>
          <p:nvPr/>
        </p:nvSpPr>
        <p:spPr>
          <a:xfrm>
            <a:off x="10728000" y="16082955"/>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Observation window</a:t>
            </a:r>
          </a:p>
        </p:txBody>
      </p:sp>
      <p:pic>
        <p:nvPicPr>
          <p:cNvPr id="33" name="Picture 32" descr="14_M4_window_iterations.png"/>
          <p:cNvPicPr>
            <a:picLocks noChangeAspect="1"/>
          </p:cNvPicPr>
          <p:nvPr/>
        </p:nvPicPr>
        <p:blipFill>
          <a:blip r:embed="rId8"/>
          <a:stretch>
            <a:fillRect/>
          </a:stretch>
        </p:blipFill>
        <p:spPr>
          <a:xfrm>
            <a:off x="11537999" y="16496955"/>
            <a:ext cx="7200000" cy="4429012"/>
          </a:xfrm>
          <a:prstGeom prst="rect">
            <a:avLst/>
          </a:prstGeom>
        </p:spPr>
      </p:pic>
      <p:sp>
        <p:nvSpPr>
          <p:cNvPr id="34" name="TextBox 33"/>
          <p:cNvSpPr txBox="1"/>
          <p:nvPr/>
        </p:nvSpPr>
        <p:spPr>
          <a:xfrm>
            <a:off x="10728000" y="20997967"/>
            <a:ext cx="8820000" cy="972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M4. </a:t>
            </a:r>
            <a:r>
              <a:rPr sz="1400" b="0" i="0">
                <a:solidFill>
                  <a:srgbClr val="3A3A3A"/>
                </a:solidFill>
                <a:latin typeface="Arial"/>
              </a:rPr>
              <a:t>The observation window is the dominant lever for inferential power. A concave hull tracks the true tissue extent, shrinking the area ~20× vs the bounding box and tightening the permutation null.</a:t>
            </a:r>
          </a:p>
        </p:txBody>
      </p:sp>
      <p:sp>
        <p:nvSpPr>
          <p:cNvPr id="35" name="TextBox 34"/>
          <p:cNvSpPr txBox="1"/>
          <p:nvPr/>
        </p:nvSpPr>
        <p:spPr>
          <a:xfrm>
            <a:off x="10728000" y="22077967"/>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Multi-scale r-grid &amp; edge correction</a:t>
            </a:r>
          </a:p>
        </p:txBody>
      </p:sp>
      <p:pic>
        <p:nvPicPr>
          <p:cNvPr id="36" name="Picture 35" descr="14_M5_rscale.png"/>
          <p:cNvPicPr>
            <a:picLocks noChangeAspect="1"/>
          </p:cNvPicPr>
          <p:nvPr/>
        </p:nvPicPr>
        <p:blipFill>
          <a:blip r:embed="rId9"/>
          <a:stretch>
            <a:fillRect/>
          </a:stretch>
        </p:blipFill>
        <p:spPr>
          <a:xfrm>
            <a:off x="10728000" y="22491967"/>
            <a:ext cx="8820000" cy="3026288"/>
          </a:xfrm>
          <a:prstGeom prst="rect">
            <a:avLst/>
          </a:prstGeom>
        </p:spPr>
      </p:pic>
      <p:sp>
        <p:nvSpPr>
          <p:cNvPr id="37" name="TextBox 36"/>
          <p:cNvSpPr txBox="1"/>
          <p:nvPr/>
        </p:nvSpPr>
        <p:spPr>
          <a:xfrm>
            <a:off x="10728000" y="25590255"/>
            <a:ext cx="8820000" cy="936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M5. </a:t>
            </a:r>
            <a:r>
              <a:rPr sz="1400" b="0" i="0">
                <a:solidFill>
                  <a:srgbClr val="3A3A3A"/>
                </a:solidFill>
                <a:latin typeface="Arial"/>
              </a:rPr>
              <a:t>A deliberate multi-scale r-grid resolves both cell-scale and tissue-scale co-association; Shapely edge correction down-weights discs that spill outside the tissue window.</a:t>
            </a:r>
          </a:p>
        </p:txBody>
      </p:sp>
      <p:sp>
        <p:nvSpPr>
          <p:cNvPr id="38" name="TextBox 37"/>
          <p:cNvSpPr txBox="1"/>
          <p:nvPr/>
        </p:nvSpPr>
        <p:spPr>
          <a:xfrm>
            <a:off x="10728000" y="26652255"/>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Where NoSeggs Sits</a:t>
            </a:r>
          </a:p>
        </p:txBody>
      </p:sp>
      <p:sp>
        <p:nvSpPr>
          <p:cNvPr id="39" name="Rectangle 38"/>
          <p:cNvSpPr/>
          <p:nvPr/>
        </p:nvSpPr>
        <p:spPr>
          <a:xfrm>
            <a:off x="10728000" y="27174255"/>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14_T_tool_positioning.png"/>
          <p:cNvPicPr>
            <a:picLocks noChangeAspect="1"/>
          </p:cNvPicPr>
          <p:nvPr/>
        </p:nvPicPr>
        <p:blipFill>
          <a:blip r:embed="rId10"/>
          <a:stretch>
            <a:fillRect/>
          </a:stretch>
        </p:blipFill>
        <p:spPr>
          <a:xfrm>
            <a:off x="11537999" y="27264255"/>
            <a:ext cx="7200000" cy="3957110"/>
          </a:xfrm>
          <a:prstGeom prst="rect">
            <a:avLst/>
          </a:prstGeom>
        </p:spPr>
      </p:pic>
      <p:sp>
        <p:nvSpPr>
          <p:cNvPr id="41" name="TextBox 40"/>
          <p:cNvSpPr txBox="1"/>
          <p:nvPr/>
        </p:nvSpPr>
        <p:spPr>
          <a:xfrm>
            <a:off x="10728000" y="31293364"/>
            <a:ext cx="8820000" cy="122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T. </a:t>
            </a:r>
            <a:r>
              <a:rPr sz="1400" b="0" i="0">
                <a:solidFill>
                  <a:srgbClr val="3A3A3A"/>
                </a:solidFill>
                <a:latin typeface="Arial"/>
              </a:rPr>
              <a:t>No published tool screens L–R co-localisation on raw transcripts without segmentation. CellChat/LIANA, Squidpy, Bento and Baysor require segmentation or cell-typing; FICTURE is segmentation-free but answers a different question; spatstat is a generic point-pattern library. NoSeggs satisfies all four capabilities.</a:t>
            </a:r>
          </a:p>
        </p:txBody>
      </p:sp>
      <p:sp>
        <p:nvSpPr>
          <p:cNvPr id="42" name="TextBox 41"/>
          <p:cNvSpPr txBox="1"/>
          <p:nvPr/>
        </p:nvSpPr>
        <p:spPr>
          <a:xfrm>
            <a:off x="10728000" y="32643364"/>
            <a:ext cx="8820000" cy="540000"/>
          </a:xfrm>
          <a:prstGeom prst="rect">
            <a:avLst/>
          </a:prstGeom>
          <a:noFill/>
        </p:spPr>
        <p:txBody>
          <a:bodyPr wrap="square" anchor="t" lIns="36000" rIns="36000" tIns="18000" bIns="18000">
            <a:spAutoFit/>
          </a:bodyPr>
          <a:lstStyle/>
          <a:p>
            <a:pPr algn="l"/>
            <a:r>
              <a:rPr sz="2600" b="1" i="0">
                <a:solidFill>
                  <a:srgbClr val="500778"/>
                </a:solidFill>
                <a:latin typeface="Arial"/>
              </a:rPr>
              <a:t>Validation &amp; Controls</a:t>
            </a:r>
          </a:p>
        </p:txBody>
      </p:sp>
      <p:sp>
        <p:nvSpPr>
          <p:cNvPr id="43" name="Rectangle 42"/>
          <p:cNvSpPr/>
          <p:nvPr/>
        </p:nvSpPr>
        <p:spPr>
          <a:xfrm>
            <a:off x="10728000" y="33165364"/>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13_pos_vs_neg_sanity.png"/>
          <p:cNvPicPr>
            <a:picLocks noChangeAspect="1"/>
          </p:cNvPicPr>
          <p:nvPr/>
        </p:nvPicPr>
        <p:blipFill>
          <a:blip r:embed="rId11"/>
          <a:stretch>
            <a:fillRect/>
          </a:stretch>
        </p:blipFill>
        <p:spPr>
          <a:xfrm>
            <a:off x="11537999" y="33255364"/>
            <a:ext cx="7200000" cy="2762791"/>
          </a:xfrm>
          <a:prstGeom prst="rect">
            <a:avLst/>
          </a:prstGeom>
        </p:spPr>
      </p:pic>
      <p:sp>
        <p:nvSpPr>
          <p:cNvPr id="45" name="TextBox 44"/>
          <p:cNvSpPr txBox="1"/>
          <p:nvPr/>
        </p:nvSpPr>
        <p:spPr>
          <a:xfrm>
            <a:off x="10728000" y="36090155"/>
            <a:ext cx="8820000" cy="122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B. </a:t>
            </a:r>
            <a:r>
              <a:rPr sz="1400" b="0" i="0">
                <a:solidFill>
                  <a:srgbClr val="3A3A3A"/>
                </a:solidFill>
                <a:latin typeface="Arial"/>
              </a:rPr>
              <a:t>Both the positive control (KRT8×KRT18) and the housekeeping×specific negative (MALAT1×KRT18) fall inside the label-swap envelope on the infected strip, yet their effect sizes separate by 2.67 envelope half-widths. We therefore rank by continuous peak SES, not binary pass/fail.</a:t>
            </a:r>
          </a:p>
        </p:txBody>
      </p:sp>
      <p:graphicFrame>
        <p:nvGraphicFramePr>
          <p:cNvPr id="46" name="Table 45"/>
          <p:cNvGraphicFramePr>
            <a:graphicFrameLocks noGrp="1"/>
          </p:cNvGraphicFramePr>
          <p:nvPr/>
        </p:nvGraphicFramePr>
        <p:xfrm>
          <a:off x="10728000" y="37440155"/>
          <a:ext cx="8820000" cy="2015999"/>
        </p:xfrm>
        <a:graphic>
          <a:graphicData uri="http://schemas.openxmlformats.org/drawingml/2006/table">
            <a:tbl>
              <a:tblPr firstRow="1" bandRow="1">
                <a:tableStyleId>{5C22544A-7EE6-4342-B048-85BDC9FD1C3A}</a:tableStyleId>
              </a:tblPr>
              <a:tblGrid>
                <a:gridCol w="1872000"/>
                <a:gridCol w="2736000"/>
                <a:gridCol w="1944000"/>
                <a:gridCol w="2268000"/>
              </a:tblGrid>
              <a:tr h="503999">
                <a:tc>
                  <a:txBody>
                    <a:bodyPr wrap="square"/>
                    <a:lstStyle/>
                    <a:p>
                      <a:r>
                        <a:rPr sz="1400" b="1">
                          <a:solidFill>
                            <a:srgbClr val="FFFFFF"/>
                          </a:solidFill>
                          <a:latin typeface="Arial"/>
                        </a:rPr>
                        <a:t>Control</a:t>
                      </a:r>
                    </a:p>
                  </a:txBody>
                  <a:tcPr marL="72000" marR="36000" marT="18000" marB="18000" anchor="ctr">
                    <a:solidFill>
                      <a:srgbClr val="500778"/>
                    </a:solidFill>
                  </a:tcPr>
                </a:tc>
                <a:tc>
                  <a:txBody>
                    <a:bodyPr wrap="square"/>
                    <a:lstStyle/>
                    <a:p>
                      <a:r>
                        <a:rPr sz="1400" b="1">
                          <a:solidFill>
                            <a:srgbClr val="FFFFFF"/>
                          </a:solidFill>
                          <a:latin typeface="Arial"/>
                        </a:rPr>
                        <a:t>Pair</a:t>
                      </a:r>
                    </a:p>
                  </a:txBody>
                  <a:tcPr marL="72000" marR="36000" marT="18000" marB="18000" anchor="ctr">
                    <a:solidFill>
                      <a:srgbClr val="500778"/>
                    </a:solidFill>
                  </a:tcPr>
                </a:tc>
                <a:tc>
                  <a:txBody>
                    <a:bodyPr wrap="square"/>
                    <a:lstStyle/>
                    <a:p>
                      <a:r>
                        <a:rPr sz="1400" b="1">
                          <a:solidFill>
                            <a:srgbClr val="FFFFFF"/>
                          </a:solidFill>
                          <a:latin typeface="Arial"/>
                        </a:rPr>
                        <a:t>Expected</a:t>
                      </a:r>
                    </a:p>
                  </a:txBody>
                  <a:tcPr marL="72000" marR="36000" marT="18000" marB="18000" anchor="ctr">
                    <a:solidFill>
                      <a:srgbClr val="500778"/>
                    </a:solidFill>
                  </a:tcPr>
                </a:tc>
                <a:tc>
                  <a:txBody>
                    <a:bodyPr wrap="square"/>
                    <a:lstStyle/>
                    <a:p>
                      <a:r>
                        <a:rPr sz="1400" b="1">
                          <a:solidFill>
                            <a:srgbClr val="FFFFFF"/>
                          </a:solidFill>
                          <a:latin typeface="Arial"/>
                        </a:rPr>
                        <a:t>Observed</a:t>
                      </a:r>
                    </a:p>
                  </a:txBody>
                  <a:tcPr marL="72000" marR="36000" marT="18000" marB="18000" anchor="ctr">
                    <a:solidFill>
                      <a:srgbClr val="500778"/>
                    </a:solidFill>
                  </a:tcPr>
                </a:tc>
              </a:tr>
              <a:tr h="503999">
                <a:tc>
                  <a:txBody>
                    <a:bodyPr wrap="square"/>
                    <a:lstStyle/>
                    <a:p>
                      <a:r>
                        <a:rPr sz="1400" b="0">
                          <a:solidFill>
                            <a:srgbClr val="2C2C2C"/>
                          </a:solidFill>
                          <a:latin typeface="Arial"/>
                        </a:rPr>
                        <a:t>Positive</a:t>
                      </a:r>
                    </a:p>
                  </a:txBody>
                  <a:tcPr marL="72000" marR="36000" marT="18000" marB="18000" anchor="ctr">
                    <a:solidFill>
                      <a:srgbClr val="FFFFFF"/>
                    </a:solidFill>
                  </a:tcPr>
                </a:tc>
                <a:tc>
                  <a:txBody>
                    <a:bodyPr wrap="square"/>
                    <a:lstStyle/>
                    <a:p>
                      <a:r>
                        <a:rPr sz="1400" b="0">
                          <a:solidFill>
                            <a:srgbClr val="2C2C2C"/>
                          </a:solidFill>
                          <a:latin typeface="Arial"/>
                        </a:rPr>
                        <a:t>KRT8 × KRT18</a:t>
                      </a:r>
                    </a:p>
                  </a:txBody>
                  <a:tcPr marL="72000" marR="36000" marT="18000" marB="18000" anchor="ctr">
                    <a:solidFill>
                      <a:srgbClr val="FFFFFF"/>
                    </a:solidFill>
                  </a:tcPr>
                </a:tc>
                <a:tc>
                  <a:txBody>
                    <a:bodyPr wrap="square"/>
                    <a:lstStyle/>
                    <a:p>
                      <a:r>
                        <a:rPr sz="1400" b="0">
                          <a:solidFill>
                            <a:srgbClr val="2C2C2C"/>
                          </a:solidFill>
                          <a:latin typeface="Arial"/>
                        </a:rPr>
                        <a:t>Above null</a:t>
                      </a:r>
                    </a:p>
                  </a:txBody>
                  <a:tcPr marL="72000" marR="36000" marT="18000" marB="18000" anchor="ctr">
                    <a:solidFill>
                      <a:srgbClr val="FFFFFF"/>
                    </a:solidFill>
                  </a:tcPr>
                </a:tc>
                <a:tc>
                  <a:txBody>
                    <a:bodyPr wrap="square"/>
                    <a:lstStyle/>
                    <a:p>
                      <a:r>
                        <a:rPr sz="1400" b="0">
                          <a:solidFill>
                            <a:srgbClr val="2C2C2C"/>
                          </a:solidFill>
                          <a:latin typeface="Arial"/>
                        </a:rPr>
                        <a:t>SES = −2.18 (top)</a:t>
                      </a:r>
                    </a:p>
                  </a:txBody>
                  <a:tcPr marL="72000" marR="36000" marT="18000" marB="18000" anchor="ctr">
                    <a:solidFill>
                      <a:srgbClr val="FFFFFF"/>
                    </a:solidFill>
                  </a:tcPr>
                </a:tc>
              </a:tr>
              <a:tr h="503999">
                <a:tc>
                  <a:txBody>
                    <a:bodyPr wrap="square"/>
                    <a:lstStyle/>
                    <a:p>
                      <a:r>
                        <a:rPr sz="1400" b="0">
                          <a:solidFill>
                            <a:srgbClr val="2C2C2C"/>
                          </a:solidFill>
                          <a:latin typeface="Arial"/>
                        </a:rPr>
                        <a:t>Negative 1</a:t>
                      </a:r>
                    </a:p>
                  </a:txBody>
                  <a:tcPr marL="72000" marR="36000" marT="18000" marB="18000" anchor="ctr">
                    <a:solidFill>
                      <a:srgbClr val="F3EEF7"/>
                    </a:solidFill>
                  </a:tcPr>
                </a:tc>
                <a:tc>
                  <a:txBody>
                    <a:bodyPr wrap="square"/>
                    <a:lstStyle/>
                    <a:p>
                      <a:r>
                        <a:rPr sz="1400" b="0">
                          <a:solidFill>
                            <a:srgbClr val="2C2C2C"/>
                          </a:solidFill>
                          <a:latin typeface="Arial"/>
                        </a:rPr>
                        <a:t>MALAT1 × KRT18</a:t>
                      </a:r>
                    </a:p>
                  </a:txBody>
                  <a:tcPr marL="72000" marR="36000" marT="18000" marB="18000" anchor="ctr">
                    <a:solidFill>
                      <a:srgbClr val="F3EEF7"/>
                    </a:solidFill>
                  </a:tcPr>
                </a:tc>
                <a:tc>
                  <a:txBody>
                    <a:bodyPr wrap="square"/>
                    <a:lstStyle/>
                    <a:p>
                      <a:r>
                        <a:rPr sz="1400" b="0">
                          <a:solidFill>
                            <a:srgbClr val="2C2C2C"/>
                          </a:solidFill>
                          <a:latin typeface="Arial"/>
                        </a:rPr>
                        <a:t>Far below</a:t>
                      </a:r>
                    </a:p>
                  </a:txBody>
                  <a:tcPr marL="72000" marR="36000" marT="18000" marB="18000" anchor="ctr">
                    <a:solidFill>
                      <a:srgbClr val="F3EEF7"/>
                    </a:solidFill>
                  </a:tcPr>
                </a:tc>
                <a:tc>
                  <a:txBody>
                    <a:bodyPr wrap="square"/>
                    <a:lstStyle/>
                    <a:p>
                      <a:r>
                        <a:rPr sz="1400" b="0">
                          <a:solidFill>
                            <a:srgbClr val="2C2C2C"/>
                          </a:solidFill>
                          <a:latin typeface="Arial"/>
                        </a:rPr>
                        <a:t>SES = −4.85</a:t>
                      </a:r>
                    </a:p>
                  </a:txBody>
                  <a:tcPr marL="72000" marR="36000" marT="18000" marB="18000" anchor="ctr">
                    <a:solidFill>
                      <a:srgbClr val="F3EEF7"/>
                    </a:solidFill>
                  </a:tcPr>
                </a:tc>
              </a:tr>
              <a:tr h="504002">
                <a:tc>
                  <a:txBody>
                    <a:bodyPr wrap="square"/>
                    <a:lstStyle/>
                    <a:p>
                      <a:r>
                        <a:rPr sz="1400" b="0">
                          <a:solidFill>
                            <a:srgbClr val="2C2C2C"/>
                          </a:solidFill>
                          <a:latin typeface="Arial"/>
                        </a:rPr>
                        <a:t>Negative 2</a:t>
                      </a:r>
                    </a:p>
                  </a:txBody>
                  <a:tcPr marL="72000" marR="36000" marT="18000" marB="18000" anchor="ctr">
                    <a:solidFill>
                      <a:srgbClr val="FFFFFF"/>
                    </a:solidFill>
                  </a:tcPr>
                </a:tc>
                <a:tc>
                  <a:txBody>
                    <a:bodyPr wrap="square"/>
                    <a:lstStyle/>
                    <a:p>
                      <a:r>
                        <a:rPr sz="1400" b="0">
                          <a:solidFill>
                            <a:srgbClr val="2C2C2C"/>
                          </a:solidFill>
                          <a:latin typeface="Arial"/>
                        </a:rPr>
                        <a:t>KRT8 × SCGB3A1</a:t>
                      </a:r>
                    </a:p>
                  </a:txBody>
                  <a:tcPr marL="72000" marR="36000" marT="18000" marB="18000" anchor="ctr">
                    <a:solidFill>
                      <a:srgbClr val="FFFFFF"/>
                    </a:solidFill>
                  </a:tcPr>
                </a:tc>
                <a:tc>
                  <a:txBody>
                    <a:bodyPr wrap="square"/>
                    <a:lstStyle/>
                    <a:p>
                      <a:r>
                        <a:rPr sz="1400" b="0">
                          <a:solidFill>
                            <a:srgbClr val="2C2C2C"/>
                          </a:solidFill>
                          <a:latin typeface="Arial"/>
                        </a:rPr>
                        <a:t>Below</a:t>
                      </a:r>
                    </a:p>
                  </a:txBody>
                  <a:tcPr marL="72000" marR="36000" marT="18000" marB="18000" anchor="ctr">
                    <a:solidFill>
                      <a:srgbClr val="FFFFFF"/>
                    </a:solidFill>
                  </a:tcPr>
                </a:tc>
                <a:tc>
                  <a:txBody>
                    <a:bodyPr wrap="square"/>
                    <a:lstStyle/>
                    <a:p>
                      <a:r>
                        <a:rPr sz="1400" b="0">
                          <a:solidFill>
                            <a:srgbClr val="2C2C2C"/>
                          </a:solidFill>
                          <a:latin typeface="Arial"/>
                        </a:rPr>
                        <a:t>[ FILL ]</a:t>
                      </a:r>
                    </a:p>
                  </a:txBody>
                  <a:tcPr marL="72000" marR="36000" marT="18000" marB="18000" anchor="ctr">
                    <a:solidFill>
                      <a:srgbClr val="FFFFFF"/>
                    </a:solidFill>
                  </a:tcPr>
                </a:tc>
              </a:tr>
            </a:tbl>
          </a:graphicData>
        </a:graphic>
      </p:graphicFrame>
      <p:pic>
        <p:nvPicPr>
          <p:cNvPr id="47" name="Picture 46" descr="13_C_group_ses_distribution.png"/>
          <p:cNvPicPr>
            <a:picLocks noChangeAspect="1"/>
          </p:cNvPicPr>
          <p:nvPr/>
        </p:nvPicPr>
        <p:blipFill>
          <a:blip r:embed="rId12"/>
          <a:stretch>
            <a:fillRect/>
          </a:stretch>
        </p:blipFill>
        <p:spPr>
          <a:xfrm>
            <a:off x="11537999" y="39600155"/>
            <a:ext cx="7200000" cy="3350321"/>
          </a:xfrm>
          <a:prstGeom prst="rect">
            <a:avLst/>
          </a:prstGeom>
        </p:spPr>
      </p:pic>
      <p:sp>
        <p:nvSpPr>
          <p:cNvPr id="48" name="TextBox 47"/>
          <p:cNvSpPr txBox="1"/>
          <p:nvPr/>
        </p:nvSpPr>
        <p:spPr>
          <a:xfrm>
            <a:off x="10728000" y="43022476"/>
            <a:ext cx="8820000" cy="1080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C. </a:t>
            </a:r>
            <a:r>
              <a:rPr sz="1400" b="0" i="0">
                <a:solidFill>
                  <a:srgbClr val="3A3A3A"/>
                </a:solidFill>
                <a:latin typeface="Arial"/>
              </a:rPr>
              <a:t>Method is correctly null for diffuse markers (cytokeratins, housekeeping anchors) and elevated for focal pairs (paracrine, infection, stromal, immune). Bivariate K under this null detects excess spatial co-association beyond marginal density.</a:t>
            </a:r>
          </a:p>
        </p:txBody>
      </p:sp>
      <p:sp>
        <p:nvSpPr>
          <p:cNvPr id="49" name="TextBox 48"/>
          <p:cNvSpPr txBox="1"/>
          <p:nvPr/>
        </p:nvSpPr>
        <p:spPr>
          <a:xfrm>
            <a:off x="20520000" y="4932000"/>
            <a:ext cx="8820000" cy="540000"/>
          </a:xfrm>
          <a:prstGeom prst="rect">
            <a:avLst/>
          </a:prstGeom>
          <a:noFill/>
        </p:spPr>
        <p:txBody>
          <a:bodyPr wrap="square" anchor="t" lIns="36000" rIns="36000" tIns="18000" bIns="18000">
            <a:spAutoFit/>
          </a:bodyPr>
          <a:lstStyle/>
          <a:p>
            <a:pPr algn="l"/>
            <a:r>
              <a:rPr sz="3000" b="1" i="0">
                <a:solidFill>
                  <a:srgbClr val="500778"/>
                </a:solidFill>
                <a:latin typeface="Arial"/>
              </a:rPr>
              <a:t>Results — Infection Biology</a:t>
            </a:r>
          </a:p>
        </p:txBody>
      </p:sp>
      <p:sp>
        <p:nvSpPr>
          <p:cNvPr id="50" name="Rectangle 49"/>
          <p:cNvSpPr/>
          <p:nvPr/>
        </p:nvSpPr>
        <p:spPr>
          <a:xfrm>
            <a:off x="20520000" y="5453999"/>
            <a:ext cx="8820000" cy="252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0520000" y="5543999"/>
            <a:ext cx="8820000" cy="1548000"/>
          </a:xfrm>
          <a:prstGeom prst="rect">
            <a:avLst/>
          </a:prstGeom>
          <a:noFill/>
        </p:spPr>
        <p:txBody>
          <a:bodyPr wrap="square" anchor="t" lIns="36000" rIns="36000" tIns="18000" bIns="18000">
            <a:spAutoFit/>
          </a:bodyPr>
          <a:lstStyle/>
          <a:p>
            <a:pPr algn="l">
              <a:lnSpc>
                <a:spcPct val="104000"/>
              </a:lnSpc>
              <a:spcAft>
                <a:spcPts val="500"/>
              </a:spcAft>
            </a:pPr>
            <a:r>
              <a:rPr sz="1600" b="0" i="0">
                <a:solidFill>
                  <a:srgbClr val="2C2C2C"/>
                </a:solidFill>
                <a:latin typeface="Arial"/>
              </a:rPr>
              <a:t>On RSV-infected lung, immune cell-communication pairs preferentially co-localise on infected tissue — antigen presentation, T-cell recruitment, antiviral monocyte signalling — recovered with no segmentation step.</a:t>
            </a:r>
          </a:p>
          <a:p>
            <a:pPr algn="l"/>
            <a:r>
              <a:rPr sz="1300" b="0" i="1">
                <a:solidFill>
                  <a:srgbClr val="9A7AAE"/>
                </a:solidFill>
                <a:latin typeface="Arial"/>
              </a:rPr>
              <a:t>[ FILL: 1-line headline you want the reader to leave with. ]</a:t>
            </a:r>
          </a:p>
        </p:txBody>
      </p:sp>
      <p:sp>
        <p:nvSpPr>
          <p:cNvPr id="52" name="TextBox 51"/>
          <p:cNvSpPr txBox="1"/>
          <p:nvPr/>
        </p:nvSpPr>
        <p:spPr>
          <a:xfrm>
            <a:off x="20520000" y="7163999"/>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Infection signalling boost</a:t>
            </a:r>
          </a:p>
        </p:txBody>
      </p:sp>
      <p:pic>
        <p:nvPicPr>
          <p:cNvPr id="53" name="Picture 52" descr="13_F_infection_signature.png"/>
          <p:cNvPicPr>
            <a:picLocks noChangeAspect="1"/>
          </p:cNvPicPr>
          <p:nvPr/>
        </p:nvPicPr>
        <p:blipFill>
          <a:blip r:embed="rId13"/>
          <a:stretch>
            <a:fillRect/>
          </a:stretch>
        </p:blipFill>
        <p:spPr>
          <a:xfrm>
            <a:off x="20520000" y="7577999"/>
            <a:ext cx="8820000" cy="5494315"/>
          </a:xfrm>
          <a:prstGeom prst="rect">
            <a:avLst/>
          </a:prstGeom>
        </p:spPr>
      </p:pic>
      <p:sp>
        <p:nvSpPr>
          <p:cNvPr id="54" name="TextBox 53"/>
          <p:cNvSpPr txBox="1"/>
          <p:nvPr/>
        </p:nvSpPr>
        <p:spPr>
          <a:xfrm>
            <a:off x="20520000" y="13144315"/>
            <a:ext cx="8820000" cy="2592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F. </a:t>
            </a:r>
            <a:r>
              <a:rPr sz="1400" b="0" i="0">
                <a:solidFill>
                  <a:srgbClr val="3A3A3A"/>
                </a:solidFill>
                <a:latin typeface="Arial"/>
              </a:rPr>
              <a:t>Per-pair Strip-2 boost for the surviving infection-response (G7) pairs. Immune cell-communication pairs are positive (5/6): antigen presentation onto T cells (HLA-DRA×CD3D, +0.74), chemokine T-cell recruitment (CXCL10×CD3D, +0.59), macrophage antigen presentation (HLA-DRA×CD68, +0.32). A paradoxical second finding only a segmentation-free method can surface: antiviral×epithelial pairs (ISG15×KRT8, MX1×KRT5) move off infected tissue, consistent with epithelial loss redistributing antiviral activity into immune cells.</a:t>
            </a:r>
          </a:p>
        </p:txBody>
      </p:sp>
      <p:sp>
        <p:nvSpPr>
          <p:cNvPr id="55" name="TextBox 54"/>
          <p:cNvSpPr txBox="1"/>
          <p:nvPr/>
        </p:nvSpPr>
        <p:spPr>
          <a:xfrm>
            <a:off x="20520000" y="15862315"/>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Co-localisation networks</a:t>
            </a:r>
          </a:p>
        </p:txBody>
      </p:sp>
      <p:pic>
        <p:nvPicPr>
          <p:cNvPr id="56" name="Picture 55" descr="13_G_network.png"/>
          <p:cNvPicPr>
            <a:picLocks noChangeAspect="1"/>
          </p:cNvPicPr>
          <p:nvPr/>
        </p:nvPicPr>
        <p:blipFill>
          <a:blip r:embed="rId14"/>
          <a:stretch>
            <a:fillRect/>
          </a:stretch>
        </p:blipFill>
        <p:spPr>
          <a:xfrm>
            <a:off x="20520000" y="16276315"/>
            <a:ext cx="8820000" cy="3381568"/>
          </a:xfrm>
          <a:prstGeom prst="rect">
            <a:avLst/>
          </a:prstGeom>
        </p:spPr>
      </p:pic>
      <p:sp>
        <p:nvSpPr>
          <p:cNvPr id="57" name="TextBox 56"/>
          <p:cNvSpPr txBox="1"/>
          <p:nvPr/>
        </p:nvSpPr>
        <p:spPr>
          <a:xfrm>
            <a:off x="20520000" y="19729882"/>
            <a:ext cx="8820000" cy="158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G. </a:t>
            </a:r>
            <a:r>
              <a:rPr sz="1400" b="0" i="0">
                <a:solidFill>
                  <a:srgbClr val="3A3A3A"/>
                </a:solidFill>
                <a:latin typeface="Arial"/>
              </a:rPr>
              <a:t>Top-50 spatial co-association edges per strip with Louvain community detection. Communities are spatial signalling modules — interferon response, chemokine signalling, stromal ECM — recovered without any cell segmentation. Strip 2 (infected) carries more and larger modules than the controls.</a:t>
            </a:r>
          </a:p>
        </p:txBody>
      </p:sp>
      <p:sp>
        <p:nvSpPr>
          <p:cNvPr id="58" name="TextBox 57"/>
          <p:cNvSpPr txBox="1"/>
          <p:nvPr/>
        </p:nvSpPr>
        <p:spPr>
          <a:xfrm>
            <a:off x="20520000" y="21439882"/>
            <a:ext cx="8820000" cy="396000"/>
          </a:xfrm>
          <a:prstGeom prst="rect">
            <a:avLst/>
          </a:prstGeom>
          <a:noFill/>
        </p:spPr>
        <p:txBody>
          <a:bodyPr wrap="square" anchor="t" lIns="36000" rIns="36000" tIns="18000" bIns="18000">
            <a:spAutoFit/>
          </a:bodyPr>
          <a:lstStyle/>
          <a:p>
            <a:pPr algn="l"/>
            <a:r>
              <a:rPr sz="2100" b="1" i="0">
                <a:solidFill>
                  <a:srgbClr val="6A1B9A"/>
                </a:solidFill>
                <a:latin typeface="Arial"/>
              </a:rPr>
              <a:t>Spatial signatures (UMAP)</a:t>
            </a:r>
          </a:p>
        </p:txBody>
      </p:sp>
      <p:pic>
        <p:nvPicPr>
          <p:cNvPr id="59" name="Picture 58" descr="13_H_umap.png"/>
          <p:cNvPicPr>
            <a:picLocks noChangeAspect="1"/>
          </p:cNvPicPr>
          <p:nvPr/>
        </p:nvPicPr>
        <p:blipFill>
          <a:blip r:embed="rId15"/>
          <a:stretch>
            <a:fillRect/>
          </a:stretch>
        </p:blipFill>
        <p:spPr>
          <a:xfrm>
            <a:off x="21600000" y="21853882"/>
            <a:ext cx="6660000" cy="5897290"/>
          </a:xfrm>
          <a:prstGeom prst="rect">
            <a:avLst/>
          </a:prstGeom>
        </p:spPr>
      </p:pic>
      <p:sp>
        <p:nvSpPr>
          <p:cNvPr id="60" name="TextBox 59"/>
          <p:cNvSpPr txBox="1"/>
          <p:nvPr/>
        </p:nvSpPr>
        <p:spPr>
          <a:xfrm>
            <a:off x="20520000" y="27823173"/>
            <a:ext cx="8820000" cy="1584000"/>
          </a:xfrm>
          <a:prstGeom prst="rect">
            <a:avLst/>
          </a:prstGeom>
          <a:noFill/>
        </p:spPr>
        <p:txBody>
          <a:bodyPr wrap="square" anchor="t" lIns="36000" rIns="36000" tIns="18000" bIns="18000">
            <a:spAutoFit/>
          </a:bodyPr>
          <a:lstStyle/>
          <a:p>
            <a:pPr algn="l">
              <a:lnSpc>
                <a:spcPct val="102000"/>
              </a:lnSpc>
            </a:pPr>
            <a:r>
              <a:rPr sz="1400" b="1" i="0">
                <a:solidFill>
                  <a:srgbClr val="500778"/>
                </a:solidFill>
                <a:latin typeface="Arial"/>
              </a:rPr>
              <a:t>Fig H. </a:t>
            </a:r>
            <a:r>
              <a:rPr sz="1400" b="0" i="0">
                <a:solidFill>
                  <a:srgbClr val="3A3A3A"/>
                </a:solidFill>
                <a:latin typeface="Arial"/>
              </a:rPr>
              <a:t>Each (pair, strip) treated as a 50-dim L(r) curve-shape vector, embedded with UMAP. Stromal, immune and infection-response pairs occupy distinct regions — the method recovers biological grouping as soft visual structure from raw transcripts alone.</a:t>
            </a:r>
          </a:p>
        </p:txBody>
      </p:sp>
      <p:sp>
        <p:nvSpPr>
          <p:cNvPr id="61" name="Rectangle 60"/>
          <p:cNvSpPr/>
          <p:nvPr/>
        </p:nvSpPr>
        <p:spPr>
          <a:xfrm>
            <a:off x="0" y="36360000"/>
            <a:ext cx="30275999" cy="5616000"/>
          </a:xfrm>
          <a:prstGeom prst="rect">
            <a:avLst/>
          </a:prstGeom>
          <a:solidFill>
            <a:srgbClr val="500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36360000"/>
            <a:ext cx="30275999" cy="43200"/>
          </a:xfrm>
          <a:prstGeom prst="rect">
            <a:avLst/>
          </a:prstGeom>
          <a:solidFill>
            <a:srgbClr val="C9A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20000" y="36540000"/>
            <a:ext cx="11160000" cy="324000"/>
          </a:xfrm>
          <a:prstGeom prst="rect">
            <a:avLst/>
          </a:prstGeom>
          <a:noFill/>
        </p:spPr>
        <p:txBody>
          <a:bodyPr wrap="square" anchor="t" lIns="36000" rIns="36000" tIns="18000" bIns="18000">
            <a:spAutoFit/>
          </a:bodyPr>
          <a:lstStyle/>
          <a:p>
            <a:pPr algn="l"/>
            <a:r>
              <a:rPr sz="2200" b="1" i="0">
                <a:solidFill>
                  <a:srgbClr val="FFFFFF"/>
                </a:solidFill>
                <a:latin typeface="Arial"/>
              </a:rPr>
              <a:t>Conclusions &amp; Next Steps</a:t>
            </a:r>
          </a:p>
        </p:txBody>
      </p:sp>
      <p:sp>
        <p:nvSpPr>
          <p:cNvPr id="64" name="TextBox 63"/>
          <p:cNvSpPr txBox="1"/>
          <p:nvPr/>
        </p:nvSpPr>
        <p:spPr>
          <a:xfrm>
            <a:off x="720000" y="36936000"/>
            <a:ext cx="11160000" cy="3240000"/>
          </a:xfrm>
          <a:prstGeom prst="rect">
            <a:avLst/>
          </a:prstGeom>
          <a:noFill/>
        </p:spPr>
        <p:txBody>
          <a:bodyPr wrap="square" anchor="t" lIns="36000" rIns="36000" tIns="18000" bIns="18000">
            <a:spAutoFit/>
          </a:bodyPr>
          <a:lstStyle/>
          <a:p>
            <a:pPr algn="l" indent="-228600" marL="228600">
              <a:lnSpc>
                <a:spcPct val="102000"/>
              </a:lnSpc>
              <a:spcAft>
                <a:spcPts val="400"/>
              </a:spcAft>
              <a:buFont typeface="Arial"/>
              <a:buChar char="•"/>
            </a:pPr>
            <a:r>
              <a:rPr sz="1450" b="0" i="0">
                <a:solidFill>
                  <a:srgbClr val="FFFFFF"/>
                </a:solidFill>
                <a:latin typeface="Arial"/>
              </a:rPr>
              <a:t>Bivariate Ripley's K on raw transcript point clouds detects L–R co-localisation with no cell segmentation step.</a:t>
            </a:r>
          </a:p>
          <a:p>
            <a:pPr algn="l" indent="-228600" marL="228600">
              <a:lnSpc>
                <a:spcPct val="102000"/>
              </a:lnSpc>
              <a:spcAft>
                <a:spcPts val="400"/>
              </a:spcAft>
              <a:buFont typeface="Arial"/>
              <a:buChar char="•"/>
            </a:pPr>
            <a:r>
              <a:rPr sz="1450" b="0" i="0">
                <a:solidFill>
                  <a:srgbClr val="FFFFFF"/>
                </a:solidFill>
                <a:latin typeface="Arial"/>
              </a:rPr>
              <a:t>Discriminates positive from negative controls by effect size (separation = +2.67 envelope half-widths under the production window).</a:t>
            </a:r>
          </a:p>
          <a:p>
            <a:pPr algn="l" indent="-228600" marL="228600">
              <a:lnSpc>
                <a:spcPct val="102000"/>
              </a:lnSpc>
              <a:spcAft>
                <a:spcPts val="900"/>
              </a:spcAft>
              <a:buFont typeface="Arial"/>
              <a:buChar char="•"/>
            </a:pPr>
            <a:r>
              <a:rPr sz="1450" b="0" i="0">
                <a:solidFill>
                  <a:srgbClr val="FFFFFF"/>
                </a:solidFill>
                <a:latin typeface="Arial"/>
              </a:rPr>
              <a:t>Fills a vacant niche: Bento, Squidpy, CellChat, LIANA all require segmentation — NoSeggs does not.</a:t>
            </a:r>
          </a:p>
          <a:p>
            <a:pPr algn="l">
              <a:lnSpc>
                <a:spcPct val="102000"/>
              </a:lnSpc>
            </a:pPr>
            <a:r>
              <a:rPr sz="1450" b="1" i="0">
                <a:solidFill>
                  <a:srgbClr val="C9A8D4"/>
                </a:solidFill>
                <a:latin typeface="Arial"/>
              </a:rPr>
              <a:t>Next: </a:t>
            </a:r>
            <a:r>
              <a:rPr sz="1450" b="0" i="0">
                <a:solidFill>
                  <a:srgbClr val="FFFFFF"/>
                </a:solidFill>
                <a:latin typeface="Arial"/>
              </a:rPr>
              <a:t>extended cytokeratin/housekeeping anchor panel; marker-gene pseudo-segmentation for cell-type stratification; benchmark vs Squidpy gr.ripley on cell-level reductions.</a:t>
            </a:r>
          </a:p>
        </p:txBody>
      </p:sp>
      <p:sp>
        <p:nvSpPr>
          <p:cNvPr id="65" name="TextBox 64"/>
          <p:cNvSpPr txBox="1"/>
          <p:nvPr/>
        </p:nvSpPr>
        <p:spPr>
          <a:xfrm>
            <a:off x="12780000" y="36540000"/>
            <a:ext cx="10800000" cy="324000"/>
          </a:xfrm>
          <a:prstGeom prst="rect">
            <a:avLst/>
          </a:prstGeom>
          <a:noFill/>
        </p:spPr>
        <p:txBody>
          <a:bodyPr wrap="square" anchor="t" lIns="36000" rIns="36000" tIns="18000" bIns="18000">
            <a:spAutoFit/>
          </a:bodyPr>
          <a:lstStyle/>
          <a:p>
            <a:pPr algn="l"/>
            <a:r>
              <a:rPr sz="2200" b="1" i="0">
                <a:solidFill>
                  <a:srgbClr val="FFFFFF"/>
                </a:solidFill>
                <a:latin typeface="Arial"/>
              </a:rPr>
              <a:t>Key References</a:t>
            </a:r>
          </a:p>
        </p:txBody>
      </p:sp>
      <p:sp>
        <p:nvSpPr>
          <p:cNvPr id="66" name="TextBox 65"/>
          <p:cNvSpPr txBox="1"/>
          <p:nvPr/>
        </p:nvSpPr>
        <p:spPr>
          <a:xfrm>
            <a:off x="12780000" y="36936000"/>
            <a:ext cx="10800000" cy="3240000"/>
          </a:xfrm>
          <a:prstGeom prst="rect">
            <a:avLst/>
          </a:prstGeom>
          <a:noFill/>
        </p:spPr>
        <p:txBody>
          <a:bodyPr wrap="square" anchor="t" lIns="36000" rIns="36000" tIns="18000" bIns="18000">
            <a:spAutoFit/>
          </a:bodyPr>
          <a:lstStyle/>
          <a:p>
            <a:pPr algn="l">
              <a:lnSpc>
                <a:spcPct val="102000"/>
              </a:lnSpc>
              <a:spcAft>
                <a:spcPts val="400"/>
              </a:spcAft>
            </a:pPr>
            <a:r>
              <a:rPr sz="1300" b="1" i="0">
                <a:solidFill>
                  <a:srgbClr val="C9A8D4"/>
                </a:solidFill>
                <a:latin typeface="Arial"/>
              </a:rPr>
              <a:t>1. </a:t>
            </a:r>
            <a:r>
              <a:rPr sz="1300" b="0" i="0">
                <a:solidFill>
                  <a:srgbClr val="FFFFFF"/>
                </a:solidFill>
                <a:latin typeface="Arial"/>
              </a:rPr>
              <a:t>Ripley BD (1976) J. Appl. Prob. 13:255–266 — the K-function.</a:t>
            </a:r>
          </a:p>
          <a:p>
            <a:pPr algn="l">
              <a:lnSpc>
                <a:spcPct val="102000"/>
              </a:lnSpc>
              <a:spcAft>
                <a:spcPts val="400"/>
              </a:spcAft>
            </a:pPr>
            <a:r>
              <a:rPr sz="1300" b="1" i="0">
                <a:solidFill>
                  <a:srgbClr val="C9A8D4"/>
                </a:solidFill>
                <a:latin typeface="Arial"/>
              </a:rPr>
              <a:t>2. </a:t>
            </a:r>
            <a:r>
              <a:rPr sz="1300" b="0" i="0">
                <a:solidFill>
                  <a:srgbClr val="FFFFFF"/>
                </a:solidFill>
                <a:latin typeface="Arial"/>
              </a:rPr>
              <a:t>Baddeley A, Rubak E, Turner R (2015) Spatial Point Patterns. CRC Press.</a:t>
            </a:r>
          </a:p>
          <a:p>
            <a:pPr algn="l">
              <a:lnSpc>
                <a:spcPct val="102000"/>
              </a:lnSpc>
              <a:spcAft>
                <a:spcPts val="400"/>
              </a:spcAft>
            </a:pPr>
            <a:r>
              <a:rPr sz="1300" b="1" i="0">
                <a:solidFill>
                  <a:srgbClr val="C9A8D4"/>
                </a:solidFill>
                <a:latin typeface="Arial"/>
              </a:rPr>
              <a:t>3. </a:t>
            </a:r>
            <a:r>
              <a:rPr sz="1300" b="0" i="0">
                <a:solidFill>
                  <a:srgbClr val="FFFFFF"/>
                </a:solidFill>
                <a:latin typeface="Arial"/>
              </a:rPr>
              <a:t>Mah CK et al. (2024) Genome Biology 25:82 — Bento.</a:t>
            </a:r>
          </a:p>
          <a:p>
            <a:pPr algn="l">
              <a:lnSpc>
                <a:spcPct val="102000"/>
              </a:lnSpc>
              <a:spcAft>
                <a:spcPts val="400"/>
              </a:spcAft>
            </a:pPr>
            <a:r>
              <a:rPr sz="1300" b="1" i="0">
                <a:solidFill>
                  <a:srgbClr val="C9A8D4"/>
                </a:solidFill>
                <a:latin typeface="Arial"/>
              </a:rPr>
              <a:t>4. </a:t>
            </a:r>
            <a:r>
              <a:rPr sz="1300" b="0" i="0">
                <a:solidFill>
                  <a:srgbClr val="FFFFFF"/>
                </a:solidFill>
                <a:latin typeface="Arial"/>
              </a:rPr>
              <a:t>Palla G et al. (2022) Nature Methods 19:171–178 — Squidpy.</a:t>
            </a:r>
          </a:p>
          <a:p>
            <a:pPr algn="l">
              <a:lnSpc>
                <a:spcPct val="102000"/>
              </a:lnSpc>
              <a:spcAft>
                <a:spcPts val="400"/>
              </a:spcAft>
            </a:pPr>
            <a:r>
              <a:rPr sz="1300" b="1" i="0">
                <a:solidFill>
                  <a:srgbClr val="C9A8D4"/>
                </a:solidFill>
                <a:latin typeface="Arial"/>
              </a:rPr>
              <a:t>5. </a:t>
            </a:r>
            <a:r>
              <a:rPr sz="1300" b="0" i="0">
                <a:solidFill>
                  <a:srgbClr val="FFFFFF"/>
                </a:solidFill>
                <a:latin typeface="Arial"/>
              </a:rPr>
              <a:t>Myllymäki M et al. (2017) J. R. Stat. Soc. B 79:381–404 — rank envelope test.</a:t>
            </a:r>
          </a:p>
          <a:p>
            <a:pPr algn="l"/>
            <a:r>
              <a:rPr sz="1300" b="0" i="1">
                <a:solidFill>
                  <a:srgbClr val="9A7AAE"/>
                </a:solidFill>
                <a:latin typeface="Arial"/>
              </a:rPr>
              <a:t>[ FILL: confirm citations / add a 6th if room. ]</a:t>
            </a:r>
          </a:p>
        </p:txBody>
      </p:sp>
      <p:sp>
        <p:nvSpPr>
          <p:cNvPr id="67" name="TextBox 66"/>
          <p:cNvSpPr txBox="1"/>
          <p:nvPr/>
        </p:nvSpPr>
        <p:spPr>
          <a:xfrm>
            <a:off x="24120000" y="36540000"/>
            <a:ext cx="4860000" cy="324000"/>
          </a:xfrm>
          <a:prstGeom prst="rect">
            <a:avLst/>
          </a:prstGeom>
          <a:noFill/>
        </p:spPr>
        <p:txBody>
          <a:bodyPr wrap="square" anchor="t" lIns="36000" rIns="36000" tIns="18000" bIns="18000">
            <a:spAutoFit/>
          </a:bodyPr>
          <a:lstStyle/>
          <a:p>
            <a:pPr algn="l"/>
            <a:r>
              <a:rPr sz="2200" b="1" i="0">
                <a:solidFill>
                  <a:srgbClr val="FFFFFF"/>
                </a:solidFill>
                <a:latin typeface="Arial"/>
              </a:rPr>
              <a:t>Acknowledgements</a:t>
            </a:r>
          </a:p>
        </p:txBody>
      </p:sp>
      <p:sp>
        <p:nvSpPr>
          <p:cNvPr id="68" name="TextBox 67"/>
          <p:cNvSpPr txBox="1"/>
          <p:nvPr/>
        </p:nvSpPr>
        <p:spPr>
          <a:xfrm>
            <a:off x="24120000" y="36936000"/>
            <a:ext cx="4680000" cy="2700000"/>
          </a:xfrm>
          <a:prstGeom prst="rect">
            <a:avLst/>
          </a:prstGeom>
          <a:noFill/>
        </p:spPr>
        <p:txBody>
          <a:bodyPr wrap="square" anchor="t" lIns="36000" rIns="36000" tIns="18000" bIns="18000">
            <a:spAutoFit/>
          </a:bodyPr>
          <a:lstStyle/>
          <a:p>
            <a:pPr algn="l">
              <a:lnSpc>
                <a:spcPct val="104000"/>
              </a:lnSpc>
              <a:spcAft>
                <a:spcPts val="600"/>
              </a:spcAft>
            </a:pPr>
            <a:r>
              <a:rPr sz="1300" b="0" i="0">
                <a:solidFill>
                  <a:srgbClr val="FFFFFF"/>
                </a:solidFill>
                <a:latin typeface="Arial"/>
              </a:rPr>
              <a:t>Dataset and HPC compute courtesy of King's College London (CREATE HPC, msc_appbio). RSV samples via [TBD]. CellChatDB via Jin et al. 2021. Supervised by Dr Dan Nicolau, Nicolau Lab.</a:t>
            </a:r>
          </a:p>
          <a:p>
            <a:pPr algn="l"/>
            <a:r>
              <a:rPr sz="1300" b="0" i="1">
                <a:solidFill>
                  <a:srgbClr val="9A7AAE"/>
                </a:solidFill>
                <a:latin typeface="Arial"/>
              </a:rPr>
              <a:t>[ FILL: dataset PI / funder attribution. ]</a:t>
            </a:r>
          </a:p>
        </p:txBody>
      </p:sp>
      <p:pic>
        <p:nvPicPr>
          <p:cNvPr id="69" name="Picture 68" descr="pic_50.png"/>
          <p:cNvPicPr>
            <a:picLocks noChangeAspect="1"/>
          </p:cNvPicPr>
          <p:nvPr/>
        </p:nvPicPr>
        <p:blipFill>
          <a:blip r:embed="rId16"/>
          <a:stretch>
            <a:fillRect/>
          </a:stretch>
        </p:blipFill>
        <p:spPr>
          <a:xfrm>
            <a:off x="27575999" y="39816000"/>
            <a:ext cx="1944000" cy="1944000"/>
          </a:xfrm>
          <a:prstGeom prst="rect">
            <a:avLst/>
          </a:prstGeom>
        </p:spPr>
      </p:pic>
      <p:sp>
        <p:nvSpPr>
          <p:cNvPr id="70" name="Rectangle 69"/>
          <p:cNvSpPr/>
          <p:nvPr/>
        </p:nvSpPr>
        <p:spPr>
          <a:xfrm>
            <a:off x="0" y="42084000"/>
            <a:ext cx="30275999" cy="720000"/>
          </a:xfrm>
          <a:prstGeom prst="rect">
            <a:avLst/>
          </a:prstGeom>
          <a:solidFill>
            <a:srgbClr val="3A0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0000" y="42174000"/>
            <a:ext cx="28800000" cy="503999"/>
          </a:xfrm>
          <a:prstGeom prst="rect">
            <a:avLst/>
          </a:prstGeom>
          <a:noFill/>
        </p:spPr>
        <p:txBody>
          <a:bodyPr wrap="square" anchor="t" lIns="36000" rIns="36000" tIns="18000" bIns="18000">
            <a:spAutoFit/>
          </a:bodyPr>
          <a:lstStyle/>
          <a:p>
            <a:pPr algn="ctr"/>
            <a:r>
              <a:rPr sz="1400" b="0" i="0">
                <a:solidFill>
                  <a:srgbClr val="C9A8D4"/>
                </a:solidFill>
                <a:latin typeface="Arial"/>
              </a:rPr>
              <a:t>github.com/harrydaw/cosmx-pointpattern    ·    harrywoodward99@gmail.com    ·    MSc Bioinformatics — King's College London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