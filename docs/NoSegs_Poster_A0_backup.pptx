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999" cy="4280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275999" cy="44640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0000" y="360000"/>
            <a:ext cx="25200000" cy="1872000"/>
          </a:xfrm>
          <a:prstGeom prst="rect">
            <a:avLst/>
          </a:prstGeom>
          <a:noFill/>
        </p:spPr>
        <p:txBody>
          <a:bodyPr wrap="square" anchor="t" lIns="36000" rIns="36000" tIns="18000" bIns="18000">
            <a:spAutoFit/>
          </a:bodyPr>
          <a:lstStyle/>
          <a:p>
            <a:pPr algn="l">
              <a:lnSpc>
                <a:spcPct val="100000"/>
              </a:lnSpc>
            </a:pPr>
            <a:r>
              <a:rPr sz="5800" b="1" i="0">
                <a:solidFill>
                  <a:srgbClr val="FFFFFF"/>
                </a:solidFill>
                <a:latin typeface="Arial"/>
              </a:rPr>
              <a:t>NoSegs: Segmentation-Free Ligand–Receptor Co-Localisation in Spatial Transcriptomics</a:t>
            </a:r>
          </a:p>
        </p:txBody>
      </p:sp>
      <p:sp>
        <p:nvSpPr>
          <p:cNvPr id="4" name="TextBox 3"/>
          <p:cNvSpPr txBox="1"/>
          <p:nvPr/>
        </p:nvSpPr>
        <p:spPr>
          <a:xfrm>
            <a:off x="720000" y="2340000"/>
            <a:ext cx="25920000" cy="612000"/>
          </a:xfrm>
          <a:prstGeom prst="rect">
            <a:avLst/>
          </a:prstGeom>
          <a:noFill/>
        </p:spPr>
        <p:txBody>
          <a:bodyPr wrap="square" anchor="t" lIns="36000" rIns="36000" tIns="18000" bIns="18000">
            <a:spAutoFit/>
          </a:bodyPr>
          <a:lstStyle/>
          <a:p>
            <a:pPr algn="l"/>
            <a:r>
              <a:rPr sz="2600" b="0" i="1">
                <a:solidFill>
                  <a:srgbClr val="C9A8D4"/>
                </a:solidFill>
                <a:latin typeface="Arial"/>
              </a:rPr>
              <a:t>Bivariate point-pattern statistics on raw transcripts — no cells, no clusters, no segmentation.</a:t>
            </a:r>
          </a:p>
        </p:txBody>
      </p:sp>
      <p:sp>
        <p:nvSpPr>
          <p:cNvPr id="5" name="TextBox 4"/>
          <p:cNvSpPr txBox="1"/>
          <p:nvPr/>
        </p:nvSpPr>
        <p:spPr>
          <a:xfrm>
            <a:off x="720000" y="3060000"/>
            <a:ext cx="27360000" cy="468000"/>
          </a:xfrm>
          <a:prstGeom prst="rect">
            <a:avLst/>
          </a:prstGeom>
          <a:noFill/>
        </p:spPr>
        <p:txBody>
          <a:bodyPr wrap="square" anchor="t" lIns="36000" rIns="36000" tIns="18000" bIns="18000">
            <a:spAutoFit/>
          </a:bodyPr>
          <a:lstStyle/>
          <a:p>
            <a:pPr algn="l"/>
            <a:r>
              <a:rPr sz="2200" b="0" i="0">
                <a:solidFill>
                  <a:srgbClr val="FFFFFF"/>
                </a:solidFill>
                <a:latin typeface="Arial"/>
              </a:rPr>
              <a:t>Harry Woodward   ·   Supervisor: Dr Dan Nicolau, Nicolau Lab   ·   MSc Bioinformatics, King's College London   ·   2026</a:t>
            </a:r>
          </a:p>
        </p:txBody>
      </p:sp>
      <p:sp>
        <p:nvSpPr>
          <p:cNvPr id="6" name="TextBox 5"/>
          <p:cNvSpPr txBox="1"/>
          <p:nvPr/>
        </p:nvSpPr>
        <p:spPr>
          <a:xfrm>
            <a:off x="720000" y="3600000"/>
            <a:ext cx="27360000" cy="540000"/>
          </a:xfrm>
          <a:prstGeom prst="rect">
            <a:avLst/>
          </a:prstGeom>
          <a:noFill/>
        </p:spPr>
        <p:txBody>
          <a:bodyPr wrap="square" anchor="t" lIns="36000" rIns="36000" tIns="18000" bIns="18000">
            <a:spAutoFit/>
          </a:bodyPr>
          <a:lstStyle/>
          <a:p>
            <a:pPr algn="l"/>
            <a:r>
              <a:rPr sz="1800" b="0" i="0">
                <a:solidFill>
                  <a:srgbClr val="C9A8D4"/>
                </a:solidFill>
                <a:latin typeface="Arial"/>
              </a:rPr>
              <a:t>Platform: NanoString CosMx SMI    ·    Tissue: severe asthmatic, RSV-infected human lung    ·    ~2.66 M transcripts    ·    1,000-gene panel</a:t>
            </a:r>
          </a:p>
        </p:txBody>
      </p:sp>
      <p:pic>
        <p:nvPicPr>
          <p:cNvPr id="7" name="Picture 6" descr="pic_48.png"/>
          <p:cNvPicPr>
            <a:picLocks noChangeAspect="1"/>
          </p:cNvPicPr>
          <p:nvPr/>
        </p:nvPicPr>
        <p:blipFill>
          <a:blip r:embed="rId2"/>
          <a:stretch>
            <a:fillRect/>
          </a:stretch>
        </p:blipFill>
        <p:spPr>
          <a:xfrm>
            <a:off x="26604000" y="396000"/>
            <a:ext cx="3096000" cy="2360700"/>
          </a:xfrm>
          <a:prstGeom prst="rect">
            <a:avLst/>
          </a:prstGeom>
        </p:spPr>
      </p:pic>
      <p:sp>
        <p:nvSpPr>
          <p:cNvPr id="8" name="Rounded Rectangle 7"/>
          <p:cNvSpPr/>
          <p:nvPr/>
        </p:nvSpPr>
        <p:spPr>
          <a:xfrm>
            <a:off x="720000" y="4752000"/>
            <a:ext cx="9252000" cy="31463999"/>
          </a:xfrm>
          <a:prstGeom prst="roundRect">
            <a:avLst>
              <a:gd name="adj" fmla="val 3000"/>
            </a:avLst>
          </a:prstGeom>
          <a:solidFill>
            <a:srgbClr val="F3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512000" y="4752000"/>
            <a:ext cx="9252000" cy="31463999"/>
          </a:xfrm>
          <a:prstGeom prst="roundRect">
            <a:avLst>
              <a:gd name="adj" fmla="val 3000"/>
            </a:avLst>
          </a:prstGeom>
          <a:solidFill>
            <a:srgbClr val="F3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0304000" y="4752000"/>
            <a:ext cx="9252000" cy="31463999"/>
          </a:xfrm>
          <a:prstGeom prst="roundRect">
            <a:avLst>
              <a:gd name="adj" fmla="val 3000"/>
            </a:avLst>
          </a:prstGeom>
          <a:solidFill>
            <a:srgbClr val="F3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6000" y="4932000"/>
            <a:ext cx="8820000" cy="540000"/>
          </a:xfrm>
          <a:prstGeom prst="rect">
            <a:avLst/>
          </a:prstGeom>
          <a:noFill/>
        </p:spPr>
        <p:txBody>
          <a:bodyPr wrap="square" anchor="t" lIns="36000" rIns="36000" tIns="18000" bIns="18000">
            <a:spAutoFit/>
          </a:bodyPr>
          <a:lstStyle/>
          <a:p>
            <a:pPr algn="l"/>
            <a:r>
              <a:rPr sz="3000" b="1" i="0">
                <a:solidFill>
                  <a:srgbClr val="500778"/>
                </a:solidFill>
                <a:latin typeface="Arial"/>
              </a:rPr>
              <a:t>Introduction</a:t>
            </a:r>
          </a:p>
        </p:txBody>
      </p:sp>
      <p:sp>
        <p:nvSpPr>
          <p:cNvPr id="12" name="Rectangle 11"/>
          <p:cNvSpPr/>
          <p:nvPr/>
        </p:nvSpPr>
        <p:spPr>
          <a:xfrm>
            <a:off x="936000" y="5453999"/>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6000" y="5543999"/>
            <a:ext cx="8820000" cy="4680000"/>
          </a:xfrm>
          <a:prstGeom prst="rect">
            <a:avLst/>
          </a:prstGeom>
          <a:noFill/>
        </p:spPr>
        <p:txBody>
          <a:bodyPr wrap="square" anchor="t" lIns="36000" rIns="36000" tIns="18000" bIns="18000">
            <a:spAutoFit/>
          </a:bodyPr>
          <a:lstStyle/>
          <a:p>
            <a:pPr algn="l">
              <a:lnSpc>
                <a:spcPct val="104000"/>
              </a:lnSpc>
              <a:spcAft>
                <a:spcPts val="800"/>
              </a:spcAft>
            </a:pPr>
            <a:r>
              <a:rPr sz="1600" b="0" i="0">
                <a:solidFill>
                  <a:srgbClr val="2C2C2C"/>
                </a:solidFill>
                <a:latin typeface="Arial"/>
              </a:rPr>
              <a:t>Spatial transcriptomics maps gene expression at single-molecule resolution in intact tissue. Almost every downstream analysis — cell-type calling, ligand–receptor inference, niche detection — requires a fragile first step: assigning each transcript to a cell.</a:t>
            </a:r>
          </a:p>
          <a:p>
            <a:pPr algn="l">
              <a:lnSpc>
                <a:spcPct val="104000"/>
              </a:lnSpc>
              <a:spcAft>
                <a:spcPts val="800"/>
              </a:spcAft>
            </a:pPr>
            <a:r>
              <a:rPr sz="1600" b="0" i="0">
                <a:solidFill>
                  <a:srgbClr val="2C2C2C"/>
                </a:solidFill>
                <a:latin typeface="Arial"/>
              </a:rPr>
              <a:t>On the CosMx sample analysed here, vendor segmentation leaves ~42% of transcripts unassigned and most subcellular labels missing. Third-party tools (Cellpose, MOSAIK) cannot recover the signal from poor DAPI staining, so standard downstream tools (CellChat, LIANA, Bento) become unusable.</a:t>
            </a:r>
          </a:p>
          <a:p>
            <a:pPr algn="l">
              <a:lnSpc>
                <a:spcPct val="104000"/>
              </a:lnSpc>
              <a:spcAft>
                <a:spcPts val="600"/>
              </a:spcAft>
            </a:pPr>
            <a:r>
              <a:rPr sz="1600" b="0" i="0">
                <a:solidFill>
                  <a:srgbClr val="2C2C2C"/>
                </a:solidFill>
                <a:latin typeface="Arial"/>
              </a:rPr>
              <a:t>NoSegs takes a different route: treat each gene as a 2D point pattern in tissue space, and use bivariate Ripley's K-functions with label-permutation envelopes to detect ligand–receptor co-localisation directly. No cells. No clusters. Just transcripts.</a:t>
            </a:r>
          </a:p>
          <a:p>
            <a:pPr algn="l"/>
            <a:r>
              <a:rPr sz="1300" b="0" i="1">
                <a:solidFill>
                  <a:srgbClr val="9A7AAE"/>
                </a:solidFill>
                <a:latin typeface="Arial"/>
              </a:rPr>
              <a:t>[ FILL: confirm 42% dropout wording matches M1 = 43.6%; add one sentence on why this dataset matters clinically. ]</a:t>
            </a:r>
          </a:p>
        </p:txBody>
      </p:sp>
      <p:sp>
        <p:nvSpPr>
          <p:cNvPr id="14" name="TextBox 13"/>
          <p:cNvSpPr txBox="1"/>
          <p:nvPr/>
        </p:nvSpPr>
        <p:spPr>
          <a:xfrm>
            <a:off x="936000" y="10367999"/>
            <a:ext cx="8820000" cy="540000"/>
          </a:xfrm>
          <a:prstGeom prst="rect">
            <a:avLst/>
          </a:prstGeom>
          <a:noFill/>
        </p:spPr>
        <p:txBody>
          <a:bodyPr wrap="square" anchor="t" lIns="36000" rIns="36000" tIns="18000" bIns="18000">
            <a:spAutoFit/>
          </a:bodyPr>
          <a:lstStyle/>
          <a:p>
            <a:pPr algn="l"/>
            <a:r>
              <a:rPr sz="2600" b="1" i="0">
                <a:solidFill>
                  <a:srgbClr val="500778"/>
                </a:solidFill>
                <a:latin typeface="Arial"/>
              </a:rPr>
              <a:t>The Problem — Segmentation Fails</a:t>
            </a:r>
          </a:p>
        </p:txBody>
      </p:sp>
      <p:sp>
        <p:nvSpPr>
          <p:cNvPr id="15" name="Rectangle 14"/>
          <p:cNvSpPr/>
          <p:nvPr/>
        </p:nvSpPr>
        <p:spPr>
          <a:xfrm>
            <a:off x="936000" y="10889999"/>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14_M0_raw_data.png"/>
          <p:cNvPicPr>
            <a:picLocks noChangeAspect="1"/>
          </p:cNvPicPr>
          <p:nvPr/>
        </p:nvPicPr>
        <p:blipFill>
          <a:blip r:embed="rId3"/>
          <a:stretch>
            <a:fillRect/>
          </a:stretch>
        </p:blipFill>
        <p:spPr>
          <a:xfrm>
            <a:off x="936000" y="10979999"/>
            <a:ext cx="8820000" cy="3310173"/>
          </a:xfrm>
          <a:prstGeom prst="rect">
            <a:avLst/>
          </a:prstGeom>
        </p:spPr>
      </p:pic>
      <p:sp>
        <p:nvSpPr>
          <p:cNvPr id="17" name="TextBox 16"/>
          <p:cNvSpPr txBox="1"/>
          <p:nvPr/>
        </p:nvSpPr>
        <p:spPr>
          <a:xfrm>
            <a:off x="936000" y="14380173"/>
            <a:ext cx="8820000" cy="1296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M0. </a:t>
            </a:r>
            <a:r>
              <a:rPr sz="1400" b="0" i="0">
                <a:solidFill>
                  <a:srgbClr val="3A3A3A"/>
                </a:solidFill>
                <a:latin typeface="Arial"/>
              </a:rPr>
              <a:t>One field of view, three layers. Left: raw DAPI morphology. Middle: the vendor cell-segmentation mask (148 cells) — the layer NoSegs discards. Right: the raw transcripts, with ~40% never assigned to any cell (magenta). NoSegs carries every point through.</a:t>
            </a:r>
          </a:p>
        </p:txBody>
      </p:sp>
      <p:pic>
        <p:nvPicPr>
          <p:cNvPr id="18" name="Picture 17" descr="14_M1_segmentation_dropout.png"/>
          <p:cNvPicPr>
            <a:picLocks noChangeAspect="1"/>
          </p:cNvPicPr>
          <p:nvPr/>
        </p:nvPicPr>
        <p:blipFill>
          <a:blip r:embed="rId4"/>
          <a:stretch>
            <a:fillRect/>
          </a:stretch>
        </p:blipFill>
        <p:spPr>
          <a:xfrm>
            <a:off x="936000" y="15784173"/>
            <a:ext cx="8820000" cy="3736103"/>
          </a:xfrm>
          <a:prstGeom prst="rect">
            <a:avLst/>
          </a:prstGeom>
        </p:spPr>
      </p:pic>
      <p:sp>
        <p:nvSpPr>
          <p:cNvPr id="19" name="TextBox 18"/>
          <p:cNvSpPr txBox="1"/>
          <p:nvPr/>
        </p:nvSpPr>
        <p:spPr>
          <a:xfrm>
            <a:off x="936000" y="19610276"/>
            <a:ext cx="8820000" cy="104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M1. </a:t>
            </a:r>
            <a:r>
              <a:rPr sz="1400" b="0" i="0">
                <a:solidFill>
                  <a:srgbClr val="3A3A3A"/>
                </a:solidFill>
                <a:latin typeface="Arial"/>
              </a:rPr>
              <a:t>Across all FOVs, vendor segmentation never assigns 43.6% of transcripts to a cell, so every cell-level tool silently discards them — consistently across the whole dataset.</a:t>
            </a:r>
          </a:p>
        </p:txBody>
      </p:sp>
      <p:sp>
        <p:nvSpPr>
          <p:cNvPr id="20" name="TextBox 19"/>
          <p:cNvSpPr txBox="1"/>
          <p:nvPr/>
        </p:nvSpPr>
        <p:spPr>
          <a:xfrm>
            <a:off x="936000" y="20762276"/>
            <a:ext cx="8820000" cy="540000"/>
          </a:xfrm>
          <a:prstGeom prst="rect">
            <a:avLst/>
          </a:prstGeom>
          <a:noFill/>
        </p:spPr>
        <p:txBody>
          <a:bodyPr wrap="square" anchor="t" lIns="36000" rIns="36000" tIns="18000" bIns="18000">
            <a:spAutoFit/>
          </a:bodyPr>
          <a:lstStyle/>
          <a:p>
            <a:pPr algn="l"/>
            <a:r>
              <a:rPr sz="2600" b="1" i="0">
                <a:solidFill>
                  <a:srgbClr val="500778"/>
                </a:solidFill>
                <a:latin typeface="Arial"/>
              </a:rPr>
              <a:t>From Transcripts to Point Patterns</a:t>
            </a:r>
          </a:p>
        </p:txBody>
      </p:sp>
      <p:sp>
        <p:nvSpPr>
          <p:cNvPr id="21" name="Rectangle 20"/>
          <p:cNvSpPr/>
          <p:nvPr/>
        </p:nvSpPr>
        <p:spPr>
          <a:xfrm>
            <a:off x="936000" y="21284276"/>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4_M2_gmm_strips.png"/>
          <p:cNvPicPr>
            <a:picLocks noChangeAspect="1"/>
          </p:cNvPicPr>
          <p:nvPr/>
        </p:nvPicPr>
        <p:blipFill>
          <a:blip r:embed="rId5"/>
          <a:stretch>
            <a:fillRect/>
          </a:stretch>
        </p:blipFill>
        <p:spPr>
          <a:xfrm>
            <a:off x="936000" y="21374276"/>
            <a:ext cx="8820000" cy="4675427"/>
          </a:xfrm>
          <a:prstGeom prst="rect">
            <a:avLst/>
          </a:prstGeom>
        </p:spPr>
      </p:pic>
      <p:sp>
        <p:nvSpPr>
          <p:cNvPr id="23" name="TextBox 22"/>
          <p:cNvSpPr txBox="1"/>
          <p:nvPr/>
        </p:nvSpPr>
        <p:spPr>
          <a:xfrm>
            <a:off x="936000" y="26139703"/>
            <a:ext cx="8820000" cy="1080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M2. </a:t>
            </a:r>
            <a:r>
              <a:rPr sz="1400" b="0" i="0">
                <a:solidFill>
                  <a:srgbClr val="3A3A3A"/>
                </a:solidFill>
                <a:latin typeface="Arial"/>
              </a:rPr>
              <a:t>After PCA aligns the tissue axis, a per-FOV 3-component Gaussian mixture separates the three tissue strips; boundaries are set per FOV, with manual overrides where the mixture is ambiguous.</a:t>
            </a:r>
          </a:p>
        </p:txBody>
      </p:sp>
      <p:sp>
        <p:nvSpPr>
          <p:cNvPr id="24" name="TextBox 23"/>
          <p:cNvSpPr txBox="1"/>
          <p:nvPr/>
        </p:nvSpPr>
        <p:spPr>
          <a:xfrm>
            <a:off x="936000" y="27363703"/>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Adaptive noise removal</a:t>
            </a:r>
          </a:p>
        </p:txBody>
      </p:sp>
      <p:pic>
        <p:nvPicPr>
          <p:cNvPr id="25" name="Picture 24" descr="14_M3_dbscan_qc.png"/>
          <p:cNvPicPr>
            <a:picLocks noChangeAspect="1"/>
          </p:cNvPicPr>
          <p:nvPr/>
        </p:nvPicPr>
        <p:blipFill>
          <a:blip r:embed="rId6"/>
          <a:stretch>
            <a:fillRect/>
          </a:stretch>
        </p:blipFill>
        <p:spPr>
          <a:xfrm>
            <a:off x="936000" y="27777703"/>
            <a:ext cx="8820000" cy="3996734"/>
          </a:xfrm>
          <a:prstGeom prst="rect">
            <a:avLst/>
          </a:prstGeom>
        </p:spPr>
      </p:pic>
      <p:sp>
        <p:nvSpPr>
          <p:cNvPr id="26" name="TextBox 25"/>
          <p:cNvSpPr txBox="1"/>
          <p:nvPr/>
        </p:nvSpPr>
        <p:spPr>
          <a:xfrm>
            <a:off x="936000" y="31864436"/>
            <a:ext cx="8820000" cy="104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M3. </a:t>
            </a:r>
            <a:r>
              <a:rPr sz="1400" b="0" i="0">
                <a:solidFill>
                  <a:srgbClr val="3A3A3A"/>
                </a:solidFill>
                <a:latin typeface="Arial"/>
              </a:rPr>
              <a:t>DBSCAN with an adaptively-set ε (97th-percentile 1-NN, clipped 20–30 px) flags diffuse background and stray clusters; 87% of transcripts survive QC.</a:t>
            </a:r>
          </a:p>
        </p:txBody>
      </p:sp>
      <p:sp>
        <p:nvSpPr>
          <p:cNvPr id="27" name="TextBox 26"/>
          <p:cNvSpPr txBox="1"/>
          <p:nvPr/>
        </p:nvSpPr>
        <p:spPr>
          <a:xfrm>
            <a:off x="10728000" y="4932000"/>
            <a:ext cx="8820000" cy="540000"/>
          </a:xfrm>
          <a:prstGeom prst="rect">
            <a:avLst/>
          </a:prstGeom>
          <a:noFill/>
        </p:spPr>
        <p:txBody>
          <a:bodyPr wrap="square" anchor="t" lIns="36000" rIns="36000" tIns="18000" bIns="18000">
            <a:spAutoFit/>
          </a:bodyPr>
          <a:lstStyle/>
          <a:p>
            <a:pPr algn="l"/>
            <a:r>
              <a:rPr sz="3000" b="1" i="0">
                <a:solidFill>
                  <a:srgbClr val="500778"/>
                </a:solidFill>
                <a:latin typeface="Arial"/>
              </a:rPr>
              <a:t>Methods — The NoSegs Pipeline</a:t>
            </a:r>
          </a:p>
        </p:txBody>
      </p:sp>
      <p:sp>
        <p:nvSpPr>
          <p:cNvPr id="28" name="Rectangle 27"/>
          <p:cNvSpPr/>
          <p:nvPr/>
        </p:nvSpPr>
        <p:spPr>
          <a:xfrm>
            <a:off x="10728000" y="5453999"/>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728000" y="5543999"/>
            <a:ext cx="4824000" cy="503999"/>
          </a:xfrm>
          <a:prstGeom prst="roundRect">
            <a:avLst>
              <a:gd name="adj" fmla="val 3000"/>
            </a:avLst>
          </a:prstGeom>
          <a:solidFill>
            <a:srgbClr val="1A9D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INPUT — raw transcripts  (x, y, gene, FOV)</a:t>
            </a:r>
          </a:p>
        </p:txBody>
      </p:sp>
      <p:sp>
        <p:nvSpPr>
          <p:cNvPr id="30" name="Down Arrow 29"/>
          <p:cNvSpPr/>
          <p:nvPr/>
        </p:nvSpPr>
        <p:spPr>
          <a:xfrm>
            <a:off x="13014000" y="6058799"/>
            <a:ext cx="251999" cy="201600"/>
          </a:xfrm>
          <a:prstGeom prst="downArrow">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728000" y="6271199"/>
            <a:ext cx="4824000" cy="503999"/>
          </a:xfrm>
          <a:prstGeom prst="roundRect">
            <a:avLst>
              <a:gd name="adj" fmla="val 3000"/>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1   PCA align + per-FOV GMM strips</a:t>
            </a:r>
          </a:p>
        </p:txBody>
      </p:sp>
      <p:sp>
        <p:nvSpPr>
          <p:cNvPr id="32" name="Rounded Rectangle 31"/>
          <p:cNvSpPr/>
          <p:nvPr/>
        </p:nvSpPr>
        <p:spPr>
          <a:xfrm>
            <a:off x="15876000" y="6316199"/>
            <a:ext cx="3671999" cy="413999"/>
          </a:xfrm>
          <a:prstGeom prst="roundRect">
            <a:avLst>
              <a:gd name="adj" fmla="val 3000"/>
            </a:avLst>
          </a:prstGeom>
          <a:solidFill>
            <a:srgbClr val="FFF4D6"/>
          </a:solidFill>
          <a:ln w="12700">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050" b="0" i="1">
                <a:solidFill>
                  <a:srgbClr val="6B5200"/>
                </a:solidFill>
                <a:latin typeface="Arial"/>
              </a:rPr>
              <a:t>3-component GMM</a:t>
            </a:r>
          </a:p>
        </p:txBody>
      </p:sp>
      <p:sp>
        <p:nvSpPr>
          <p:cNvPr id="33" name="Down Arrow 32"/>
          <p:cNvSpPr/>
          <p:nvPr/>
        </p:nvSpPr>
        <p:spPr>
          <a:xfrm>
            <a:off x="13014000" y="6785999"/>
            <a:ext cx="251999" cy="201600"/>
          </a:xfrm>
          <a:prstGeom prst="downArrow">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728000" y="6998399"/>
            <a:ext cx="4824000" cy="503999"/>
          </a:xfrm>
          <a:prstGeom prst="roundRect">
            <a:avLst>
              <a:gd name="adj" fmla="val 3000"/>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2   DBSCAN noise removal</a:t>
            </a:r>
          </a:p>
        </p:txBody>
      </p:sp>
      <p:sp>
        <p:nvSpPr>
          <p:cNvPr id="35" name="Rounded Rectangle 34"/>
          <p:cNvSpPr/>
          <p:nvPr/>
        </p:nvSpPr>
        <p:spPr>
          <a:xfrm>
            <a:off x="15876000" y="7043399"/>
            <a:ext cx="3671999" cy="413999"/>
          </a:xfrm>
          <a:prstGeom prst="roundRect">
            <a:avLst>
              <a:gd name="adj" fmla="val 3000"/>
            </a:avLst>
          </a:prstGeom>
          <a:solidFill>
            <a:srgbClr val="FFF4D6"/>
          </a:solidFill>
          <a:ln w="12700">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050" b="0" i="1">
                <a:solidFill>
                  <a:srgbClr val="6B5200"/>
                </a:solidFill>
                <a:latin typeface="Arial"/>
              </a:rPr>
              <a:t>adaptive ε = p97 1-NN, [20, 30] px</a:t>
            </a:r>
          </a:p>
        </p:txBody>
      </p:sp>
      <p:sp>
        <p:nvSpPr>
          <p:cNvPr id="36" name="Down Arrow 35"/>
          <p:cNvSpPr/>
          <p:nvPr/>
        </p:nvSpPr>
        <p:spPr>
          <a:xfrm>
            <a:off x="13014000" y="7513199"/>
            <a:ext cx="251999" cy="201600"/>
          </a:xfrm>
          <a:prstGeom prst="downArrow">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728000" y="7725599"/>
            <a:ext cx="4824000" cy="503999"/>
          </a:xfrm>
          <a:prstGeom prst="roundRect">
            <a:avLst>
              <a:gd name="adj" fmla="val 3000"/>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3   Observation window</a:t>
            </a:r>
          </a:p>
        </p:txBody>
      </p:sp>
      <p:sp>
        <p:nvSpPr>
          <p:cNvPr id="38" name="Rounded Rectangle 37"/>
          <p:cNvSpPr/>
          <p:nvPr/>
        </p:nvSpPr>
        <p:spPr>
          <a:xfrm>
            <a:off x="15876000" y="7770599"/>
            <a:ext cx="3671999" cy="413999"/>
          </a:xfrm>
          <a:prstGeom prst="roundRect">
            <a:avLst>
              <a:gd name="adj" fmla="val 3000"/>
            </a:avLst>
          </a:prstGeom>
          <a:solidFill>
            <a:srgbClr val="FFF4D6"/>
          </a:solidFill>
          <a:ln w="12700">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050" b="0" i="1">
                <a:solidFill>
                  <a:srgbClr val="6B5200"/>
                </a:solidFill>
                <a:latin typeface="Arial"/>
              </a:rPr>
              <a:t>rectangle / convex / concave hull</a:t>
            </a:r>
          </a:p>
        </p:txBody>
      </p:sp>
      <p:sp>
        <p:nvSpPr>
          <p:cNvPr id="39" name="Down Arrow 38"/>
          <p:cNvSpPr/>
          <p:nvPr/>
        </p:nvSpPr>
        <p:spPr>
          <a:xfrm>
            <a:off x="13014000" y="8240399"/>
            <a:ext cx="251999" cy="201600"/>
          </a:xfrm>
          <a:prstGeom prst="downArrow">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728000" y="8452799"/>
            <a:ext cx="4824000" cy="503999"/>
          </a:xfrm>
          <a:prstGeom prst="roundRect">
            <a:avLst>
              <a:gd name="adj" fmla="val 3000"/>
            </a:avLst>
          </a:prstGeom>
          <a:solidFill>
            <a:srgbClr val="1A7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4   Bivariate Ripley K → L(r)</a:t>
            </a:r>
          </a:p>
        </p:txBody>
      </p:sp>
      <p:sp>
        <p:nvSpPr>
          <p:cNvPr id="41" name="Rounded Rectangle 40"/>
          <p:cNvSpPr/>
          <p:nvPr/>
        </p:nvSpPr>
        <p:spPr>
          <a:xfrm>
            <a:off x="15876000" y="8497799"/>
            <a:ext cx="3671999" cy="413999"/>
          </a:xfrm>
          <a:prstGeom prst="roundRect">
            <a:avLst>
              <a:gd name="adj" fmla="val 3000"/>
            </a:avLst>
          </a:prstGeom>
          <a:solidFill>
            <a:srgbClr val="FFF4D6"/>
          </a:solidFill>
          <a:ln w="12700">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050" b="0" i="1">
                <a:solidFill>
                  <a:srgbClr val="6B5200"/>
                </a:solidFill>
                <a:latin typeface="Arial"/>
              </a:rPr>
              <a:t>multi-scale r-grid (cell + tissue)</a:t>
            </a:r>
          </a:p>
        </p:txBody>
      </p:sp>
      <p:sp>
        <p:nvSpPr>
          <p:cNvPr id="42" name="Down Arrow 41"/>
          <p:cNvSpPr/>
          <p:nvPr/>
        </p:nvSpPr>
        <p:spPr>
          <a:xfrm>
            <a:off x="13014000" y="8967599"/>
            <a:ext cx="251999" cy="201600"/>
          </a:xfrm>
          <a:prstGeom prst="downArrow">
            <a:avLst/>
          </a:prstGeom>
          <a:solidFill>
            <a:srgbClr val="1A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728000" y="9179999"/>
            <a:ext cx="4824000" cy="503999"/>
          </a:xfrm>
          <a:prstGeom prst="roundRect">
            <a:avLst>
              <a:gd name="adj" fmla="val 3000"/>
            </a:avLst>
          </a:prstGeom>
          <a:solidFill>
            <a:srgbClr val="1A7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5   Label-swap permutation envelope</a:t>
            </a:r>
          </a:p>
        </p:txBody>
      </p:sp>
      <p:sp>
        <p:nvSpPr>
          <p:cNvPr id="44" name="Rounded Rectangle 43"/>
          <p:cNvSpPr/>
          <p:nvPr/>
        </p:nvSpPr>
        <p:spPr>
          <a:xfrm>
            <a:off x="15876000" y="9224999"/>
            <a:ext cx="3671999" cy="413999"/>
          </a:xfrm>
          <a:prstGeom prst="roundRect">
            <a:avLst>
              <a:gd name="adj" fmla="val 3000"/>
            </a:avLst>
          </a:prstGeom>
          <a:solidFill>
            <a:srgbClr val="FFF4D6"/>
          </a:solidFill>
          <a:ln w="12700">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050" b="0" i="1">
                <a:solidFill>
                  <a:srgbClr val="6B5200"/>
                </a:solidFill>
                <a:latin typeface="Arial"/>
              </a:rPr>
              <a:t>n_sim = 99 / 199  +  edge correction</a:t>
            </a:r>
          </a:p>
        </p:txBody>
      </p:sp>
      <p:sp>
        <p:nvSpPr>
          <p:cNvPr id="45" name="Down Arrow 44"/>
          <p:cNvSpPr/>
          <p:nvPr/>
        </p:nvSpPr>
        <p:spPr>
          <a:xfrm>
            <a:off x="13014000" y="9694799"/>
            <a:ext cx="251999" cy="201600"/>
          </a:xfrm>
          <a:prstGeom prst="downArrow">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0728000" y="9907199"/>
            <a:ext cx="4824000" cy="503999"/>
          </a:xfrm>
          <a:prstGeom prst="roundRect">
            <a:avLst>
              <a:gd name="adj" fmla="val 3000"/>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6   Effect-size (SES) ranking</a:t>
            </a:r>
          </a:p>
        </p:txBody>
      </p:sp>
      <p:sp>
        <p:nvSpPr>
          <p:cNvPr id="47" name="Rounded Rectangle 46"/>
          <p:cNvSpPr/>
          <p:nvPr/>
        </p:nvSpPr>
        <p:spPr>
          <a:xfrm>
            <a:off x="15876000" y="9952199"/>
            <a:ext cx="3671999" cy="413999"/>
          </a:xfrm>
          <a:prstGeom prst="roundRect">
            <a:avLst>
              <a:gd name="adj" fmla="val 3000"/>
            </a:avLst>
          </a:prstGeom>
          <a:solidFill>
            <a:srgbClr val="FFF4D6"/>
          </a:solidFill>
          <a:ln w="12700">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050" b="0" i="1">
                <a:solidFill>
                  <a:srgbClr val="6B5200"/>
                </a:solidFill>
                <a:latin typeface="Arial"/>
              </a:rPr>
              <a:t>binary test  or  continuous SES</a:t>
            </a:r>
          </a:p>
        </p:txBody>
      </p:sp>
      <p:sp>
        <p:nvSpPr>
          <p:cNvPr id="48" name="Down Arrow 47"/>
          <p:cNvSpPr/>
          <p:nvPr/>
        </p:nvSpPr>
        <p:spPr>
          <a:xfrm>
            <a:off x="13014000" y="10421999"/>
            <a:ext cx="251999" cy="201600"/>
          </a:xfrm>
          <a:prstGeom prst="downArrow">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10728000" y="10634399"/>
            <a:ext cx="4824000" cy="503999"/>
          </a:xfrm>
          <a:prstGeom prst="roundRect">
            <a:avLst>
              <a:gd name="adj" fmla="val 3000"/>
            </a:avLst>
          </a:prstGeom>
          <a:solidFill>
            <a:srgbClr val="2166A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OUTPUTS — networks · UMAP · heatmaps</a:t>
            </a:r>
          </a:p>
        </p:txBody>
      </p:sp>
      <p:sp>
        <p:nvSpPr>
          <p:cNvPr id="50" name="Rounded Rectangle 49"/>
          <p:cNvSpPr/>
          <p:nvPr/>
        </p:nvSpPr>
        <p:spPr>
          <a:xfrm>
            <a:off x="10728000" y="11433599"/>
            <a:ext cx="8820000" cy="1386000"/>
          </a:xfrm>
          <a:prstGeom prst="roundRect">
            <a:avLst>
              <a:gd name="adj" fmla="val 3000"/>
            </a:avLst>
          </a:prstGeom>
          <a:solidFill>
            <a:srgbClr val="EDE3F3"/>
          </a:solidFill>
          <a:ln w="12700">
            <a:solidFill>
              <a:srgbClr val="C9A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08000" y="11523599"/>
            <a:ext cx="8460000" cy="360000"/>
          </a:xfrm>
          <a:prstGeom prst="rect">
            <a:avLst/>
          </a:prstGeom>
          <a:noFill/>
        </p:spPr>
        <p:txBody>
          <a:bodyPr wrap="square" anchor="t" lIns="36000" rIns="36000" tIns="18000" bIns="18000">
            <a:spAutoFit/>
          </a:bodyPr>
          <a:lstStyle/>
          <a:p>
            <a:pPr algn="l"/>
            <a:r>
              <a:rPr sz="1400" b="1" i="0">
                <a:solidFill>
                  <a:srgbClr val="500778"/>
                </a:solidFill>
                <a:latin typeface="Arial"/>
              </a:rPr>
              <a:t>Quick start — use NoSegs when…</a:t>
            </a:r>
          </a:p>
        </p:txBody>
      </p:sp>
      <p:sp>
        <p:nvSpPr>
          <p:cNvPr id="52" name="TextBox 51"/>
          <p:cNvSpPr txBox="1"/>
          <p:nvPr/>
        </p:nvSpPr>
        <p:spPr>
          <a:xfrm>
            <a:off x="10944000" y="11883599"/>
            <a:ext cx="251999" cy="198000"/>
          </a:xfrm>
          <a:prstGeom prst="rect">
            <a:avLst/>
          </a:prstGeom>
          <a:noFill/>
        </p:spPr>
        <p:txBody>
          <a:bodyPr wrap="square" anchor="t" lIns="36000" rIns="36000" tIns="18000" bIns="18000">
            <a:spAutoFit/>
          </a:bodyPr>
          <a:lstStyle/>
          <a:p>
            <a:pPr algn="l"/>
            <a:r>
              <a:rPr sz="1200" b="1" i="0">
                <a:solidFill>
                  <a:srgbClr val="1A9D50"/>
                </a:solidFill>
                <a:latin typeface="DejaVu Sans"/>
              </a:rPr>
              <a:t>✓</a:t>
            </a:r>
          </a:p>
        </p:txBody>
      </p:sp>
      <p:sp>
        <p:nvSpPr>
          <p:cNvPr id="53" name="TextBox 52"/>
          <p:cNvSpPr txBox="1"/>
          <p:nvPr/>
        </p:nvSpPr>
        <p:spPr>
          <a:xfrm>
            <a:off x="11178000" y="11883599"/>
            <a:ext cx="8136000" cy="216000"/>
          </a:xfrm>
          <a:prstGeom prst="rect">
            <a:avLst/>
          </a:prstGeom>
          <a:noFill/>
        </p:spPr>
        <p:txBody>
          <a:bodyPr wrap="square" anchor="t" lIns="36000" rIns="36000" tIns="18000" bIns="18000">
            <a:spAutoFit/>
          </a:bodyPr>
          <a:lstStyle/>
          <a:p>
            <a:pPr algn="l"/>
            <a:r>
              <a:rPr sz="1150" b="0" i="0">
                <a:solidFill>
                  <a:srgbClr val="2C2C2C"/>
                </a:solidFill>
                <a:latin typeface="Arial"/>
              </a:rPr>
              <a:t>segmentation fails or is unavailable on your sample</a:t>
            </a:r>
          </a:p>
        </p:txBody>
      </p:sp>
      <p:sp>
        <p:nvSpPr>
          <p:cNvPr id="54" name="TextBox 53"/>
          <p:cNvSpPr txBox="1"/>
          <p:nvPr/>
        </p:nvSpPr>
        <p:spPr>
          <a:xfrm>
            <a:off x="10944000" y="12164399"/>
            <a:ext cx="251999" cy="198000"/>
          </a:xfrm>
          <a:prstGeom prst="rect">
            <a:avLst/>
          </a:prstGeom>
          <a:noFill/>
        </p:spPr>
        <p:txBody>
          <a:bodyPr wrap="square" anchor="t" lIns="36000" rIns="36000" tIns="18000" bIns="18000">
            <a:spAutoFit/>
          </a:bodyPr>
          <a:lstStyle/>
          <a:p>
            <a:pPr algn="l"/>
            <a:r>
              <a:rPr sz="1200" b="1" i="0">
                <a:solidFill>
                  <a:srgbClr val="1A9D50"/>
                </a:solidFill>
                <a:latin typeface="DejaVu Sans"/>
              </a:rPr>
              <a:t>✓</a:t>
            </a:r>
          </a:p>
        </p:txBody>
      </p:sp>
      <p:sp>
        <p:nvSpPr>
          <p:cNvPr id="55" name="TextBox 54"/>
          <p:cNvSpPr txBox="1"/>
          <p:nvPr/>
        </p:nvSpPr>
        <p:spPr>
          <a:xfrm>
            <a:off x="11178000" y="12164399"/>
            <a:ext cx="8136000" cy="216000"/>
          </a:xfrm>
          <a:prstGeom prst="rect">
            <a:avLst/>
          </a:prstGeom>
          <a:noFill/>
        </p:spPr>
        <p:txBody>
          <a:bodyPr wrap="square" anchor="t" lIns="36000" rIns="36000" tIns="18000" bIns="18000">
            <a:spAutoFit/>
          </a:bodyPr>
          <a:lstStyle/>
          <a:p>
            <a:pPr algn="l"/>
            <a:r>
              <a:rPr sz="1150" b="0" i="0">
                <a:solidFill>
                  <a:srgbClr val="2C2C2C"/>
                </a:solidFill>
                <a:latin typeface="Arial"/>
              </a:rPr>
              <a:t>you want ligand–receptor co-localisation straight from transcripts</a:t>
            </a:r>
          </a:p>
        </p:txBody>
      </p:sp>
      <p:sp>
        <p:nvSpPr>
          <p:cNvPr id="56" name="TextBox 55"/>
          <p:cNvSpPr txBox="1"/>
          <p:nvPr/>
        </p:nvSpPr>
        <p:spPr>
          <a:xfrm>
            <a:off x="10944000" y="12445199"/>
            <a:ext cx="251999" cy="198000"/>
          </a:xfrm>
          <a:prstGeom prst="rect">
            <a:avLst/>
          </a:prstGeom>
          <a:noFill/>
        </p:spPr>
        <p:txBody>
          <a:bodyPr wrap="square" anchor="t" lIns="36000" rIns="36000" tIns="18000" bIns="18000">
            <a:spAutoFit/>
          </a:bodyPr>
          <a:lstStyle/>
          <a:p>
            <a:pPr algn="l"/>
            <a:r>
              <a:rPr sz="1200" b="1" i="0">
                <a:solidFill>
                  <a:srgbClr val="1A9D50"/>
                </a:solidFill>
                <a:latin typeface="DejaVu Sans"/>
              </a:rPr>
              <a:t>✓</a:t>
            </a:r>
          </a:p>
        </p:txBody>
      </p:sp>
      <p:sp>
        <p:nvSpPr>
          <p:cNvPr id="57" name="TextBox 56"/>
          <p:cNvSpPr txBox="1"/>
          <p:nvPr/>
        </p:nvSpPr>
        <p:spPr>
          <a:xfrm>
            <a:off x="11178000" y="12445199"/>
            <a:ext cx="8136000" cy="216000"/>
          </a:xfrm>
          <a:prstGeom prst="rect">
            <a:avLst/>
          </a:prstGeom>
          <a:noFill/>
        </p:spPr>
        <p:txBody>
          <a:bodyPr wrap="square" anchor="t" lIns="36000" rIns="36000" tIns="18000" bIns="18000">
            <a:spAutoFit/>
          </a:bodyPr>
          <a:lstStyle/>
          <a:p>
            <a:pPr algn="l"/>
            <a:r>
              <a:rPr sz="1150" b="0" i="0">
                <a:solidFill>
                  <a:srgbClr val="2C2C2C"/>
                </a:solidFill>
                <a:latin typeface="Arial"/>
              </a:rPr>
              <a:t>imaging platforms (CosMx, MERFISH, Xenium); ≥ ~50 transcripts / gene / ROI</a:t>
            </a:r>
          </a:p>
        </p:txBody>
      </p:sp>
      <p:sp>
        <p:nvSpPr>
          <p:cNvPr id="58" name="TextBox 57"/>
          <p:cNvSpPr txBox="1"/>
          <p:nvPr/>
        </p:nvSpPr>
        <p:spPr>
          <a:xfrm>
            <a:off x="10728000" y="12909599"/>
            <a:ext cx="8820000" cy="86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M6. </a:t>
            </a:r>
            <a:r>
              <a:rPr sz="1400" b="0" i="0">
                <a:solidFill>
                  <a:srgbClr val="3A3A3A"/>
                </a:solidFill>
                <a:latin typeface="Arial"/>
              </a:rPr>
              <a:t>The end-to-end workflow and a quick-start guide. Eight native, editable stages from raw transcripts to signalling networks; teal marks the statistical core, and amber chips mark the tunable option at each step.</a:t>
            </a:r>
          </a:p>
        </p:txBody>
      </p:sp>
      <p:sp>
        <p:nvSpPr>
          <p:cNvPr id="59" name="TextBox 58"/>
          <p:cNvSpPr txBox="1"/>
          <p:nvPr/>
        </p:nvSpPr>
        <p:spPr>
          <a:xfrm>
            <a:off x="10728000" y="13863599"/>
            <a:ext cx="8820000" cy="1152000"/>
          </a:xfrm>
          <a:prstGeom prst="rect">
            <a:avLst/>
          </a:prstGeom>
          <a:noFill/>
        </p:spPr>
        <p:txBody>
          <a:bodyPr wrap="square" anchor="t" lIns="36000" rIns="36000" tIns="18000" bIns="18000">
            <a:spAutoFit/>
          </a:bodyPr>
          <a:lstStyle/>
          <a:p>
            <a:pPr algn="l">
              <a:lnSpc>
                <a:spcPct val="103000"/>
              </a:lnSpc>
              <a:spcAft>
                <a:spcPts val="500"/>
              </a:spcAft>
            </a:pPr>
            <a:r>
              <a:rPr sz="1500" b="1" i="0">
                <a:solidFill>
                  <a:srgbClr val="500778"/>
                </a:solidFill>
                <a:latin typeface="Arial"/>
              </a:rPr>
              <a:t>Significance → effect size.  </a:t>
            </a:r>
            <a:r>
              <a:rPr sz="1500" b="0" i="0">
                <a:solidFill>
                  <a:srgbClr val="2C2C2C"/>
                </a:solidFill>
                <a:latin typeface="Arial"/>
              </a:rPr>
              <a:t>Under the production concave-hull window even the positive control sits within the permutation envelope — the window is the dominant lever for inferential power. We rank pairs by continuous standardised effect size (SES), the continuous form of the global rank envelope test (Myllymäki 2017), not binary significance.</a:t>
            </a:r>
          </a:p>
        </p:txBody>
      </p:sp>
      <p:sp>
        <p:nvSpPr>
          <p:cNvPr id="60" name="TextBox 59"/>
          <p:cNvSpPr txBox="1"/>
          <p:nvPr/>
        </p:nvSpPr>
        <p:spPr>
          <a:xfrm>
            <a:off x="10728000" y="15087599"/>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Observation window</a:t>
            </a:r>
          </a:p>
        </p:txBody>
      </p:sp>
      <p:pic>
        <p:nvPicPr>
          <p:cNvPr id="61" name="Picture 60" descr="14_M4_window_iterations.png"/>
          <p:cNvPicPr>
            <a:picLocks noChangeAspect="1"/>
          </p:cNvPicPr>
          <p:nvPr/>
        </p:nvPicPr>
        <p:blipFill>
          <a:blip r:embed="rId7"/>
          <a:stretch>
            <a:fillRect/>
          </a:stretch>
        </p:blipFill>
        <p:spPr>
          <a:xfrm>
            <a:off x="11537999" y="15501599"/>
            <a:ext cx="7200000" cy="4429012"/>
          </a:xfrm>
          <a:prstGeom prst="rect">
            <a:avLst/>
          </a:prstGeom>
        </p:spPr>
      </p:pic>
      <p:sp>
        <p:nvSpPr>
          <p:cNvPr id="62" name="TextBox 61"/>
          <p:cNvSpPr txBox="1"/>
          <p:nvPr/>
        </p:nvSpPr>
        <p:spPr>
          <a:xfrm>
            <a:off x="10728000" y="20002611"/>
            <a:ext cx="8820000" cy="972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M4. </a:t>
            </a:r>
            <a:r>
              <a:rPr sz="1400" b="0" i="0">
                <a:solidFill>
                  <a:srgbClr val="3A3A3A"/>
                </a:solidFill>
                <a:latin typeface="Arial"/>
              </a:rPr>
              <a:t>The observation window is the dominant lever for inferential power. A concave hull tracks the true tissue extent, shrinking the area ~20× vs the bounding box and tightening the permutation null.</a:t>
            </a:r>
          </a:p>
        </p:txBody>
      </p:sp>
      <p:sp>
        <p:nvSpPr>
          <p:cNvPr id="63" name="TextBox 62"/>
          <p:cNvSpPr txBox="1"/>
          <p:nvPr/>
        </p:nvSpPr>
        <p:spPr>
          <a:xfrm>
            <a:off x="10728000" y="21082611"/>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Multi-scale r-grid &amp; edge correction</a:t>
            </a:r>
          </a:p>
        </p:txBody>
      </p:sp>
      <p:pic>
        <p:nvPicPr>
          <p:cNvPr id="64" name="Picture 63" descr="14_M5_rscale.png"/>
          <p:cNvPicPr>
            <a:picLocks noChangeAspect="1"/>
          </p:cNvPicPr>
          <p:nvPr/>
        </p:nvPicPr>
        <p:blipFill>
          <a:blip r:embed="rId8"/>
          <a:stretch>
            <a:fillRect/>
          </a:stretch>
        </p:blipFill>
        <p:spPr>
          <a:xfrm>
            <a:off x="10728000" y="21496611"/>
            <a:ext cx="8820000" cy="3026288"/>
          </a:xfrm>
          <a:prstGeom prst="rect">
            <a:avLst/>
          </a:prstGeom>
        </p:spPr>
      </p:pic>
      <p:sp>
        <p:nvSpPr>
          <p:cNvPr id="65" name="TextBox 64"/>
          <p:cNvSpPr txBox="1"/>
          <p:nvPr/>
        </p:nvSpPr>
        <p:spPr>
          <a:xfrm>
            <a:off x="10728000" y="24594900"/>
            <a:ext cx="8820000" cy="936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M5. </a:t>
            </a:r>
            <a:r>
              <a:rPr sz="1400" b="0" i="0">
                <a:solidFill>
                  <a:srgbClr val="3A3A3A"/>
                </a:solidFill>
                <a:latin typeface="Arial"/>
              </a:rPr>
              <a:t>A deliberate multi-scale r-grid resolves both cell-scale and tissue-scale co-association; Shapely edge correction down-weights discs that spill outside the tissue window.</a:t>
            </a:r>
          </a:p>
        </p:txBody>
      </p:sp>
      <p:sp>
        <p:nvSpPr>
          <p:cNvPr id="66" name="TextBox 65"/>
          <p:cNvSpPr txBox="1"/>
          <p:nvPr/>
        </p:nvSpPr>
        <p:spPr>
          <a:xfrm>
            <a:off x="10728000" y="25656900"/>
            <a:ext cx="8820000" cy="540000"/>
          </a:xfrm>
          <a:prstGeom prst="rect">
            <a:avLst/>
          </a:prstGeom>
          <a:noFill/>
        </p:spPr>
        <p:txBody>
          <a:bodyPr wrap="square" anchor="t" lIns="36000" rIns="36000" tIns="18000" bIns="18000">
            <a:spAutoFit/>
          </a:bodyPr>
          <a:lstStyle/>
          <a:p>
            <a:pPr algn="l"/>
            <a:r>
              <a:rPr sz="2600" b="1" i="0">
                <a:solidFill>
                  <a:srgbClr val="500778"/>
                </a:solidFill>
                <a:latin typeface="Arial"/>
              </a:rPr>
              <a:t>Where NoSegs Sits</a:t>
            </a:r>
          </a:p>
        </p:txBody>
      </p:sp>
      <p:sp>
        <p:nvSpPr>
          <p:cNvPr id="67" name="Rectangle 66"/>
          <p:cNvSpPr/>
          <p:nvPr/>
        </p:nvSpPr>
        <p:spPr>
          <a:xfrm>
            <a:off x="10728000" y="26178900"/>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Picture 67" descr="14_T_tool_positioning.png"/>
          <p:cNvPicPr>
            <a:picLocks noChangeAspect="1"/>
          </p:cNvPicPr>
          <p:nvPr/>
        </p:nvPicPr>
        <p:blipFill>
          <a:blip r:embed="rId9"/>
          <a:stretch>
            <a:fillRect/>
          </a:stretch>
        </p:blipFill>
        <p:spPr>
          <a:xfrm>
            <a:off x="11537999" y="26268900"/>
            <a:ext cx="7200000" cy="3957110"/>
          </a:xfrm>
          <a:prstGeom prst="rect">
            <a:avLst/>
          </a:prstGeom>
        </p:spPr>
      </p:pic>
      <p:sp>
        <p:nvSpPr>
          <p:cNvPr id="69" name="TextBox 68"/>
          <p:cNvSpPr txBox="1"/>
          <p:nvPr/>
        </p:nvSpPr>
        <p:spPr>
          <a:xfrm>
            <a:off x="10728000" y="30298009"/>
            <a:ext cx="8820000" cy="122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T. </a:t>
            </a:r>
            <a:r>
              <a:rPr sz="1400" b="0" i="0">
                <a:solidFill>
                  <a:srgbClr val="3A3A3A"/>
                </a:solidFill>
                <a:latin typeface="Arial"/>
              </a:rPr>
              <a:t>No published tool screens L–R co-localisation on raw transcripts without segmentation. CellChat/LIANA, Squidpy, Bento and Baysor require segmentation or cell-typing; FICTURE is segmentation-free but answers a different question; spatstat is a generic point-pattern library. NoSegs satisfies all four capabilities.</a:t>
            </a:r>
          </a:p>
        </p:txBody>
      </p:sp>
      <p:sp>
        <p:nvSpPr>
          <p:cNvPr id="70" name="TextBox 69"/>
          <p:cNvSpPr txBox="1"/>
          <p:nvPr/>
        </p:nvSpPr>
        <p:spPr>
          <a:xfrm>
            <a:off x="10728000" y="31648009"/>
            <a:ext cx="8820000" cy="540000"/>
          </a:xfrm>
          <a:prstGeom prst="rect">
            <a:avLst/>
          </a:prstGeom>
          <a:noFill/>
        </p:spPr>
        <p:txBody>
          <a:bodyPr wrap="square" anchor="t" lIns="36000" rIns="36000" tIns="18000" bIns="18000">
            <a:spAutoFit/>
          </a:bodyPr>
          <a:lstStyle/>
          <a:p>
            <a:pPr algn="l"/>
            <a:r>
              <a:rPr sz="2600" b="1" i="0">
                <a:solidFill>
                  <a:srgbClr val="500778"/>
                </a:solidFill>
                <a:latin typeface="Arial"/>
              </a:rPr>
              <a:t>Validation &amp; Controls</a:t>
            </a:r>
          </a:p>
        </p:txBody>
      </p:sp>
      <p:sp>
        <p:nvSpPr>
          <p:cNvPr id="71" name="Rectangle 70"/>
          <p:cNvSpPr/>
          <p:nvPr/>
        </p:nvSpPr>
        <p:spPr>
          <a:xfrm>
            <a:off x="10728000" y="32170009"/>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13_pos_vs_neg_sanity.png"/>
          <p:cNvPicPr>
            <a:picLocks noChangeAspect="1"/>
          </p:cNvPicPr>
          <p:nvPr/>
        </p:nvPicPr>
        <p:blipFill>
          <a:blip r:embed="rId10"/>
          <a:stretch>
            <a:fillRect/>
          </a:stretch>
        </p:blipFill>
        <p:spPr>
          <a:xfrm>
            <a:off x="11537999" y="32260009"/>
            <a:ext cx="7200000" cy="2762791"/>
          </a:xfrm>
          <a:prstGeom prst="rect">
            <a:avLst/>
          </a:prstGeom>
        </p:spPr>
      </p:pic>
      <p:sp>
        <p:nvSpPr>
          <p:cNvPr id="73" name="TextBox 72"/>
          <p:cNvSpPr txBox="1"/>
          <p:nvPr/>
        </p:nvSpPr>
        <p:spPr>
          <a:xfrm>
            <a:off x="10728000" y="35094800"/>
            <a:ext cx="8820000" cy="122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B. </a:t>
            </a:r>
            <a:r>
              <a:rPr sz="1400" b="0" i="0">
                <a:solidFill>
                  <a:srgbClr val="3A3A3A"/>
                </a:solidFill>
                <a:latin typeface="Arial"/>
              </a:rPr>
              <a:t>Both the positive control (KRT8×KRT18) and the housekeeping×specific negative (MALAT1×KRT18) fall inside the label-swap envelope on the infected strip, yet their effect sizes separate by 2.67 envelope half-widths. We therefore rank by continuous peak SES, not binary pass/fail.</a:t>
            </a:r>
          </a:p>
        </p:txBody>
      </p:sp>
      <p:graphicFrame>
        <p:nvGraphicFramePr>
          <p:cNvPr id="74" name="Table 73"/>
          <p:cNvGraphicFramePr>
            <a:graphicFrameLocks noGrp="1"/>
          </p:cNvGraphicFramePr>
          <p:nvPr/>
        </p:nvGraphicFramePr>
        <p:xfrm>
          <a:off x="10728000" y="36444800"/>
          <a:ext cx="8820000" cy="1548000"/>
        </p:xfrm>
        <a:graphic>
          <a:graphicData uri="http://schemas.openxmlformats.org/drawingml/2006/table">
            <a:tbl>
              <a:tblPr firstRow="1" bandRow="1">
                <a:tableStyleId>{5C22544A-7EE6-4342-B048-85BDC9FD1C3A}</a:tableStyleId>
              </a:tblPr>
              <a:tblGrid>
                <a:gridCol w="1872000"/>
                <a:gridCol w="2736000"/>
                <a:gridCol w="1944000"/>
                <a:gridCol w="2268000"/>
              </a:tblGrid>
              <a:tr h="516000">
                <a:tc>
                  <a:txBody>
                    <a:bodyPr wrap="square"/>
                    <a:lstStyle/>
                    <a:p>
                      <a:r>
                        <a:rPr sz="1400" b="1">
                          <a:solidFill>
                            <a:srgbClr val="FFFFFF"/>
                          </a:solidFill>
                          <a:latin typeface="Arial"/>
                        </a:rPr>
                        <a:t>Control</a:t>
                      </a:r>
                    </a:p>
                  </a:txBody>
                  <a:tcPr marL="72000" marR="36000" marT="18000" marB="18000" anchor="ctr">
                    <a:solidFill>
                      <a:srgbClr val="500778"/>
                    </a:solidFill>
                  </a:tcPr>
                </a:tc>
                <a:tc>
                  <a:txBody>
                    <a:bodyPr wrap="square"/>
                    <a:lstStyle/>
                    <a:p>
                      <a:r>
                        <a:rPr sz="1400" b="1">
                          <a:solidFill>
                            <a:srgbClr val="FFFFFF"/>
                          </a:solidFill>
                          <a:latin typeface="Arial"/>
                        </a:rPr>
                        <a:t>Pair</a:t>
                      </a:r>
                    </a:p>
                  </a:txBody>
                  <a:tcPr marL="72000" marR="36000" marT="18000" marB="18000" anchor="ctr">
                    <a:solidFill>
                      <a:srgbClr val="500778"/>
                    </a:solidFill>
                  </a:tcPr>
                </a:tc>
                <a:tc>
                  <a:txBody>
                    <a:bodyPr wrap="square"/>
                    <a:lstStyle/>
                    <a:p>
                      <a:r>
                        <a:rPr sz="1400" b="1">
                          <a:solidFill>
                            <a:srgbClr val="FFFFFF"/>
                          </a:solidFill>
                          <a:latin typeface="Arial"/>
                        </a:rPr>
                        <a:t>Expected</a:t>
                      </a:r>
                    </a:p>
                  </a:txBody>
                  <a:tcPr marL="72000" marR="36000" marT="18000" marB="18000" anchor="ctr">
                    <a:solidFill>
                      <a:srgbClr val="500778"/>
                    </a:solidFill>
                  </a:tcPr>
                </a:tc>
                <a:tc>
                  <a:txBody>
                    <a:bodyPr wrap="square"/>
                    <a:lstStyle/>
                    <a:p>
                      <a:r>
                        <a:rPr sz="1400" b="1">
                          <a:solidFill>
                            <a:srgbClr val="FFFFFF"/>
                          </a:solidFill>
                          <a:latin typeface="Arial"/>
                        </a:rPr>
                        <a:t>Observed</a:t>
                      </a:r>
                    </a:p>
                  </a:txBody>
                  <a:tcPr marL="72000" marR="36000" marT="18000" marB="18000" anchor="ctr">
                    <a:solidFill>
                      <a:srgbClr val="500778"/>
                    </a:solidFill>
                  </a:tcPr>
                </a:tc>
              </a:tr>
              <a:tr h="516000">
                <a:tc>
                  <a:txBody>
                    <a:bodyPr wrap="square"/>
                    <a:lstStyle/>
                    <a:p>
                      <a:r>
                        <a:rPr sz="1400" b="0">
                          <a:solidFill>
                            <a:srgbClr val="2C2C2C"/>
                          </a:solidFill>
                          <a:latin typeface="Arial"/>
                        </a:rPr>
                        <a:t>Positive</a:t>
                      </a:r>
                    </a:p>
                  </a:txBody>
                  <a:tcPr marL="72000" marR="36000" marT="18000" marB="18000" anchor="ctr">
                    <a:solidFill>
                      <a:srgbClr val="FFFFFF"/>
                    </a:solidFill>
                  </a:tcPr>
                </a:tc>
                <a:tc>
                  <a:txBody>
                    <a:bodyPr wrap="square"/>
                    <a:lstStyle/>
                    <a:p>
                      <a:r>
                        <a:rPr sz="1400" b="0">
                          <a:solidFill>
                            <a:srgbClr val="2C2C2C"/>
                          </a:solidFill>
                          <a:latin typeface="Arial"/>
                        </a:rPr>
                        <a:t>KRT8 × KRT18</a:t>
                      </a:r>
                    </a:p>
                  </a:txBody>
                  <a:tcPr marL="72000" marR="36000" marT="18000" marB="18000" anchor="ctr">
                    <a:solidFill>
                      <a:srgbClr val="FFFFFF"/>
                    </a:solidFill>
                  </a:tcPr>
                </a:tc>
                <a:tc>
                  <a:txBody>
                    <a:bodyPr wrap="square"/>
                    <a:lstStyle/>
                    <a:p>
                      <a:r>
                        <a:rPr sz="1400" b="0">
                          <a:solidFill>
                            <a:srgbClr val="2C2C2C"/>
                          </a:solidFill>
                          <a:latin typeface="Arial"/>
                        </a:rPr>
                        <a:t>Above null</a:t>
                      </a:r>
                    </a:p>
                  </a:txBody>
                  <a:tcPr marL="72000" marR="36000" marT="18000" marB="18000" anchor="ctr">
                    <a:solidFill>
                      <a:srgbClr val="FFFFFF"/>
                    </a:solidFill>
                  </a:tcPr>
                </a:tc>
                <a:tc>
                  <a:txBody>
                    <a:bodyPr wrap="square"/>
                    <a:lstStyle/>
                    <a:p>
                      <a:r>
                        <a:rPr sz="1400" b="0">
                          <a:solidFill>
                            <a:srgbClr val="2C2C2C"/>
                          </a:solidFill>
                          <a:latin typeface="Arial"/>
                        </a:rPr>
                        <a:t>SES = −2.18 (top)</a:t>
                      </a:r>
                    </a:p>
                  </a:txBody>
                  <a:tcPr marL="72000" marR="36000" marT="18000" marB="18000" anchor="ctr">
                    <a:solidFill>
                      <a:srgbClr val="FFFFFF"/>
                    </a:solidFill>
                  </a:tcPr>
                </a:tc>
              </a:tr>
              <a:tr h="516000">
                <a:tc>
                  <a:txBody>
                    <a:bodyPr wrap="square"/>
                    <a:lstStyle/>
                    <a:p>
                      <a:r>
                        <a:rPr sz="1400" b="0">
                          <a:solidFill>
                            <a:srgbClr val="2C2C2C"/>
                          </a:solidFill>
                          <a:latin typeface="Arial"/>
                        </a:rPr>
                        <a:t>Negative</a:t>
                      </a:r>
                    </a:p>
                  </a:txBody>
                  <a:tcPr marL="72000" marR="36000" marT="18000" marB="18000" anchor="ctr">
                    <a:solidFill>
                      <a:srgbClr val="F3EEF7"/>
                    </a:solidFill>
                  </a:tcPr>
                </a:tc>
                <a:tc>
                  <a:txBody>
                    <a:bodyPr wrap="square"/>
                    <a:lstStyle/>
                    <a:p>
                      <a:r>
                        <a:rPr sz="1400" b="0">
                          <a:solidFill>
                            <a:srgbClr val="2C2C2C"/>
                          </a:solidFill>
                          <a:latin typeface="Arial"/>
                        </a:rPr>
                        <a:t>MALAT1 × KRT18</a:t>
                      </a:r>
                    </a:p>
                  </a:txBody>
                  <a:tcPr marL="72000" marR="36000" marT="18000" marB="18000" anchor="ctr">
                    <a:solidFill>
                      <a:srgbClr val="F3EEF7"/>
                    </a:solidFill>
                  </a:tcPr>
                </a:tc>
                <a:tc>
                  <a:txBody>
                    <a:bodyPr wrap="square"/>
                    <a:lstStyle/>
                    <a:p>
                      <a:r>
                        <a:rPr sz="1400" b="0">
                          <a:solidFill>
                            <a:srgbClr val="2C2C2C"/>
                          </a:solidFill>
                          <a:latin typeface="Arial"/>
                        </a:rPr>
                        <a:t>Far below</a:t>
                      </a:r>
                    </a:p>
                  </a:txBody>
                  <a:tcPr marL="72000" marR="36000" marT="18000" marB="18000" anchor="ctr">
                    <a:solidFill>
                      <a:srgbClr val="F3EEF7"/>
                    </a:solidFill>
                  </a:tcPr>
                </a:tc>
                <a:tc>
                  <a:txBody>
                    <a:bodyPr wrap="square"/>
                    <a:lstStyle/>
                    <a:p>
                      <a:r>
                        <a:rPr sz="1400" b="0">
                          <a:solidFill>
                            <a:srgbClr val="2C2C2C"/>
                          </a:solidFill>
                          <a:latin typeface="Arial"/>
                        </a:rPr>
                        <a:t>SES = −4.85</a:t>
                      </a:r>
                    </a:p>
                  </a:txBody>
                  <a:tcPr marL="72000" marR="36000" marT="18000" marB="18000" anchor="ctr">
                    <a:solidFill>
                      <a:srgbClr val="F3EEF7"/>
                    </a:solidFill>
                  </a:tcPr>
                </a:tc>
              </a:tr>
            </a:tbl>
          </a:graphicData>
        </a:graphic>
      </p:graphicFrame>
      <p:pic>
        <p:nvPicPr>
          <p:cNvPr id="75" name="Picture 74" descr="13_C_group_ses_distribution.png"/>
          <p:cNvPicPr>
            <a:picLocks noChangeAspect="1"/>
          </p:cNvPicPr>
          <p:nvPr/>
        </p:nvPicPr>
        <p:blipFill>
          <a:blip r:embed="rId11"/>
          <a:stretch>
            <a:fillRect/>
          </a:stretch>
        </p:blipFill>
        <p:spPr>
          <a:xfrm>
            <a:off x="11537999" y="38136800"/>
            <a:ext cx="7200000" cy="3350321"/>
          </a:xfrm>
          <a:prstGeom prst="rect">
            <a:avLst/>
          </a:prstGeom>
        </p:spPr>
      </p:pic>
      <p:sp>
        <p:nvSpPr>
          <p:cNvPr id="76" name="TextBox 75"/>
          <p:cNvSpPr txBox="1"/>
          <p:nvPr/>
        </p:nvSpPr>
        <p:spPr>
          <a:xfrm>
            <a:off x="10728000" y="41559121"/>
            <a:ext cx="8820000" cy="1080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C. </a:t>
            </a:r>
            <a:r>
              <a:rPr sz="1400" b="0" i="0">
                <a:solidFill>
                  <a:srgbClr val="3A3A3A"/>
                </a:solidFill>
                <a:latin typeface="Arial"/>
              </a:rPr>
              <a:t>Method is correctly null for diffuse markers (cytokeratins, housekeeping anchors) and elevated for focal pairs (paracrine, infection, stromal, immune). Bivariate K under this null detects excess spatial co-association beyond marginal density.</a:t>
            </a:r>
          </a:p>
        </p:txBody>
      </p:sp>
      <p:sp>
        <p:nvSpPr>
          <p:cNvPr id="77" name="TextBox 76"/>
          <p:cNvSpPr txBox="1"/>
          <p:nvPr/>
        </p:nvSpPr>
        <p:spPr>
          <a:xfrm>
            <a:off x="20520000" y="4932000"/>
            <a:ext cx="8820000" cy="540000"/>
          </a:xfrm>
          <a:prstGeom prst="rect">
            <a:avLst/>
          </a:prstGeom>
          <a:noFill/>
        </p:spPr>
        <p:txBody>
          <a:bodyPr wrap="square" anchor="t" lIns="36000" rIns="36000" tIns="18000" bIns="18000">
            <a:spAutoFit/>
          </a:bodyPr>
          <a:lstStyle/>
          <a:p>
            <a:pPr algn="l"/>
            <a:r>
              <a:rPr sz="3000" b="1" i="0">
                <a:solidFill>
                  <a:srgbClr val="500778"/>
                </a:solidFill>
                <a:latin typeface="Arial"/>
              </a:rPr>
              <a:t>Results — Infection Biology</a:t>
            </a:r>
          </a:p>
        </p:txBody>
      </p:sp>
      <p:sp>
        <p:nvSpPr>
          <p:cNvPr id="78" name="Rectangle 77"/>
          <p:cNvSpPr/>
          <p:nvPr/>
        </p:nvSpPr>
        <p:spPr>
          <a:xfrm>
            <a:off x="20520000" y="5453999"/>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20520000" y="5543999"/>
            <a:ext cx="8820000" cy="1080000"/>
          </a:xfrm>
          <a:prstGeom prst="roundRect">
            <a:avLst>
              <a:gd name="adj" fmla="val 3000"/>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2176000" y="5615999"/>
            <a:ext cx="7020000" cy="936000"/>
          </a:xfrm>
          <a:prstGeom prst="rect">
            <a:avLst/>
          </a:prstGeom>
          <a:noFill/>
        </p:spPr>
        <p:txBody>
          <a:bodyPr wrap="square" anchor="t" lIns="36000" rIns="36000" tIns="18000" bIns="18000">
            <a:spAutoFit/>
          </a:bodyPr>
          <a:lstStyle/>
          <a:p>
            <a:pPr algn="l">
              <a:lnSpc>
                <a:spcPct val="103000"/>
              </a:lnSpc>
              <a:spcAft>
                <a:spcPts val="200"/>
              </a:spcAft>
            </a:pPr>
            <a:r>
              <a:rPr sz="1650" b="1" i="0">
                <a:solidFill>
                  <a:srgbClr val="FFFFFF"/>
                </a:solidFill>
                <a:latin typeface="Arial"/>
              </a:rPr>
              <a:t>Immune cell-communication pairs preferentially co-localise on infected tissue — recovered with no segmentation step.</a:t>
            </a:r>
          </a:p>
          <a:p>
            <a:pPr algn="l"/>
            <a:r>
              <a:rPr sz="1300" b="0" i="0">
                <a:solidFill>
                  <a:srgbClr val="C9A8D4"/>
                </a:solidFill>
                <a:latin typeface="Arial"/>
              </a:rPr>
              <a:t>Controls separate by </a:t>
            </a:r>
            <a:r>
              <a:rPr sz="1300" b="1" i="0">
                <a:solidFill>
                  <a:srgbClr val="FFFFFF"/>
                </a:solidFill>
                <a:latin typeface="Arial"/>
              </a:rPr>
              <a:t>+2.67 envelope half-widths</a:t>
            </a:r>
            <a:r>
              <a:rPr sz="1300" b="0" i="0">
                <a:solidFill>
                  <a:srgbClr val="C9A8D4"/>
                </a:solidFill>
                <a:latin typeface="Arial"/>
              </a:rPr>
              <a:t>.</a:t>
            </a:r>
          </a:p>
        </p:txBody>
      </p:sp>
      <p:sp>
        <p:nvSpPr>
          <p:cNvPr id="81" name="TextBox 80"/>
          <p:cNvSpPr txBox="1"/>
          <p:nvPr/>
        </p:nvSpPr>
        <p:spPr>
          <a:xfrm>
            <a:off x="20592000" y="5598000"/>
            <a:ext cx="1512000" cy="972000"/>
          </a:xfrm>
          <a:prstGeom prst="rect">
            <a:avLst/>
          </a:prstGeom>
          <a:noFill/>
        </p:spPr>
        <p:txBody>
          <a:bodyPr wrap="square" anchor="t" lIns="36000" rIns="36000" tIns="18000" bIns="18000">
            <a:spAutoFit/>
          </a:bodyPr>
          <a:lstStyle/>
          <a:p>
            <a:pPr algn="ctr">
              <a:lnSpc>
                <a:spcPct val="90000"/>
              </a:lnSpc>
              <a:spcAft>
                <a:spcPts val="0"/>
              </a:spcAft>
            </a:pPr>
            <a:r>
              <a:rPr sz="4000" b="1" i="0">
                <a:solidFill>
                  <a:srgbClr val="FFFFFF"/>
                </a:solidFill>
                <a:latin typeface="Arial"/>
              </a:rPr>
              <a:t>5/6</a:t>
            </a:r>
          </a:p>
          <a:p>
            <a:pPr algn="ctr">
              <a:lnSpc>
                <a:spcPct val="95000"/>
              </a:lnSpc>
            </a:pPr>
            <a:r>
              <a:rPr sz="950" b="0" i="0">
                <a:solidFill>
                  <a:srgbClr val="C9A8D4"/>
                </a:solidFill>
                <a:latin typeface="Arial"/>
              </a:rPr>
              <a:t>immune pairs
positive on the
infected strip</a:t>
            </a:r>
          </a:p>
        </p:txBody>
      </p:sp>
      <p:sp>
        <p:nvSpPr>
          <p:cNvPr id="82" name="TextBox 81"/>
          <p:cNvSpPr txBox="1"/>
          <p:nvPr/>
        </p:nvSpPr>
        <p:spPr>
          <a:xfrm>
            <a:off x="20520000" y="6750000"/>
            <a:ext cx="8820000" cy="1080000"/>
          </a:xfrm>
          <a:prstGeom prst="rect">
            <a:avLst/>
          </a:prstGeom>
          <a:noFill/>
        </p:spPr>
        <p:txBody>
          <a:bodyPr wrap="square" anchor="t" lIns="36000" rIns="36000" tIns="18000" bIns="18000">
            <a:spAutoFit/>
          </a:bodyPr>
          <a:lstStyle/>
          <a:p>
            <a:pPr algn="l">
              <a:lnSpc>
                <a:spcPct val="104000"/>
              </a:lnSpc>
              <a:spcAft>
                <a:spcPts val="400"/>
              </a:spcAft>
            </a:pPr>
            <a:r>
              <a:rPr sz="1550" b="0" i="0">
                <a:solidFill>
                  <a:srgbClr val="2C2C2C"/>
                </a:solidFill>
                <a:latin typeface="Arial"/>
              </a:rPr>
              <a:t>Antigen presentation, T-cell recruitment and antiviral monocyte signalling all preferentially co-localise on the infected strip.</a:t>
            </a:r>
          </a:p>
          <a:p>
            <a:pPr algn="l"/>
            <a:r>
              <a:rPr sz="1300" b="0" i="1">
                <a:solidFill>
                  <a:srgbClr val="9A7AAE"/>
                </a:solidFill>
                <a:latin typeface="Arial"/>
              </a:rPr>
              <a:t>[ FILL: confirm headline wording + the take-home you want them to leave with. ]</a:t>
            </a:r>
          </a:p>
        </p:txBody>
      </p:sp>
      <p:sp>
        <p:nvSpPr>
          <p:cNvPr id="83" name="TextBox 82"/>
          <p:cNvSpPr txBox="1"/>
          <p:nvPr/>
        </p:nvSpPr>
        <p:spPr>
          <a:xfrm>
            <a:off x="20520000" y="7902000"/>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Infection signalling boost</a:t>
            </a:r>
          </a:p>
        </p:txBody>
      </p:sp>
      <p:pic>
        <p:nvPicPr>
          <p:cNvPr id="84" name="Picture 83" descr="13_F_infection_signature.png"/>
          <p:cNvPicPr>
            <a:picLocks noChangeAspect="1"/>
          </p:cNvPicPr>
          <p:nvPr/>
        </p:nvPicPr>
        <p:blipFill>
          <a:blip r:embed="rId12"/>
          <a:stretch>
            <a:fillRect/>
          </a:stretch>
        </p:blipFill>
        <p:spPr>
          <a:xfrm>
            <a:off x="20520000" y="8315999"/>
            <a:ext cx="8820000" cy="5494315"/>
          </a:xfrm>
          <a:prstGeom prst="rect">
            <a:avLst/>
          </a:prstGeom>
        </p:spPr>
      </p:pic>
      <p:sp>
        <p:nvSpPr>
          <p:cNvPr id="85" name="TextBox 84"/>
          <p:cNvSpPr txBox="1"/>
          <p:nvPr/>
        </p:nvSpPr>
        <p:spPr>
          <a:xfrm>
            <a:off x="20520000" y="13882315"/>
            <a:ext cx="8820000" cy="2592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F. </a:t>
            </a:r>
            <a:r>
              <a:rPr sz="1400" b="0" i="0">
                <a:solidFill>
                  <a:srgbClr val="3A3A3A"/>
                </a:solidFill>
                <a:latin typeface="Arial"/>
              </a:rPr>
              <a:t>Per-pair Strip-2 boost for the surviving infection-response (G7) pairs. Immune cell-communication pairs are positive (5/6): antigen presentation onto T cells (HLA-DRA×CD3D, +0.74), chemokine T-cell recruitment (CXCL10×CD3D, +0.59), macrophage antigen presentation (HLA-DRA×CD68, +0.32). A paradoxical second finding only a segmentation-free method can surface: antiviral×epithelial pairs (ISG15×KRT8, MX1×KRT5) move off infected tissue, consistent with epithelial loss redistributing antiviral activity into immune cells.</a:t>
            </a:r>
          </a:p>
        </p:txBody>
      </p:sp>
      <p:sp>
        <p:nvSpPr>
          <p:cNvPr id="86" name="TextBox 85"/>
          <p:cNvSpPr txBox="1"/>
          <p:nvPr/>
        </p:nvSpPr>
        <p:spPr>
          <a:xfrm>
            <a:off x="20520000" y="16600315"/>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Co-localisation networks</a:t>
            </a:r>
          </a:p>
        </p:txBody>
      </p:sp>
      <p:pic>
        <p:nvPicPr>
          <p:cNvPr id="87" name="Picture 86" descr="13_G_network.png"/>
          <p:cNvPicPr>
            <a:picLocks noChangeAspect="1"/>
          </p:cNvPicPr>
          <p:nvPr/>
        </p:nvPicPr>
        <p:blipFill>
          <a:blip r:embed="rId13"/>
          <a:stretch>
            <a:fillRect/>
          </a:stretch>
        </p:blipFill>
        <p:spPr>
          <a:xfrm>
            <a:off x="20520000" y="17014315"/>
            <a:ext cx="8820000" cy="3381568"/>
          </a:xfrm>
          <a:prstGeom prst="rect">
            <a:avLst/>
          </a:prstGeom>
        </p:spPr>
      </p:pic>
      <p:sp>
        <p:nvSpPr>
          <p:cNvPr id="88" name="TextBox 87"/>
          <p:cNvSpPr txBox="1"/>
          <p:nvPr/>
        </p:nvSpPr>
        <p:spPr>
          <a:xfrm>
            <a:off x="20520000" y="20467882"/>
            <a:ext cx="8820000" cy="158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G. </a:t>
            </a:r>
            <a:r>
              <a:rPr sz="1400" b="0" i="0">
                <a:solidFill>
                  <a:srgbClr val="3A3A3A"/>
                </a:solidFill>
                <a:latin typeface="Arial"/>
              </a:rPr>
              <a:t>Top-50 spatial co-association edges per strip with Louvain community detection. Communities are spatial signalling modules — interferon response, chemokine signalling, stromal ECM — recovered without any cell segmentation. Strip 2 (infected) carries more and larger modules than the controls.</a:t>
            </a:r>
          </a:p>
        </p:txBody>
      </p:sp>
      <p:sp>
        <p:nvSpPr>
          <p:cNvPr id="89" name="TextBox 88"/>
          <p:cNvSpPr txBox="1"/>
          <p:nvPr/>
        </p:nvSpPr>
        <p:spPr>
          <a:xfrm>
            <a:off x="20520000" y="22177882"/>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Spatial signatures (UMAP)</a:t>
            </a:r>
          </a:p>
        </p:txBody>
      </p:sp>
      <p:pic>
        <p:nvPicPr>
          <p:cNvPr id="90" name="Picture 89" descr="13_H_umap.png"/>
          <p:cNvPicPr>
            <a:picLocks noChangeAspect="1"/>
          </p:cNvPicPr>
          <p:nvPr/>
        </p:nvPicPr>
        <p:blipFill>
          <a:blip r:embed="rId14"/>
          <a:stretch>
            <a:fillRect/>
          </a:stretch>
        </p:blipFill>
        <p:spPr>
          <a:xfrm>
            <a:off x="21600000" y="22591882"/>
            <a:ext cx="6660000" cy="5897290"/>
          </a:xfrm>
          <a:prstGeom prst="rect">
            <a:avLst/>
          </a:prstGeom>
        </p:spPr>
      </p:pic>
      <p:sp>
        <p:nvSpPr>
          <p:cNvPr id="91" name="TextBox 90"/>
          <p:cNvSpPr txBox="1"/>
          <p:nvPr/>
        </p:nvSpPr>
        <p:spPr>
          <a:xfrm>
            <a:off x="20520000" y="28561173"/>
            <a:ext cx="8820000" cy="158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H. </a:t>
            </a:r>
            <a:r>
              <a:rPr sz="1400" b="0" i="0">
                <a:solidFill>
                  <a:srgbClr val="3A3A3A"/>
                </a:solidFill>
                <a:latin typeface="Arial"/>
              </a:rPr>
              <a:t>Each (pair, strip) treated as a 50-dim L(r) curve-shape vector, embedded with UMAP. Stromal, immune and infection-response pairs occupy distinct regions — the method recovers biological grouping as soft visual structure from raw transcripts alone.</a:t>
            </a:r>
          </a:p>
        </p:txBody>
      </p:sp>
      <p:sp>
        <p:nvSpPr>
          <p:cNvPr id="92" name="Rectangle 91"/>
          <p:cNvSpPr/>
          <p:nvPr/>
        </p:nvSpPr>
        <p:spPr>
          <a:xfrm>
            <a:off x="0" y="36360000"/>
            <a:ext cx="30275999" cy="56160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0" y="36360000"/>
            <a:ext cx="30275999" cy="43200"/>
          </a:xfrm>
          <a:prstGeom prst="rect">
            <a:avLst/>
          </a:prstGeom>
          <a:solidFill>
            <a:srgbClr val="C9A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20000" y="36540000"/>
            <a:ext cx="11160000" cy="324000"/>
          </a:xfrm>
          <a:prstGeom prst="rect">
            <a:avLst/>
          </a:prstGeom>
          <a:noFill/>
        </p:spPr>
        <p:txBody>
          <a:bodyPr wrap="square" anchor="t" lIns="36000" rIns="36000" tIns="18000" bIns="18000">
            <a:spAutoFit/>
          </a:bodyPr>
          <a:lstStyle/>
          <a:p>
            <a:pPr algn="l"/>
            <a:r>
              <a:rPr sz="2200" b="1" i="0">
                <a:solidFill>
                  <a:srgbClr val="FFFFFF"/>
                </a:solidFill>
                <a:latin typeface="Arial"/>
              </a:rPr>
              <a:t>Conclusions &amp; Next Steps</a:t>
            </a:r>
          </a:p>
        </p:txBody>
      </p:sp>
      <p:sp>
        <p:nvSpPr>
          <p:cNvPr id="95" name="TextBox 94"/>
          <p:cNvSpPr txBox="1"/>
          <p:nvPr/>
        </p:nvSpPr>
        <p:spPr>
          <a:xfrm>
            <a:off x="720000" y="36936000"/>
            <a:ext cx="11160000" cy="3240000"/>
          </a:xfrm>
          <a:prstGeom prst="rect">
            <a:avLst/>
          </a:prstGeom>
          <a:noFill/>
        </p:spPr>
        <p:txBody>
          <a:bodyPr wrap="square" anchor="t" lIns="36000" rIns="36000" tIns="18000" bIns="18000">
            <a:spAutoFit/>
          </a:bodyPr>
          <a:lstStyle/>
          <a:p>
            <a:pPr algn="l" indent="-228600" marL="228600">
              <a:lnSpc>
                <a:spcPct val="102000"/>
              </a:lnSpc>
              <a:spcAft>
                <a:spcPts val="400"/>
              </a:spcAft>
              <a:buFont typeface="Arial"/>
              <a:buChar char="•"/>
            </a:pPr>
            <a:r>
              <a:rPr sz="1450" b="0" i="0">
                <a:solidFill>
                  <a:srgbClr val="FFFFFF"/>
                </a:solidFill>
                <a:latin typeface="Arial"/>
              </a:rPr>
              <a:t>Bivariate Ripley's K on raw transcript point clouds detects L–R co-localisation with no cell segmentation step.</a:t>
            </a:r>
          </a:p>
          <a:p>
            <a:pPr algn="l" indent="-228600" marL="228600">
              <a:lnSpc>
                <a:spcPct val="102000"/>
              </a:lnSpc>
              <a:spcAft>
                <a:spcPts val="400"/>
              </a:spcAft>
              <a:buFont typeface="Arial"/>
              <a:buChar char="•"/>
            </a:pPr>
            <a:r>
              <a:rPr sz="1450" b="0" i="0">
                <a:solidFill>
                  <a:srgbClr val="FFFFFF"/>
                </a:solidFill>
                <a:latin typeface="Arial"/>
              </a:rPr>
              <a:t>Discriminates positive from negative controls by effect size (separation = +2.67 envelope half-widths under the production window).</a:t>
            </a:r>
          </a:p>
          <a:p>
            <a:pPr algn="l" indent="-228600" marL="228600">
              <a:lnSpc>
                <a:spcPct val="102000"/>
              </a:lnSpc>
              <a:spcAft>
                <a:spcPts val="900"/>
              </a:spcAft>
              <a:buFont typeface="Arial"/>
              <a:buChar char="•"/>
            </a:pPr>
            <a:r>
              <a:rPr sz="1450" b="0" i="0">
                <a:solidFill>
                  <a:srgbClr val="FFFFFF"/>
                </a:solidFill>
                <a:latin typeface="Arial"/>
              </a:rPr>
              <a:t>Fills a vacant niche: Bento, Squidpy, CellChat, LIANA all require segmentation — NoSegs does not.</a:t>
            </a:r>
          </a:p>
          <a:p>
            <a:pPr algn="l">
              <a:lnSpc>
                <a:spcPct val="102000"/>
              </a:lnSpc>
            </a:pPr>
            <a:r>
              <a:rPr sz="1450" b="1" i="0">
                <a:solidFill>
                  <a:srgbClr val="C9A8D4"/>
                </a:solidFill>
                <a:latin typeface="Arial"/>
              </a:rPr>
              <a:t>Next: </a:t>
            </a:r>
            <a:r>
              <a:rPr sz="1450" b="0" i="0">
                <a:solidFill>
                  <a:srgbClr val="FFFFFF"/>
                </a:solidFill>
                <a:latin typeface="Arial"/>
              </a:rPr>
              <a:t>extended cytokeratin/housekeeping anchor panel; marker-gene pseudo-segmentation for cell-type stratification; benchmark vs Squidpy gr.ripley on cell-level reductions.</a:t>
            </a:r>
          </a:p>
        </p:txBody>
      </p:sp>
      <p:sp>
        <p:nvSpPr>
          <p:cNvPr id="96" name="TextBox 95"/>
          <p:cNvSpPr txBox="1"/>
          <p:nvPr/>
        </p:nvSpPr>
        <p:spPr>
          <a:xfrm>
            <a:off x="12780000" y="36540000"/>
            <a:ext cx="10800000" cy="324000"/>
          </a:xfrm>
          <a:prstGeom prst="rect">
            <a:avLst/>
          </a:prstGeom>
          <a:noFill/>
        </p:spPr>
        <p:txBody>
          <a:bodyPr wrap="square" anchor="t" lIns="36000" rIns="36000" tIns="18000" bIns="18000">
            <a:spAutoFit/>
          </a:bodyPr>
          <a:lstStyle/>
          <a:p>
            <a:pPr algn="l"/>
            <a:r>
              <a:rPr sz="2200" b="1" i="0">
                <a:solidFill>
                  <a:srgbClr val="FFFFFF"/>
                </a:solidFill>
                <a:latin typeface="Arial"/>
              </a:rPr>
              <a:t>Key References</a:t>
            </a:r>
          </a:p>
        </p:txBody>
      </p:sp>
      <p:sp>
        <p:nvSpPr>
          <p:cNvPr id="97" name="TextBox 96"/>
          <p:cNvSpPr txBox="1"/>
          <p:nvPr/>
        </p:nvSpPr>
        <p:spPr>
          <a:xfrm>
            <a:off x="12780000" y="36936000"/>
            <a:ext cx="10800000" cy="3240000"/>
          </a:xfrm>
          <a:prstGeom prst="rect">
            <a:avLst/>
          </a:prstGeom>
          <a:noFill/>
        </p:spPr>
        <p:txBody>
          <a:bodyPr wrap="square" anchor="t" lIns="36000" rIns="36000" tIns="18000" bIns="18000">
            <a:spAutoFit/>
          </a:bodyPr>
          <a:lstStyle/>
          <a:p>
            <a:pPr algn="l">
              <a:lnSpc>
                <a:spcPct val="102000"/>
              </a:lnSpc>
              <a:spcAft>
                <a:spcPts val="400"/>
              </a:spcAft>
            </a:pPr>
            <a:r>
              <a:rPr sz="1300" b="1" i="0">
                <a:solidFill>
                  <a:srgbClr val="C9A8D4"/>
                </a:solidFill>
                <a:latin typeface="Arial"/>
              </a:rPr>
              <a:t>1. </a:t>
            </a:r>
            <a:r>
              <a:rPr sz="1300" b="0" i="0">
                <a:solidFill>
                  <a:srgbClr val="FFFFFF"/>
                </a:solidFill>
                <a:latin typeface="Arial"/>
              </a:rPr>
              <a:t>Ripley BD (1976) J. Appl. Prob. 13:255–266 — the K-function.</a:t>
            </a:r>
          </a:p>
          <a:p>
            <a:pPr algn="l">
              <a:lnSpc>
                <a:spcPct val="102000"/>
              </a:lnSpc>
              <a:spcAft>
                <a:spcPts val="400"/>
              </a:spcAft>
            </a:pPr>
            <a:r>
              <a:rPr sz="1300" b="1" i="0">
                <a:solidFill>
                  <a:srgbClr val="C9A8D4"/>
                </a:solidFill>
                <a:latin typeface="Arial"/>
              </a:rPr>
              <a:t>2. </a:t>
            </a:r>
            <a:r>
              <a:rPr sz="1300" b="0" i="0">
                <a:solidFill>
                  <a:srgbClr val="FFFFFF"/>
                </a:solidFill>
                <a:latin typeface="Arial"/>
              </a:rPr>
              <a:t>Baddeley A, Rubak E, Turner R (2015) Spatial Point Patterns. CRC Press.</a:t>
            </a:r>
          </a:p>
          <a:p>
            <a:pPr algn="l">
              <a:lnSpc>
                <a:spcPct val="102000"/>
              </a:lnSpc>
              <a:spcAft>
                <a:spcPts val="400"/>
              </a:spcAft>
            </a:pPr>
            <a:r>
              <a:rPr sz="1300" b="1" i="0">
                <a:solidFill>
                  <a:srgbClr val="C9A8D4"/>
                </a:solidFill>
                <a:latin typeface="Arial"/>
              </a:rPr>
              <a:t>3. </a:t>
            </a:r>
            <a:r>
              <a:rPr sz="1300" b="0" i="0">
                <a:solidFill>
                  <a:srgbClr val="FFFFFF"/>
                </a:solidFill>
                <a:latin typeface="Arial"/>
              </a:rPr>
              <a:t>Mah CK et al. (2024) Genome Biology 25:82 — Bento.</a:t>
            </a:r>
          </a:p>
          <a:p>
            <a:pPr algn="l">
              <a:lnSpc>
                <a:spcPct val="102000"/>
              </a:lnSpc>
              <a:spcAft>
                <a:spcPts val="400"/>
              </a:spcAft>
            </a:pPr>
            <a:r>
              <a:rPr sz="1300" b="1" i="0">
                <a:solidFill>
                  <a:srgbClr val="C9A8D4"/>
                </a:solidFill>
                <a:latin typeface="Arial"/>
              </a:rPr>
              <a:t>4. </a:t>
            </a:r>
            <a:r>
              <a:rPr sz="1300" b="0" i="0">
                <a:solidFill>
                  <a:srgbClr val="FFFFFF"/>
                </a:solidFill>
                <a:latin typeface="Arial"/>
              </a:rPr>
              <a:t>Palla G et al. (2022) Nature Methods 19:171–178 — Squidpy.</a:t>
            </a:r>
          </a:p>
          <a:p>
            <a:pPr algn="l">
              <a:lnSpc>
                <a:spcPct val="102000"/>
              </a:lnSpc>
              <a:spcAft>
                <a:spcPts val="400"/>
              </a:spcAft>
            </a:pPr>
            <a:r>
              <a:rPr sz="1300" b="1" i="0">
                <a:solidFill>
                  <a:srgbClr val="C9A8D4"/>
                </a:solidFill>
                <a:latin typeface="Arial"/>
              </a:rPr>
              <a:t>5. </a:t>
            </a:r>
            <a:r>
              <a:rPr sz="1300" b="0" i="0">
                <a:solidFill>
                  <a:srgbClr val="FFFFFF"/>
                </a:solidFill>
                <a:latin typeface="Arial"/>
              </a:rPr>
              <a:t>Myllymäki M et al. (2017) J. R. Stat. Soc. B 79:381–404 — rank envelope test.</a:t>
            </a:r>
          </a:p>
          <a:p>
            <a:pPr algn="l"/>
            <a:r>
              <a:rPr sz="1300" b="0" i="1">
                <a:solidFill>
                  <a:srgbClr val="9A7AAE"/>
                </a:solidFill>
                <a:latin typeface="Arial"/>
              </a:rPr>
              <a:t>[ FILL: confirm citations / add a 6th if room. ]</a:t>
            </a:r>
          </a:p>
        </p:txBody>
      </p:sp>
      <p:sp>
        <p:nvSpPr>
          <p:cNvPr id="98" name="TextBox 97"/>
          <p:cNvSpPr txBox="1"/>
          <p:nvPr/>
        </p:nvSpPr>
        <p:spPr>
          <a:xfrm>
            <a:off x="24120000" y="36540000"/>
            <a:ext cx="4860000" cy="324000"/>
          </a:xfrm>
          <a:prstGeom prst="rect">
            <a:avLst/>
          </a:prstGeom>
          <a:noFill/>
        </p:spPr>
        <p:txBody>
          <a:bodyPr wrap="square" anchor="t" lIns="36000" rIns="36000" tIns="18000" bIns="18000">
            <a:spAutoFit/>
          </a:bodyPr>
          <a:lstStyle/>
          <a:p>
            <a:pPr algn="l"/>
            <a:r>
              <a:rPr sz="2200" b="1" i="0">
                <a:solidFill>
                  <a:srgbClr val="FFFFFF"/>
                </a:solidFill>
                <a:latin typeface="Arial"/>
              </a:rPr>
              <a:t>Acknowledgements</a:t>
            </a:r>
          </a:p>
        </p:txBody>
      </p:sp>
      <p:sp>
        <p:nvSpPr>
          <p:cNvPr id="99" name="TextBox 98"/>
          <p:cNvSpPr txBox="1"/>
          <p:nvPr/>
        </p:nvSpPr>
        <p:spPr>
          <a:xfrm>
            <a:off x="24120000" y="36936000"/>
            <a:ext cx="4680000" cy="2700000"/>
          </a:xfrm>
          <a:prstGeom prst="rect">
            <a:avLst/>
          </a:prstGeom>
          <a:noFill/>
        </p:spPr>
        <p:txBody>
          <a:bodyPr wrap="square" anchor="t" lIns="36000" rIns="36000" tIns="18000" bIns="18000">
            <a:spAutoFit/>
          </a:bodyPr>
          <a:lstStyle/>
          <a:p>
            <a:pPr algn="l">
              <a:lnSpc>
                <a:spcPct val="104000"/>
              </a:lnSpc>
              <a:spcAft>
                <a:spcPts val="600"/>
              </a:spcAft>
            </a:pPr>
            <a:r>
              <a:rPr sz="1300" b="0" i="0">
                <a:solidFill>
                  <a:srgbClr val="FFFFFF"/>
                </a:solidFill>
                <a:latin typeface="Arial"/>
              </a:rPr>
              <a:t>Dataset and HPC compute courtesy of King's College London (CREATE HPC, msc_appbio). RSV samples via [TBD]. CellChatDB via Jin et al. 2021. Supervised by Dr Dan Nicolau, Nicolau Lab.</a:t>
            </a:r>
          </a:p>
          <a:p>
            <a:pPr algn="l"/>
            <a:r>
              <a:rPr sz="1300" b="0" i="1">
                <a:solidFill>
                  <a:srgbClr val="9A7AAE"/>
                </a:solidFill>
                <a:latin typeface="Arial"/>
              </a:rPr>
              <a:t>[ FILL: dataset PI / funder attribution. ]</a:t>
            </a:r>
          </a:p>
        </p:txBody>
      </p:sp>
      <p:pic>
        <p:nvPicPr>
          <p:cNvPr id="100" name="Picture 99" descr="pic_50.png"/>
          <p:cNvPicPr>
            <a:picLocks noChangeAspect="1"/>
          </p:cNvPicPr>
          <p:nvPr/>
        </p:nvPicPr>
        <p:blipFill>
          <a:blip r:embed="rId15"/>
          <a:stretch>
            <a:fillRect/>
          </a:stretch>
        </p:blipFill>
        <p:spPr>
          <a:xfrm>
            <a:off x="27575999" y="39816000"/>
            <a:ext cx="1944000" cy="1944000"/>
          </a:xfrm>
          <a:prstGeom prst="rect">
            <a:avLst/>
          </a:prstGeom>
        </p:spPr>
      </p:pic>
      <p:sp>
        <p:nvSpPr>
          <p:cNvPr id="101" name="Rectangle 100"/>
          <p:cNvSpPr/>
          <p:nvPr/>
        </p:nvSpPr>
        <p:spPr>
          <a:xfrm>
            <a:off x="0" y="42084000"/>
            <a:ext cx="30275999" cy="720000"/>
          </a:xfrm>
          <a:prstGeom prst="rect">
            <a:avLst/>
          </a:prstGeom>
          <a:solidFill>
            <a:srgbClr val="3A0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20000" y="42174000"/>
            <a:ext cx="28800000" cy="503999"/>
          </a:xfrm>
          <a:prstGeom prst="rect">
            <a:avLst/>
          </a:prstGeom>
          <a:noFill/>
        </p:spPr>
        <p:txBody>
          <a:bodyPr wrap="square" anchor="t" lIns="36000" rIns="36000" tIns="18000" bIns="18000">
            <a:spAutoFit/>
          </a:bodyPr>
          <a:lstStyle/>
          <a:p>
            <a:pPr algn="ctr"/>
            <a:r>
              <a:rPr sz="1400" b="0" i="0">
                <a:solidFill>
                  <a:srgbClr val="C9A8D4"/>
                </a:solidFill>
                <a:latin typeface="Arial"/>
              </a:rPr>
              <a:t>github.com/harrydaw/cosmx-pointpattern    ·    harrywoodward99@gmail.com    ·    MSc Bioinformatics — King's College London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