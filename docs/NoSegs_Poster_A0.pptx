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" d="100"/>
          <a:sy n="12" d="100"/>
        </p:scale>
        <p:origin x="271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3FFD9-BD92-4A59-AAF9-81A3E0EAE931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89D7D-C260-43D3-AA82-998E2CAB16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623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89D7D-C260-43D3-AA82-998E2CAB168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3810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275999" cy="4464000"/>
          </a:xfrm>
          <a:prstGeom prst="rect">
            <a:avLst/>
          </a:prstGeom>
          <a:solidFill>
            <a:srgbClr val="500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360000"/>
            <a:ext cx="24906646" cy="187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 dirty="0" err="1">
                <a:solidFill>
                  <a:srgbClr val="FFFFFF"/>
                </a:solidFill>
                <a:latin typeface="Arial"/>
              </a:rPr>
              <a:t>NoSegs</a:t>
            </a:r>
            <a:r>
              <a:rPr sz="5800" b="1" i="0" dirty="0">
                <a:solidFill>
                  <a:srgbClr val="FFFFFF"/>
                </a:solidFill>
                <a:latin typeface="Arial"/>
              </a:rPr>
              <a:t>: Segmentation-Free Ligand</a:t>
            </a:r>
            <a:r>
              <a:rPr lang="en-GB" sz="5800" b="1" i="0" dirty="0">
                <a:solidFill>
                  <a:srgbClr val="FFFFFF"/>
                </a:solidFill>
                <a:latin typeface="Arial"/>
              </a:rPr>
              <a:t>-</a:t>
            </a:r>
            <a:r>
              <a:rPr sz="5800" b="1" i="0" dirty="0">
                <a:solidFill>
                  <a:srgbClr val="FFFFFF"/>
                </a:solidFill>
                <a:latin typeface="Arial"/>
              </a:rPr>
              <a:t>Receptor Co-</a:t>
            </a:r>
            <a:r>
              <a:rPr sz="5800" b="1" i="0" dirty="0" err="1">
                <a:solidFill>
                  <a:srgbClr val="FFFFFF"/>
                </a:solidFill>
                <a:latin typeface="Arial"/>
              </a:rPr>
              <a:t>Localisation</a:t>
            </a:r>
            <a:r>
              <a:rPr sz="5800" b="1" i="0" dirty="0">
                <a:solidFill>
                  <a:srgbClr val="FFFFFF"/>
                </a:solidFill>
                <a:latin typeface="Arial"/>
              </a:rPr>
              <a:t> in Spatial Transcriptomics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25920000" cy="436461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600" b="0" i="1" dirty="0">
                <a:solidFill>
                  <a:srgbClr val="C9A8D4"/>
                </a:solidFill>
                <a:latin typeface="Arial"/>
              </a:rPr>
              <a:t>Bivariate point-pattern statistics on raw transcripts </a:t>
            </a:r>
            <a:r>
              <a:rPr lang="en-GB" sz="2600" b="0" i="1" dirty="0">
                <a:solidFill>
                  <a:srgbClr val="C9A8D4"/>
                </a:solidFill>
                <a:latin typeface="Arial"/>
              </a:rPr>
              <a:t>|</a:t>
            </a:r>
            <a:r>
              <a:rPr sz="2600" b="0" i="1" dirty="0">
                <a:solidFill>
                  <a:srgbClr val="C9A8D4"/>
                </a:solidFill>
                <a:latin typeface="Arial"/>
              </a:rPr>
              <a:t> </a:t>
            </a:r>
            <a:r>
              <a:rPr lang="en-GB" sz="2600" i="1" dirty="0">
                <a:solidFill>
                  <a:srgbClr val="C9A8D4"/>
                </a:solidFill>
                <a:latin typeface="Arial"/>
              </a:rPr>
              <a:t>N</a:t>
            </a:r>
            <a:r>
              <a:rPr sz="2600" b="0" i="1" dirty="0">
                <a:solidFill>
                  <a:srgbClr val="C9A8D4"/>
                </a:solidFill>
                <a:latin typeface="Arial"/>
              </a:rPr>
              <a:t>o cells, no clusters, no segmentation.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060000"/>
            <a:ext cx="27360000" cy="374906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0" i="0" dirty="0">
                <a:solidFill>
                  <a:srgbClr val="FFFFFF"/>
                </a:solidFill>
                <a:latin typeface="Arial"/>
              </a:rPr>
              <a:t>Harry Woodward   </a:t>
            </a:r>
            <a:r>
              <a:rPr lang="en-GB" sz="2200" b="0" i="0" dirty="0">
                <a:solidFill>
                  <a:srgbClr val="FFFFFF"/>
                </a:solidFill>
                <a:latin typeface="Arial"/>
              </a:rPr>
              <a:t>|</a:t>
            </a:r>
            <a:r>
              <a:rPr sz="2200" b="0" i="0" dirty="0">
                <a:solidFill>
                  <a:srgbClr val="FFFFFF"/>
                </a:solidFill>
                <a:latin typeface="Arial"/>
              </a:rPr>
              <a:t>   Supervisor: Dr Dan Nicolau, Nicolau Lab   </a:t>
            </a:r>
            <a:r>
              <a:rPr lang="en-GB" sz="2200" b="0" i="0" dirty="0">
                <a:solidFill>
                  <a:srgbClr val="FFFFFF"/>
                </a:solidFill>
                <a:latin typeface="Arial"/>
              </a:rPr>
              <a:t>|</a:t>
            </a:r>
            <a:r>
              <a:rPr sz="2200" b="0" i="0" dirty="0">
                <a:solidFill>
                  <a:srgbClr val="FFFFFF"/>
                </a:solidFill>
                <a:latin typeface="Arial"/>
              </a:rPr>
              <a:t>   MSc Bioinformatics, King's College London   </a:t>
            </a:r>
            <a:r>
              <a:rPr lang="en-GB" sz="2200" b="0" i="0" dirty="0">
                <a:solidFill>
                  <a:srgbClr val="FFFFFF"/>
                </a:solidFill>
                <a:latin typeface="Arial"/>
              </a:rPr>
              <a:t>|</a:t>
            </a:r>
            <a:r>
              <a:rPr sz="2200" b="0" i="0" dirty="0">
                <a:solidFill>
                  <a:srgbClr val="FFFFFF"/>
                </a:solidFill>
                <a:latin typeface="Arial"/>
              </a:rPr>
              <a:t> 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3600000"/>
            <a:ext cx="27360000" cy="31335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0" i="0" dirty="0">
                <a:solidFill>
                  <a:srgbClr val="C9A8D4"/>
                </a:solidFill>
                <a:latin typeface="Arial"/>
              </a:rPr>
              <a:t>Platform: </a:t>
            </a:r>
            <a:r>
              <a:rPr sz="1800" b="0" i="0" dirty="0" err="1">
                <a:solidFill>
                  <a:srgbClr val="C9A8D4"/>
                </a:solidFill>
                <a:latin typeface="Arial"/>
              </a:rPr>
              <a:t>NanoString</a:t>
            </a:r>
            <a:r>
              <a:rPr sz="1800" b="0" i="0" dirty="0">
                <a:solidFill>
                  <a:srgbClr val="C9A8D4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C9A8D4"/>
                </a:solidFill>
                <a:latin typeface="Arial"/>
              </a:rPr>
              <a:t>CosMx</a:t>
            </a:r>
            <a:r>
              <a:rPr sz="1800" b="0" i="0" dirty="0">
                <a:solidFill>
                  <a:srgbClr val="C9A8D4"/>
                </a:solidFill>
                <a:latin typeface="Arial"/>
              </a:rPr>
              <a:t> SMI    </a:t>
            </a:r>
            <a:r>
              <a:rPr lang="en-GB" sz="1800" b="0" i="0" dirty="0">
                <a:solidFill>
                  <a:srgbClr val="C9A8D4"/>
                </a:solidFill>
                <a:latin typeface="Arial"/>
              </a:rPr>
              <a:t>|</a:t>
            </a:r>
            <a:r>
              <a:rPr sz="1800" b="0" i="0" dirty="0">
                <a:solidFill>
                  <a:srgbClr val="C9A8D4"/>
                </a:solidFill>
                <a:latin typeface="Arial"/>
              </a:rPr>
              <a:t>    Tissue: severe asthmatic, RSV-infected human lung    </a:t>
            </a:r>
            <a:r>
              <a:rPr lang="en-GB" sz="1800" b="0" i="0" dirty="0">
                <a:solidFill>
                  <a:srgbClr val="C9A8D4"/>
                </a:solidFill>
                <a:latin typeface="Arial"/>
              </a:rPr>
              <a:t>|</a:t>
            </a:r>
            <a:r>
              <a:rPr sz="1800" b="0" i="0" dirty="0">
                <a:solidFill>
                  <a:srgbClr val="C9A8D4"/>
                </a:solidFill>
                <a:latin typeface="Arial"/>
              </a:rPr>
              <a:t>    ~2.66 M transcripts    </a:t>
            </a:r>
            <a:r>
              <a:rPr lang="en-GB" sz="1800" b="0" i="0" dirty="0">
                <a:solidFill>
                  <a:srgbClr val="C9A8D4"/>
                </a:solidFill>
                <a:latin typeface="Arial"/>
              </a:rPr>
              <a:t>|</a:t>
            </a:r>
            <a:r>
              <a:rPr sz="1800" b="0" i="0" dirty="0">
                <a:solidFill>
                  <a:srgbClr val="C9A8D4"/>
                </a:solidFill>
                <a:latin typeface="Arial"/>
              </a:rPr>
              <a:t>    1,000-gene panel</a:t>
            </a:r>
          </a:p>
        </p:txBody>
      </p:sp>
      <p:pic>
        <p:nvPicPr>
          <p:cNvPr id="7" name="Picture 6" descr="pic_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4000" y="396000"/>
            <a:ext cx="3096000" cy="23607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0000" y="4752000"/>
            <a:ext cx="9252000" cy="31463999"/>
          </a:xfrm>
          <a:prstGeom prst="roundRect">
            <a:avLst>
              <a:gd name="adj" fmla="val 3000"/>
            </a:avLst>
          </a:prstGeom>
          <a:solidFill>
            <a:srgbClr val="F3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12000" y="4752000"/>
            <a:ext cx="9252000" cy="31463999"/>
          </a:xfrm>
          <a:prstGeom prst="roundRect">
            <a:avLst>
              <a:gd name="adj" fmla="val 3000"/>
            </a:avLst>
          </a:prstGeom>
          <a:solidFill>
            <a:srgbClr val="F3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0304000" y="4752000"/>
            <a:ext cx="9252000" cy="31463999"/>
          </a:xfrm>
          <a:prstGeom prst="roundRect">
            <a:avLst>
              <a:gd name="adj" fmla="val 3000"/>
            </a:avLst>
          </a:prstGeom>
          <a:solidFill>
            <a:srgbClr val="F3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6000" y="4932000"/>
            <a:ext cx="8820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200" b="1" i="0">
                <a:solidFill>
                  <a:srgbClr val="500778"/>
                </a:solidFill>
                <a:latin typeface="Arial"/>
              </a:rPr>
              <a:t>Introduction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6000" y="5490000"/>
            <a:ext cx="8820000" cy="25200"/>
          </a:xfrm>
          <a:prstGeom prst="rect">
            <a:avLst/>
          </a:prstGeom>
          <a:solidFill>
            <a:srgbClr val="500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6000" y="5616000"/>
            <a:ext cx="8820000" cy="502335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850" b="0" i="0" dirty="0">
                <a:solidFill>
                  <a:srgbClr val="2C2C2C"/>
                </a:solidFill>
                <a:latin typeface="Arial"/>
              </a:rPr>
              <a:t>Spatial transcriptomics maps gene expression at single-molecule resolution in intact tissue (He 2022). Almost every downstream analysis </a:t>
            </a:r>
            <a:r>
              <a:rPr lang="en-GB" sz="1850" b="0" i="0" dirty="0">
                <a:solidFill>
                  <a:srgbClr val="2C2C2C"/>
                </a:solidFill>
                <a:latin typeface="Arial"/>
              </a:rPr>
              <a:t>-</a:t>
            </a:r>
            <a:r>
              <a:rPr sz="1850" b="0" i="0" dirty="0">
                <a:solidFill>
                  <a:srgbClr val="2C2C2C"/>
                </a:solidFill>
                <a:latin typeface="Arial"/>
              </a:rPr>
              <a:t> cell-type calling, ligand</a:t>
            </a:r>
            <a:r>
              <a:rPr lang="en-GB" sz="1850" b="0" i="0" dirty="0">
                <a:solidFill>
                  <a:srgbClr val="2C2C2C"/>
                </a:solidFill>
                <a:latin typeface="Arial"/>
              </a:rPr>
              <a:t>-</a:t>
            </a:r>
            <a:r>
              <a:rPr sz="1850" b="0" i="0" dirty="0">
                <a:solidFill>
                  <a:srgbClr val="2C2C2C"/>
                </a:solidFill>
                <a:latin typeface="Arial"/>
              </a:rPr>
              <a:t>receptor inference, niche detection </a:t>
            </a:r>
            <a:r>
              <a:rPr lang="en-GB" sz="1850" b="0" i="0" dirty="0">
                <a:solidFill>
                  <a:srgbClr val="2C2C2C"/>
                </a:solidFill>
                <a:latin typeface="Arial"/>
              </a:rPr>
              <a:t>-</a:t>
            </a:r>
            <a:r>
              <a:rPr sz="1850" b="0" i="0" dirty="0">
                <a:solidFill>
                  <a:srgbClr val="2C2C2C"/>
                </a:solidFill>
                <a:latin typeface="Arial"/>
              </a:rPr>
              <a:t> requires a fragile first step: assigning each transcript to a cell</a:t>
            </a:r>
            <a:r>
              <a:rPr lang="en-GB" sz="1850" b="0" i="0" dirty="0">
                <a:solidFill>
                  <a:srgbClr val="2C2C2C"/>
                </a:solidFill>
                <a:latin typeface="Arial"/>
              </a:rPr>
              <a:t> membrane.</a:t>
            </a:r>
            <a:endParaRPr sz="1850" b="0" i="0" dirty="0">
              <a:solidFill>
                <a:srgbClr val="2C2C2C"/>
              </a:solidFill>
              <a:latin typeface="Arial"/>
            </a:endParaRP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850" b="0" i="0" dirty="0">
                <a:solidFill>
                  <a:srgbClr val="2C2C2C"/>
                </a:solidFill>
                <a:latin typeface="Arial"/>
              </a:rPr>
              <a:t>On the </a:t>
            </a:r>
            <a:r>
              <a:rPr sz="1850" b="0" i="0" dirty="0" err="1">
                <a:solidFill>
                  <a:srgbClr val="2C2C2C"/>
                </a:solidFill>
                <a:latin typeface="Arial"/>
              </a:rPr>
              <a:t>CosMx</a:t>
            </a:r>
            <a:r>
              <a:rPr sz="1850" b="0" i="0" dirty="0">
                <a:solidFill>
                  <a:srgbClr val="2C2C2C"/>
                </a:solidFill>
                <a:latin typeface="Arial"/>
              </a:rPr>
              <a:t> sample </a:t>
            </a:r>
            <a:r>
              <a:rPr sz="1850" b="0" i="0" dirty="0" err="1">
                <a:solidFill>
                  <a:srgbClr val="2C2C2C"/>
                </a:solidFill>
                <a:latin typeface="Arial"/>
              </a:rPr>
              <a:t>analysed</a:t>
            </a:r>
            <a:r>
              <a:rPr sz="1850" b="0" i="0" dirty="0">
                <a:solidFill>
                  <a:srgbClr val="2C2C2C"/>
                </a:solidFill>
                <a:latin typeface="Arial"/>
              </a:rPr>
              <a:t> here, vendor segmentation leaves 43.6% of transcripts unassigned and most subcellular labels missing </a:t>
            </a:r>
            <a:r>
              <a:rPr lang="en-GB" sz="1850" b="0" i="0" dirty="0">
                <a:solidFill>
                  <a:srgbClr val="2C2C2C"/>
                </a:solidFill>
                <a:latin typeface="Arial"/>
              </a:rPr>
              <a:t>-</a:t>
            </a:r>
            <a:r>
              <a:rPr sz="1850" b="0" i="0" dirty="0">
                <a:solidFill>
                  <a:srgbClr val="2C2C2C"/>
                </a:solidFill>
                <a:latin typeface="Arial"/>
              </a:rPr>
              <a:t> segmentation quality is a known, platform-wide weakness (Petukhov 2022; Marco Salas 2025). </a:t>
            </a:r>
            <a:r>
              <a:rPr lang="en-GB" sz="1850" b="0" i="0" dirty="0">
                <a:solidFill>
                  <a:srgbClr val="2C2C2C"/>
                </a:solidFill>
                <a:latin typeface="Arial"/>
              </a:rPr>
              <a:t>Even t</a:t>
            </a:r>
            <a:r>
              <a:rPr sz="1850" b="0" i="0" dirty="0" err="1">
                <a:solidFill>
                  <a:srgbClr val="2C2C2C"/>
                </a:solidFill>
                <a:latin typeface="Arial"/>
              </a:rPr>
              <a:t>hird</a:t>
            </a:r>
            <a:r>
              <a:rPr sz="1850" b="0" i="0" dirty="0">
                <a:solidFill>
                  <a:srgbClr val="2C2C2C"/>
                </a:solidFill>
                <a:latin typeface="Arial"/>
              </a:rPr>
              <a:t>-party tools (</a:t>
            </a:r>
            <a:r>
              <a:rPr sz="1850" b="0" i="0" dirty="0" err="1">
                <a:solidFill>
                  <a:srgbClr val="2C2C2C"/>
                </a:solidFill>
                <a:latin typeface="Arial"/>
              </a:rPr>
              <a:t>Cellpose</a:t>
            </a:r>
            <a:r>
              <a:rPr sz="1850" b="0" i="0" dirty="0">
                <a:solidFill>
                  <a:srgbClr val="2C2C2C"/>
                </a:solidFill>
                <a:latin typeface="Arial"/>
              </a:rPr>
              <a:t>, MOSAIK) </a:t>
            </a:r>
            <a:r>
              <a:rPr lang="en-GB" sz="1850" dirty="0">
                <a:solidFill>
                  <a:srgbClr val="2C2C2C"/>
                </a:solidFill>
                <a:latin typeface="Arial"/>
              </a:rPr>
              <a:t>often struggle to</a:t>
            </a:r>
            <a:r>
              <a:rPr sz="1850" b="0" i="0" dirty="0">
                <a:solidFill>
                  <a:srgbClr val="2C2C2C"/>
                </a:solidFill>
                <a:latin typeface="Arial"/>
              </a:rPr>
              <a:t> recover the signal from </a:t>
            </a:r>
            <a:r>
              <a:rPr lang="en-GB" sz="1850" b="0" i="0" dirty="0">
                <a:solidFill>
                  <a:srgbClr val="2C2C2C"/>
                </a:solidFill>
                <a:latin typeface="Arial"/>
              </a:rPr>
              <a:t>wet-lab challenges, such as </a:t>
            </a:r>
            <a:r>
              <a:rPr sz="1850" b="0" i="0" dirty="0">
                <a:solidFill>
                  <a:srgbClr val="2C2C2C"/>
                </a:solidFill>
                <a:latin typeface="Arial"/>
              </a:rPr>
              <a:t>poor DAPI staining, so segmentation-dependent tools (</a:t>
            </a:r>
            <a:r>
              <a:rPr sz="1850" b="0" i="0" dirty="0" err="1">
                <a:solidFill>
                  <a:srgbClr val="2C2C2C"/>
                </a:solidFill>
                <a:latin typeface="Arial"/>
              </a:rPr>
              <a:t>CellChat</a:t>
            </a:r>
            <a:r>
              <a:rPr sz="1850" b="0" i="0" dirty="0">
                <a:solidFill>
                  <a:srgbClr val="2C2C2C"/>
                </a:solidFill>
                <a:latin typeface="Arial"/>
              </a:rPr>
              <a:t>, LIANA, Bento) become unusable (Jin 2021).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850" b="0" i="0" dirty="0" err="1">
                <a:solidFill>
                  <a:srgbClr val="2C2C2C"/>
                </a:solidFill>
                <a:latin typeface="Arial"/>
              </a:rPr>
              <a:t>NoSegs</a:t>
            </a:r>
            <a:r>
              <a:rPr sz="1850" b="0" i="0" dirty="0">
                <a:solidFill>
                  <a:srgbClr val="2C2C2C"/>
                </a:solidFill>
                <a:latin typeface="Arial"/>
              </a:rPr>
              <a:t> takes a different route: treat each gene as a 2-D point pattern in tissue space and use bivariate Ripley's K-functions with label-permutation envelopes to detect ligand</a:t>
            </a:r>
            <a:r>
              <a:rPr lang="en-GB" sz="1850" b="0" i="0" dirty="0">
                <a:solidFill>
                  <a:srgbClr val="2C2C2C"/>
                </a:solidFill>
                <a:latin typeface="Arial"/>
              </a:rPr>
              <a:t>-</a:t>
            </a:r>
            <a:r>
              <a:rPr sz="1850" b="0" i="0" dirty="0">
                <a:solidFill>
                  <a:srgbClr val="2C2C2C"/>
                </a:solidFill>
                <a:latin typeface="Arial"/>
              </a:rPr>
              <a:t>receptor co-</a:t>
            </a:r>
            <a:r>
              <a:rPr sz="1850" b="0" i="0" dirty="0" err="1">
                <a:solidFill>
                  <a:srgbClr val="2C2C2C"/>
                </a:solidFill>
                <a:latin typeface="Arial"/>
              </a:rPr>
              <a:t>localisation</a:t>
            </a:r>
            <a:r>
              <a:rPr sz="1850" b="0" i="0" dirty="0">
                <a:solidFill>
                  <a:srgbClr val="2C2C2C"/>
                </a:solidFill>
                <a:latin typeface="Arial"/>
              </a:rPr>
              <a:t> directly. No cells. No clusters. Just transcripts.</a:t>
            </a:r>
          </a:p>
          <a:p>
            <a:pPr algn="l">
              <a:lnSpc>
                <a:spcPct val="104000"/>
              </a:lnSpc>
            </a:pPr>
            <a:r>
              <a:rPr sz="1850" b="0" i="0" dirty="0">
                <a:solidFill>
                  <a:srgbClr val="2C2C2C"/>
                </a:solidFill>
                <a:latin typeface="Arial"/>
              </a:rPr>
              <a:t>The tissue is severe asthmatic lung during RSV infection</a:t>
            </a:r>
            <a:r>
              <a:rPr lang="en-GB" sz="1850" b="0" i="0" dirty="0">
                <a:solidFill>
                  <a:srgbClr val="2C2C2C"/>
                </a:solidFill>
                <a:latin typeface="Arial"/>
              </a:rPr>
              <a:t>. This is</a:t>
            </a:r>
            <a:r>
              <a:rPr sz="1850" b="0" i="0" dirty="0">
                <a:solidFill>
                  <a:srgbClr val="2C2C2C"/>
                </a:solidFill>
                <a:latin typeface="Arial"/>
              </a:rPr>
              <a:t> a clinically important setting where the spatial </a:t>
            </a:r>
            <a:r>
              <a:rPr sz="1850" b="0" i="0" dirty="0" err="1">
                <a:solidFill>
                  <a:srgbClr val="2C2C2C"/>
                </a:solidFill>
                <a:latin typeface="Arial"/>
              </a:rPr>
              <a:t>organisation</a:t>
            </a:r>
            <a:r>
              <a:rPr sz="1850" b="0" i="0" dirty="0">
                <a:solidFill>
                  <a:srgbClr val="2C2C2C"/>
                </a:solidFill>
                <a:latin typeface="Arial"/>
              </a:rPr>
              <a:t> of antiviral and immune signaling matters most, yet exactly where segmentation is least reliable.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000" y="10673682"/>
            <a:ext cx="8820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200" b="1" i="0" dirty="0">
                <a:solidFill>
                  <a:srgbClr val="500778"/>
                </a:solidFill>
                <a:latin typeface="Arial"/>
              </a:rPr>
              <a:t>Segmentation Loses Half the Signal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6000" y="11205301"/>
            <a:ext cx="8820000" cy="25200"/>
          </a:xfrm>
          <a:prstGeom prst="rect">
            <a:avLst/>
          </a:prstGeom>
          <a:solidFill>
            <a:srgbClr val="500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6000" y="11319012"/>
            <a:ext cx="8820000" cy="1200773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850" b="0" i="0" dirty="0">
                <a:solidFill>
                  <a:srgbClr val="2C2C2C"/>
                </a:solidFill>
                <a:latin typeface="Arial"/>
              </a:rPr>
              <a:t>Vendor segmentation is unreliable on this sample. In a single field of view the cell mask captures only a fraction of the transcripts (Fig 1), and the loss is systematic across the dataset</a:t>
            </a:r>
            <a:r>
              <a:rPr lang="en-GB" sz="1850" b="0" i="0" dirty="0">
                <a:solidFill>
                  <a:srgbClr val="2C2C2C"/>
                </a:solidFill>
                <a:latin typeface="Arial"/>
              </a:rPr>
              <a:t>:</a:t>
            </a:r>
            <a:r>
              <a:rPr sz="1850" b="0" i="0" dirty="0">
                <a:solidFill>
                  <a:srgbClr val="2C2C2C"/>
                </a:solidFill>
                <a:latin typeface="Arial"/>
              </a:rPr>
              <a:t> 43.6% of all transcripts are never assigned to any cell (Fig 2). Every cell-level tool silently discards them.</a:t>
            </a:r>
          </a:p>
        </p:txBody>
      </p:sp>
      <p:pic>
        <p:nvPicPr>
          <p:cNvPr id="17" name="Picture 16" descr="14_M0_raw_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000" y="12625810"/>
            <a:ext cx="8820000" cy="33101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6000" y="16025984"/>
            <a:ext cx="8820000" cy="75065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 i="0" dirty="0">
                <a:solidFill>
                  <a:srgbClr val="500778"/>
                </a:solidFill>
                <a:latin typeface="Arial"/>
              </a:rPr>
              <a:t>Fig 1. </a:t>
            </a:r>
            <a:r>
              <a:rPr sz="1550" b="0" i="0" dirty="0">
                <a:solidFill>
                  <a:srgbClr val="3A3A3A"/>
                </a:solidFill>
                <a:latin typeface="Arial"/>
              </a:rPr>
              <a:t>One field of view, three layers. Left: raw DAPI morphology. Middle: the vendor cell-segmentation mask (148 cells) </a:t>
            </a:r>
            <a:r>
              <a:rPr lang="en-GB" sz="1550" b="0" i="0" dirty="0">
                <a:solidFill>
                  <a:srgbClr val="3A3A3A"/>
                </a:solidFill>
                <a:latin typeface="Arial"/>
              </a:rPr>
              <a:t>– this is</a:t>
            </a:r>
            <a:r>
              <a:rPr sz="1550" b="0" i="0" dirty="0">
                <a:solidFill>
                  <a:srgbClr val="3A3A3A"/>
                </a:solidFill>
                <a:latin typeface="Arial"/>
              </a:rPr>
              <a:t> the layer </a:t>
            </a:r>
            <a:r>
              <a:rPr sz="1550" b="0" i="0" dirty="0" err="1">
                <a:solidFill>
                  <a:srgbClr val="3A3A3A"/>
                </a:solidFill>
                <a:latin typeface="Arial"/>
              </a:rPr>
              <a:t>NoSegs</a:t>
            </a:r>
            <a:r>
              <a:rPr sz="1550" b="0" i="0" dirty="0">
                <a:solidFill>
                  <a:srgbClr val="3A3A3A"/>
                </a:solidFill>
                <a:latin typeface="Arial"/>
              </a:rPr>
              <a:t> discards. Right: the raw transcripts, with ~40% never assigned to any cell (magenta). </a:t>
            </a:r>
            <a:r>
              <a:rPr sz="1550" b="0" i="0" dirty="0" err="1">
                <a:solidFill>
                  <a:srgbClr val="3A3A3A"/>
                </a:solidFill>
                <a:latin typeface="Arial"/>
              </a:rPr>
              <a:t>NoSegs</a:t>
            </a:r>
            <a:r>
              <a:rPr sz="1550" b="0" i="0" dirty="0">
                <a:solidFill>
                  <a:srgbClr val="3A3A3A"/>
                </a:solidFill>
                <a:latin typeface="Arial"/>
              </a:rPr>
              <a:t> carries every point through.</a:t>
            </a:r>
          </a:p>
        </p:txBody>
      </p:sp>
      <p:pic>
        <p:nvPicPr>
          <p:cNvPr id="19" name="Picture 18" descr="14_M1_segmentation_dropo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000" y="16991638"/>
            <a:ext cx="8820000" cy="373610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6000" y="20817741"/>
            <a:ext cx="8820000" cy="8007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 i="0">
                <a:solidFill>
                  <a:srgbClr val="500778"/>
                </a:solidFill>
                <a:latin typeface="Arial"/>
              </a:rPr>
              <a:t>Fig 2. </a:t>
            </a:r>
            <a:r>
              <a:rPr sz="1550" b="0" i="0">
                <a:solidFill>
                  <a:srgbClr val="3A3A3A"/>
                </a:solidFill>
                <a:latin typeface="Arial"/>
              </a:rPr>
              <a:t>Across all FOVs, vendor segmentation never assigns 43.6% of transcripts to a cell, so every cell-level tool silently discards them — consistently across the whole dataset.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000" y="21654481"/>
            <a:ext cx="8820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200" b="1" i="0">
                <a:solidFill>
                  <a:srgbClr val="500778"/>
                </a:solidFill>
                <a:latin typeface="Arial"/>
              </a:rPr>
              <a:t>Preparing the Point Field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6000" y="22212481"/>
            <a:ext cx="8820000" cy="25200"/>
          </a:xfrm>
          <a:prstGeom prst="rect">
            <a:avLst/>
          </a:prstGeom>
          <a:solidFill>
            <a:srgbClr val="500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6000" y="22338481"/>
            <a:ext cx="8820000" cy="143130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850" b="0" i="0">
                <a:solidFill>
                  <a:srgbClr val="2C2C2C"/>
                </a:solidFill>
                <a:latin typeface="Arial"/>
              </a:rPr>
              <a:t>NoSegs keeps every transcript and works on the raw point cloud. Two light-touch steps prepare it: a per-FOV Gaussian mixture separates the infected and control tissue strips (Fig 3), and an adaptively-tuned DBSCAN pass removes diffuse background while retaining 87% of points (Fig 4).</a:t>
            </a:r>
          </a:p>
        </p:txBody>
      </p:sp>
      <p:pic>
        <p:nvPicPr>
          <p:cNvPr id="24" name="Picture 23" descr="14_M2_gmm_strip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000" y="23751791"/>
            <a:ext cx="8820000" cy="467542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36000" y="28517217"/>
            <a:ext cx="8820000" cy="8007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 i="0">
                <a:solidFill>
                  <a:srgbClr val="500778"/>
                </a:solidFill>
                <a:latin typeface="Arial"/>
              </a:rPr>
              <a:t>Fig 3. </a:t>
            </a:r>
            <a:r>
              <a:rPr sz="1550" b="0" i="0">
                <a:solidFill>
                  <a:srgbClr val="3A3A3A"/>
                </a:solidFill>
                <a:latin typeface="Arial"/>
              </a:rPr>
              <a:t>After PCA aligns the tissue axis, a per-FOV 3-component Gaussian mixture separates the three tissue strips; boundaries are set per FOV, with manual overrides where the mixture is ambiguous.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000" y="29335958"/>
            <a:ext cx="8820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300" b="1" i="0">
                <a:solidFill>
                  <a:srgbClr val="6A1B9A"/>
                </a:solidFill>
                <a:latin typeface="Arial"/>
              </a:rPr>
              <a:t>Adaptive noise removal</a:t>
            </a:r>
          </a:p>
        </p:txBody>
      </p:sp>
      <p:pic>
        <p:nvPicPr>
          <p:cNvPr id="27" name="Picture 26" descr="14_M3_dbscan_q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000" y="29785958"/>
            <a:ext cx="8820000" cy="399673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36000" y="33872692"/>
            <a:ext cx="8820000" cy="599826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 i="0" dirty="0">
                <a:solidFill>
                  <a:srgbClr val="500778"/>
                </a:solidFill>
                <a:latin typeface="Arial"/>
              </a:rPr>
              <a:t>Fig 4. </a:t>
            </a:r>
            <a:r>
              <a:rPr sz="1550" b="0" i="0" dirty="0">
                <a:solidFill>
                  <a:srgbClr val="3A3A3A"/>
                </a:solidFill>
                <a:latin typeface="Arial"/>
              </a:rPr>
              <a:t>DBSCAN with an adaptively-set ε (97th-percentile 1-NN, clipped 20–30 </a:t>
            </a:r>
            <a:r>
              <a:rPr sz="1550" b="0" i="0" dirty="0" err="1">
                <a:solidFill>
                  <a:srgbClr val="3A3A3A"/>
                </a:solidFill>
                <a:latin typeface="Arial"/>
              </a:rPr>
              <a:t>px</a:t>
            </a:r>
            <a:r>
              <a:rPr sz="1550" b="0" i="0" dirty="0">
                <a:solidFill>
                  <a:srgbClr val="3A3A3A"/>
                </a:solidFill>
                <a:latin typeface="Arial"/>
              </a:rPr>
              <a:t>) flags diffuse background and stray clusters; 87% of transcripts survive QC.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000" y="4932000"/>
            <a:ext cx="8820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200" b="1" i="0">
                <a:solidFill>
                  <a:srgbClr val="500778"/>
                </a:solidFill>
                <a:latin typeface="Arial"/>
              </a:rPr>
              <a:t>The NoSegs Pipeline, End to 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28000" y="5490000"/>
            <a:ext cx="8820000" cy="25200"/>
          </a:xfrm>
          <a:prstGeom prst="rect">
            <a:avLst/>
          </a:prstGeom>
          <a:solidFill>
            <a:srgbClr val="500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728000" y="5616000"/>
            <a:ext cx="8820000" cy="1065351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650" b="0" i="0" dirty="0">
                <a:solidFill>
                  <a:srgbClr val="2C2C2C"/>
                </a:solidFill>
                <a:latin typeface="Arial"/>
              </a:rPr>
              <a:t>Eight stages take raw transcripts to signaling networks with no cell calling. Each gene becomes a 2-D point pattern; bivariate Ripley's K with a label-swap null then tests every ligand</a:t>
            </a:r>
            <a:r>
              <a:rPr lang="en-GB" sz="1650" b="0" i="0" dirty="0">
                <a:solidFill>
                  <a:srgbClr val="2C2C2C"/>
                </a:solidFill>
                <a:latin typeface="Arial"/>
              </a:rPr>
              <a:t>-</a:t>
            </a:r>
            <a:r>
              <a:rPr sz="1650" b="0" i="0" dirty="0">
                <a:solidFill>
                  <a:srgbClr val="2C2C2C"/>
                </a:solidFill>
                <a:latin typeface="Arial"/>
              </a:rPr>
              <a:t>receptor pair for spatial co-</a:t>
            </a:r>
            <a:r>
              <a:rPr sz="1650" b="0" i="0" dirty="0" err="1">
                <a:solidFill>
                  <a:srgbClr val="2C2C2C"/>
                </a:solidFill>
                <a:latin typeface="Arial"/>
              </a:rPr>
              <a:t>localisation</a:t>
            </a:r>
            <a:r>
              <a:rPr sz="1650" b="0" i="0" dirty="0">
                <a:solidFill>
                  <a:srgbClr val="2C2C2C"/>
                </a:solidFill>
                <a:latin typeface="Arial"/>
              </a:rPr>
              <a:t>. Teal marks the statistical core; amber chips mark the tunable choice at each step.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28000" y="6868662"/>
            <a:ext cx="4824000" cy="486000"/>
          </a:xfrm>
          <a:prstGeom prst="roundRect">
            <a:avLst>
              <a:gd name="adj" fmla="val 3000"/>
            </a:avLst>
          </a:prstGeom>
          <a:solidFill>
            <a:srgbClr val="1A9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4400" rIns="54000" bIns="144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INPUT — raw transcripts  (x, y, gene, FOV)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13014000" y="7361862"/>
            <a:ext cx="251999" cy="180000"/>
          </a:xfrm>
          <a:prstGeom prst="downArrow">
            <a:avLst/>
          </a:prstGeom>
          <a:solidFill>
            <a:srgbClr val="500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728000" y="7552662"/>
            <a:ext cx="4824000" cy="486000"/>
          </a:xfrm>
          <a:prstGeom prst="roundRect">
            <a:avLst>
              <a:gd name="adj" fmla="val 3000"/>
            </a:avLst>
          </a:prstGeom>
          <a:solidFill>
            <a:srgbClr val="500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4400" rIns="54000" bIns="144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   PCA align + per-FOV GMM strips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876000" y="7588662"/>
            <a:ext cx="3671999" cy="413999"/>
          </a:xfrm>
          <a:prstGeom prst="roundRect">
            <a:avLst>
              <a:gd name="adj" fmla="val 3000"/>
            </a:avLst>
          </a:prstGeom>
          <a:solidFill>
            <a:srgbClr val="FFF4D6"/>
          </a:solidFill>
          <a:ln w="12700">
            <a:solidFill>
              <a:srgbClr val="E0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4400" rIns="54000" bIns="14400" rtlCol="0" anchor="ctr"/>
          <a:lstStyle/>
          <a:p>
            <a:pPr algn="ctr"/>
            <a:r>
              <a:rPr sz="1100" b="0" i="1">
                <a:solidFill>
                  <a:srgbClr val="6B5200"/>
                </a:solidFill>
                <a:latin typeface="Arial"/>
              </a:rPr>
              <a:t>3-component GMM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13014000" y="8045862"/>
            <a:ext cx="251999" cy="180000"/>
          </a:xfrm>
          <a:prstGeom prst="downArrow">
            <a:avLst/>
          </a:prstGeom>
          <a:solidFill>
            <a:srgbClr val="500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728000" y="8236662"/>
            <a:ext cx="4824000" cy="486000"/>
          </a:xfrm>
          <a:prstGeom prst="roundRect">
            <a:avLst>
              <a:gd name="adj" fmla="val 3000"/>
            </a:avLst>
          </a:prstGeom>
          <a:solidFill>
            <a:srgbClr val="500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4400" rIns="54000" bIns="144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   DBSCAN noise removal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876000" y="8272662"/>
            <a:ext cx="3671999" cy="413999"/>
          </a:xfrm>
          <a:prstGeom prst="roundRect">
            <a:avLst>
              <a:gd name="adj" fmla="val 3000"/>
            </a:avLst>
          </a:prstGeom>
          <a:solidFill>
            <a:srgbClr val="FFF4D6"/>
          </a:solidFill>
          <a:ln w="12700">
            <a:solidFill>
              <a:srgbClr val="E0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4400" rIns="54000" bIns="14400" rtlCol="0" anchor="ctr"/>
          <a:lstStyle/>
          <a:p>
            <a:pPr algn="ctr"/>
            <a:r>
              <a:rPr sz="1100" b="0" i="1">
                <a:solidFill>
                  <a:srgbClr val="6B5200"/>
                </a:solidFill>
                <a:latin typeface="Arial"/>
              </a:rPr>
              <a:t>adaptive ε = p97 1-NN, [20, 30] px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13014000" y="8729862"/>
            <a:ext cx="251999" cy="180000"/>
          </a:xfrm>
          <a:prstGeom prst="downArrow">
            <a:avLst/>
          </a:prstGeom>
          <a:solidFill>
            <a:srgbClr val="500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728000" y="8920662"/>
            <a:ext cx="4824000" cy="486000"/>
          </a:xfrm>
          <a:prstGeom prst="roundRect">
            <a:avLst>
              <a:gd name="adj" fmla="val 3000"/>
            </a:avLst>
          </a:prstGeom>
          <a:solidFill>
            <a:srgbClr val="500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4400" rIns="54000" bIns="144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   Observation window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876000" y="8956662"/>
            <a:ext cx="3671999" cy="413999"/>
          </a:xfrm>
          <a:prstGeom prst="roundRect">
            <a:avLst>
              <a:gd name="adj" fmla="val 3000"/>
            </a:avLst>
          </a:prstGeom>
          <a:solidFill>
            <a:srgbClr val="FFF4D6"/>
          </a:solidFill>
          <a:ln w="12700">
            <a:solidFill>
              <a:srgbClr val="E0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4400" rIns="54000" bIns="14400" rtlCol="0" anchor="ctr"/>
          <a:lstStyle/>
          <a:p>
            <a:pPr algn="ctr"/>
            <a:r>
              <a:rPr sz="1100" b="0" i="1">
                <a:solidFill>
                  <a:srgbClr val="6B5200"/>
                </a:solidFill>
                <a:latin typeface="Arial"/>
              </a:rPr>
              <a:t>rectangle / convex / concave hull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13014000" y="9413862"/>
            <a:ext cx="251999" cy="180000"/>
          </a:xfrm>
          <a:prstGeom prst="downArrow">
            <a:avLst/>
          </a:prstGeom>
          <a:solidFill>
            <a:srgbClr val="500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0728000" y="9604662"/>
            <a:ext cx="4824000" cy="486000"/>
          </a:xfrm>
          <a:prstGeom prst="roundRect">
            <a:avLst>
              <a:gd name="adj" fmla="val 3000"/>
            </a:avLst>
          </a:prstGeom>
          <a:solidFill>
            <a:srgbClr val="1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4400" rIns="54000" bIns="144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   Bivariate Ripley K → L(r)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5876000" y="9640662"/>
            <a:ext cx="3671999" cy="413999"/>
          </a:xfrm>
          <a:prstGeom prst="roundRect">
            <a:avLst>
              <a:gd name="adj" fmla="val 3000"/>
            </a:avLst>
          </a:prstGeom>
          <a:solidFill>
            <a:srgbClr val="FFF4D6"/>
          </a:solidFill>
          <a:ln w="12700">
            <a:solidFill>
              <a:srgbClr val="E0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4400" rIns="54000" bIns="14400" rtlCol="0" anchor="ctr"/>
          <a:lstStyle/>
          <a:p>
            <a:pPr algn="ctr"/>
            <a:r>
              <a:rPr sz="1100" b="0" i="1">
                <a:solidFill>
                  <a:srgbClr val="6B5200"/>
                </a:solidFill>
                <a:latin typeface="Arial"/>
              </a:rPr>
              <a:t>multi-scale r-grid (cell + tissue)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13014000" y="10097862"/>
            <a:ext cx="251999" cy="180000"/>
          </a:xfrm>
          <a:prstGeom prst="downArrow">
            <a:avLst/>
          </a:prstGeom>
          <a:solidFill>
            <a:srgbClr val="1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0728000" y="10288662"/>
            <a:ext cx="4824000" cy="486000"/>
          </a:xfrm>
          <a:prstGeom prst="roundRect">
            <a:avLst>
              <a:gd name="adj" fmla="val 3000"/>
            </a:avLst>
          </a:prstGeom>
          <a:solidFill>
            <a:srgbClr val="1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4400" rIns="54000" bIns="144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   Label-swap permutation envelope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876000" y="10324662"/>
            <a:ext cx="3671999" cy="413999"/>
          </a:xfrm>
          <a:prstGeom prst="roundRect">
            <a:avLst>
              <a:gd name="adj" fmla="val 3000"/>
            </a:avLst>
          </a:prstGeom>
          <a:solidFill>
            <a:srgbClr val="FFF4D6"/>
          </a:solidFill>
          <a:ln w="12700">
            <a:solidFill>
              <a:srgbClr val="E0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4400" rIns="54000" bIns="14400" rtlCol="0" anchor="ctr"/>
          <a:lstStyle/>
          <a:p>
            <a:pPr algn="ctr"/>
            <a:r>
              <a:rPr sz="1100" b="0" i="1">
                <a:solidFill>
                  <a:srgbClr val="6B5200"/>
                </a:solidFill>
                <a:latin typeface="Arial"/>
              </a:rPr>
              <a:t>n_sim = 99 / 199  +  edge correction</a:t>
            </a:r>
          </a:p>
        </p:txBody>
      </p:sp>
      <p:sp>
        <p:nvSpPr>
          <p:cNvPr id="48" name="Down Arrow 47"/>
          <p:cNvSpPr/>
          <p:nvPr/>
        </p:nvSpPr>
        <p:spPr>
          <a:xfrm>
            <a:off x="13014000" y="10781862"/>
            <a:ext cx="251999" cy="180000"/>
          </a:xfrm>
          <a:prstGeom prst="downArrow">
            <a:avLst/>
          </a:prstGeom>
          <a:solidFill>
            <a:srgbClr val="500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0728000" y="10972662"/>
            <a:ext cx="4824000" cy="486000"/>
          </a:xfrm>
          <a:prstGeom prst="roundRect">
            <a:avLst>
              <a:gd name="adj" fmla="val 3000"/>
            </a:avLst>
          </a:prstGeom>
          <a:solidFill>
            <a:srgbClr val="500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4400" rIns="54000" bIns="144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   Effect-size (SES) ranking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5876000" y="11008662"/>
            <a:ext cx="3671999" cy="413999"/>
          </a:xfrm>
          <a:prstGeom prst="roundRect">
            <a:avLst>
              <a:gd name="adj" fmla="val 3000"/>
            </a:avLst>
          </a:prstGeom>
          <a:solidFill>
            <a:srgbClr val="FFF4D6"/>
          </a:solidFill>
          <a:ln w="12700">
            <a:solidFill>
              <a:srgbClr val="E0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4400" rIns="54000" bIns="14400" rtlCol="0" anchor="ctr"/>
          <a:lstStyle/>
          <a:p>
            <a:pPr algn="ctr"/>
            <a:r>
              <a:rPr sz="1100" b="0" i="1">
                <a:solidFill>
                  <a:srgbClr val="6B5200"/>
                </a:solidFill>
                <a:latin typeface="Arial"/>
              </a:rPr>
              <a:t>binary test  or  continuous SES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13014000" y="11465862"/>
            <a:ext cx="251999" cy="180000"/>
          </a:xfrm>
          <a:prstGeom prst="downArrow">
            <a:avLst/>
          </a:prstGeom>
          <a:solidFill>
            <a:srgbClr val="500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0728000" y="11656662"/>
            <a:ext cx="4824000" cy="486000"/>
          </a:xfrm>
          <a:prstGeom prst="roundRect">
            <a:avLst>
              <a:gd name="adj" fmla="val 3000"/>
            </a:avLst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4400" rIns="54000" bIns="14400" rtlCol="0" anchor="ctr"/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Arial"/>
              </a:rPr>
              <a:t>OUTPUTS</a:t>
            </a:r>
            <a:r>
              <a:rPr lang="en-GB" sz="1300" b="1" i="0" dirty="0">
                <a:solidFill>
                  <a:srgbClr val="FFFFFF"/>
                </a:solidFill>
                <a:latin typeface="Arial"/>
              </a:rPr>
              <a:t>: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networks </a:t>
            </a:r>
            <a:r>
              <a:rPr lang="en-GB" sz="1300" b="1" i="0" dirty="0">
                <a:solidFill>
                  <a:srgbClr val="FFFFFF"/>
                </a:solidFill>
                <a:latin typeface="Arial"/>
              </a:rPr>
              <a:t>|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UMAP </a:t>
            </a:r>
            <a:r>
              <a:rPr lang="en-GB" sz="1300" b="1" dirty="0">
                <a:solidFill>
                  <a:srgbClr val="FFFFFF"/>
                </a:solidFill>
                <a:latin typeface="Arial"/>
              </a:rPr>
              <a:t>|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heatmaps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28000" y="12315416"/>
            <a:ext cx="8820000" cy="49218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 i="0" dirty="0">
                <a:solidFill>
                  <a:srgbClr val="500778"/>
                </a:solidFill>
                <a:latin typeface="Arial"/>
              </a:rPr>
              <a:t>Fig 5. </a:t>
            </a:r>
            <a:r>
              <a:rPr sz="1500" b="0" i="0" dirty="0">
                <a:solidFill>
                  <a:srgbClr val="3A3A3A"/>
                </a:solidFill>
                <a:latin typeface="Arial"/>
              </a:rPr>
              <a:t>The end-to-end workflow</a:t>
            </a:r>
            <a:r>
              <a:rPr lang="en-GB" sz="1500" b="0" i="0" dirty="0">
                <a:solidFill>
                  <a:srgbClr val="3A3A3A"/>
                </a:solidFill>
                <a:latin typeface="Arial"/>
              </a:rPr>
              <a:t>.</a:t>
            </a:r>
            <a:r>
              <a:rPr sz="1500" b="0" i="0" dirty="0">
                <a:solidFill>
                  <a:srgbClr val="3A3A3A"/>
                </a:solidFill>
                <a:latin typeface="Arial"/>
              </a:rPr>
              <a:t> Eight native, editable stages from raw transcripts to </a:t>
            </a:r>
            <a:r>
              <a:rPr sz="1500" b="0" i="0" dirty="0" err="1">
                <a:solidFill>
                  <a:srgbClr val="3A3A3A"/>
                </a:solidFill>
                <a:latin typeface="Arial"/>
              </a:rPr>
              <a:t>signalling</a:t>
            </a:r>
            <a:r>
              <a:rPr sz="1500" b="0" i="0" dirty="0">
                <a:solidFill>
                  <a:srgbClr val="3A3A3A"/>
                </a:solidFill>
                <a:latin typeface="Arial"/>
              </a:rPr>
              <a:t> networks.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73555" y="13144140"/>
            <a:ext cx="8820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300" b="1" i="0" dirty="0">
                <a:solidFill>
                  <a:srgbClr val="6A1B9A"/>
                </a:solidFill>
                <a:latin typeface="Arial"/>
              </a:rPr>
              <a:t>Observation window</a:t>
            </a:r>
          </a:p>
        </p:txBody>
      </p:sp>
      <p:pic>
        <p:nvPicPr>
          <p:cNvPr id="63" name="Picture 62" descr="14_M4_window_iteration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57826" y="13616094"/>
            <a:ext cx="7559559" cy="4650191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728000" y="18344850"/>
            <a:ext cx="8820000" cy="781297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 i="0" dirty="0">
                <a:solidFill>
                  <a:srgbClr val="500778"/>
                </a:solidFill>
                <a:latin typeface="Arial"/>
              </a:rPr>
              <a:t>Fig 6. </a:t>
            </a:r>
            <a:r>
              <a:rPr sz="1500" b="0" i="0" dirty="0">
                <a:solidFill>
                  <a:srgbClr val="3A3A3A"/>
                </a:solidFill>
                <a:latin typeface="Arial"/>
              </a:rPr>
              <a:t>The observation window is the dominant lever for inferential power. A concave hull tracks the true tissue extent, shrinking the area ~20× vs the bounding box and tightening the permutation null.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20042" y="18845026"/>
            <a:ext cx="8820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300" b="1" i="0" dirty="0">
                <a:solidFill>
                  <a:srgbClr val="6A1B9A"/>
                </a:solidFill>
                <a:latin typeface="Arial"/>
              </a:rPr>
              <a:t>Multi-scale r-grid &amp; edge correction</a:t>
            </a:r>
          </a:p>
        </p:txBody>
      </p:sp>
      <p:pic>
        <p:nvPicPr>
          <p:cNvPr id="66" name="Picture 65" descr="14_M5_rsca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30160" y="19229002"/>
            <a:ext cx="8736036" cy="299747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0757519" y="22237474"/>
            <a:ext cx="8820000" cy="97572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 i="0" dirty="0">
                <a:solidFill>
                  <a:srgbClr val="500778"/>
                </a:solidFill>
                <a:latin typeface="Arial"/>
              </a:rPr>
              <a:t>Fig 7. </a:t>
            </a:r>
            <a:r>
              <a:rPr sz="1500" b="0" i="0" dirty="0">
                <a:solidFill>
                  <a:srgbClr val="3A3A3A"/>
                </a:solidFill>
                <a:latin typeface="Arial"/>
              </a:rPr>
              <a:t>A deliberate multi-scale r-grid resolves both cell-scale and tissue-scale co-association; Shapely edge correction down-weights discs that spill outside the tissue window, following standard second-order point-pattern theory (Ripley 1976; Diggle 2003; Baddeley 2015).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757519" y="23011787"/>
            <a:ext cx="8820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200" b="1" i="0">
                <a:solidFill>
                  <a:srgbClr val="500778"/>
                </a:solidFill>
                <a:latin typeface="Arial"/>
              </a:rPr>
              <a:t>Validation &amp; Controls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757519" y="23502427"/>
            <a:ext cx="8820000" cy="25200"/>
          </a:xfrm>
          <a:prstGeom prst="rect">
            <a:avLst/>
          </a:prstGeom>
          <a:solidFill>
            <a:srgbClr val="500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720042" y="23599535"/>
            <a:ext cx="8820000" cy="132689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650" b="0" i="0" dirty="0">
                <a:solidFill>
                  <a:srgbClr val="2C2C2C"/>
                </a:solidFill>
                <a:latin typeface="Arial"/>
              </a:rPr>
              <a:t>The method must first pass known-answer controls. A focal positive pair scores high and a diffuse housekeeping pair does not; both sit inside </a:t>
            </a:r>
            <a:r>
              <a:rPr lang="en-GB" sz="1650" b="0" i="0" dirty="0">
                <a:solidFill>
                  <a:srgbClr val="2C2C2C"/>
                </a:solidFill>
                <a:latin typeface="Arial"/>
              </a:rPr>
              <a:t>or below </a:t>
            </a:r>
            <a:r>
              <a:rPr sz="1650" b="0" i="0" dirty="0">
                <a:solidFill>
                  <a:srgbClr val="2C2C2C"/>
                </a:solidFill>
                <a:latin typeface="Arial"/>
              </a:rPr>
              <a:t>the permutation envelope under the production window, but their effect sizes separate cleanly (Figs 8–9). We therefore rank pairs by continuous </a:t>
            </a:r>
            <a:r>
              <a:rPr sz="1650" b="0" i="0" dirty="0" err="1">
                <a:solidFill>
                  <a:srgbClr val="2C2C2C"/>
                </a:solidFill>
                <a:latin typeface="Arial"/>
              </a:rPr>
              <a:t>standardised</a:t>
            </a:r>
            <a:r>
              <a:rPr sz="1650" b="0" i="0" dirty="0">
                <a:solidFill>
                  <a:srgbClr val="2C2C2C"/>
                </a:solidFill>
                <a:latin typeface="Arial"/>
              </a:rPr>
              <a:t> effect size (SES) </a:t>
            </a:r>
            <a:r>
              <a:rPr lang="en-GB" sz="1650" b="0" i="0" dirty="0">
                <a:solidFill>
                  <a:srgbClr val="2C2C2C"/>
                </a:solidFill>
                <a:latin typeface="Arial"/>
              </a:rPr>
              <a:t>-</a:t>
            </a:r>
            <a:r>
              <a:rPr sz="1650" b="0" i="0" dirty="0">
                <a:solidFill>
                  <a:srgbClr val="2C2C2C"/>
                </a:solidFill>
                <a:latin typeface="Arial"/>
              </a:rPr>
              <a:t> the continuous form of the global rank envelope test (Myllymäki 2017) </a:t>
            </a:r>
            <a:r>
              <a:rPr lang="en-GB" sz="1650" b="0" i="0" dirty="0">
                <a:solidFill>
                  <a:srgbClr val="2C2C2C"/>
                </a:solidFill>
                <a:latin typeface="Arial"/>
              </a:rPr>
              <a:t>-</a:t>
            </a:r>
            <a:r>
              <a:rPr sz="1650" b="0" i="0" dirty="0">
                <a:solidFill>
                  <a:srgbClr val="2C2C2C"/>
                </a:solidFill>
                <a:latin typeface="Arial"/>
              </a:rPr>
              <a:t> not binary significance.</a:t>
            </a:r>
          </a:p>
        </p:txBody>
      </p:sp>
      <p:pic>
        <p:nvPicPr>
          <p:cNvPr id="71" name="Picture 70" descr="13_pos_vs_neg_sanit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93725" y="24999173"/>
            <a:ext cx="8947587" cy="3433376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0757519" y="28551530"/>
            <a:ext cx="8820000" cy="727631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 i="0" dirty="0">
                <a:solidFill>
                  <a:srgbClr val="500778"/>
                </a:solidFill>
                <a:latin typeface="Arial"/>
              </a:rPr>
              <a:t>Fig 8. </a:t>
            </a:r>
            <a:r>
              <a:rPr lang="en-GB" sz="1500" dirty="0">
                <a:solidFill>
                  <a:srgbClr val="3A3A3A"/>
                </a:solidFill>
                <a:latin typeface="Arial"/>
              </a:rPr>
              <a:t>T</a:t>
            </a:r>
            <a:r>
              <a:rPr sz="1500" b="0" i="0" dirty="0">
                <a:solidFill>
                  <a:srgbClr val="3A3A3A"/>
                </a:solidFill>
                <a:latin typeface="Arial"/>
              </a:rPr>
              <a:t>he positive control (KRT8×KRT18) and the </a:t>
            </a:r>
            <a:r>
              <a:rPr sz="1500" b="0" i="0" dirty="0" err="1">
                <a:solidFill>
                  <a:srgbClr val="3A3A3A"/>
                </a:solidFill>
                <a:latin typeface="Arial"/>
              </a:rPr>
              <a:t>housekeeping×specific</a:t>
            </a:r>
            <a:r>
              <a:rPr sz="1500" b="0" i="0" dirty="0">
                <a:solidFill>
                  <a:srgbClr val="3A3A3A"/>
                </a:solidFill>
                <a:latin typeface="Arial"/>
              </a:rPr>
              <a:t> negative (MALAT1×KRT18) fall inside</a:t>
            </a:r>
            <a:r>
              <a:rPr lang="en-GB" sz="1500" b="0" i="0" dirty="0">
                <a:solidFill>
                  <a:srgbClr val="3A3A3A"/>
                </a:solidFill>
                <a:latin typeface="Arial"/>
              </a:rPr>
              <a:t> or below</a:t>
            </a:r>
            <a:r>
              <a:rPr sz="1500" b="0" i="0" dirty="0">
                <a:solidFill>
                  <a:srgbClr val="3A3A3A"/>
                </a:solidFill>
                <a:latin typeface="Arial"/>
              </a:rPr>
              <a:t> the label-swap envelope on the infected strip, yet their effect sizes separate by 2.67 envelope half-widths. We therefore rank by continuous peak SES, not binary pass/fail.</a:t>
            </a:r>
          </a:p>
        </p:txBody>
      </p:sp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303867"/>
              </p:ext>
            </p:extLst>
          </p:nvPr>
        </p:nvGraphicFramePr>
        <p:xfrm>
          <a:off x="10728000" y="29486492"/>
          <a:ext cx="882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marL="72000" marR="36000" marT="18000" marB="18000" anchor="ctr">
                    <a:solidFill>
                      <a:srgbClr val="5007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Arial"/>
                        </a:rPr>
                        <a:t>Pair</a:t>
                      </a:r>
                    </a:p>
                  </a:txBody>
                  <a:tcPr marL="72000" marR="36000" marT="18000" marB="18000" anchor="ctr">
                    <a:solidFill>
                      <a:srgbClr val="5007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Arial"/>
                        </a:rPr>
                        <a:t>Expected</a:t>
                      </a:r>
                    </a:p>
                  </a:txBody>
                  <a:tcPr marL="72000" marR="36000" marT="18000" marB="18000" anchor="ctr">
                    <a:solidFill>
                      <a:srgbClr val="5007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Arial"/>
                        </a:rPr>
                        <a:t>Observed</a:t>
                      </a:r>
                    </a:p>
                  </a:txBody>
                  <a:tcPr marL="72000" marR="36000" marT="18000" marB="18000" anchor="ctr">
                    <a:solidFill>
                      <a:srgbClr val="5007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2C2C2C"/>
                          </a:solidFill>
                          <a:latin typeface="Arial"/>
                        </a:rPr>
                        <a:t>Positive</a:t>
                      </a:r>
                    </a:p>
                  </a:txBody>
                  <a:tcPr marL="72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2C2C2C"/>
                          </a:solidFill>
                          <a:latin typeface="Arial"/>
                        </a:rPr>
                        <a:t>KRT8 × KRT18</a:t>
                      </a:r>
                    </a:p>
                  </a:txBody>
                  <a:tcPr marL="72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dirty="0">
                          <a:solidFill>
                            <a:srgbClr val="2C2C2C"/>
                          </a:solidFill>
                          <a:latin typeface="Arial"/>
                        </a:rPr>
                        <a:t>Above null</a:t>
                      </a:r>
                    </a:p>
                  </a:txBody>
                  <a:tcPr marL="72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dirty="0">
                          <a:solidFill>
                            <a:srgbClr val="2C2C2C"/>
                          </a:solidFill>
                          <a:latin typeface="Arial"/>
                        </a:rPr>
                        <a:t>SES = −2.18</a:t>
                      </a:r>
                    </a:p>
                  </a:txBody>
                  <a:tcPr marL="72000" marR="36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2C2C2C"/>
                          </a:solidFill>
                          <a:latin typeface="Arial"/>
                        </a:rPr>
                        <a:t>Negative</a:t>
                      </a:r>
                    </a:p>
                  </a:txBody>
                  <a:tcPr marL="72000" marR="36000" marT="18000" marB="18000" anchor="ctr">
                    <a:solidFill>
                      <a:srgbClr val="F3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2C2C2C"/>
                          </a:solidFill>
                          <a:latin typeface="Arial"/>
                        </a:rPr>
                        <a:t>MALAT1 × KRT18</a:t>
                      </a:r>
                    </a:p>
                  </a:txBody>
                  <a:tcPr marL="72000" marR="36000" marT="18000" marB="18000" anchor="ctr">
                    <a:solidFill>
                      <a:srgbClr val="F3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2C2C2C"/>
                          </a:solidFill>
                          <a:latin typeface="Arial"/>
                        </a:rPr>
                        <a:t>Far below</a:t>
                      </a:r>
                    </a:p>
                  </a:txBody>
                  <a:tcPr marL="72000" marR="36000" marT="18000" marB="18000" anchor="ctr">
                    <a:solidFill>
                      <a:srgbClr val="F3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dirty="0">
                          <a:solidFill>
                            <a:srgbClr val="2C2C2C"/>
                          </a:solidFill>
                          <a:latin typeface="Arial"/>
                        </a:rPr>
                        <a:t>SES = −4.85</a:t>
                      </a:r>
                    </a:p>
                  </a:txBody>
                  <a:tcPr marL="72000" marR="36000" marT="18000" marB="18000" anchor="ctr">
                    <a:solidFill>
                      <a:srgbClr val="F3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4" name="Picture 73" descr="13_C_group_ses_distributi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71530" y="30985834"/>
            <a:ext cx="8822025" cy="4105086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0757519" y="35179054"/>
            <a:ext cx="8820000" cy="781297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 i="0" dirty="0">
                <a:solidFill>
                  <a:srgbClr val="500778"/>
                </a:solidFill>
                <a:latin typeface="Arial"/>
              </a:rPr>
              <a:t>Fig 9. </a:t>
            </a:r>
            <a:r>
              <a:rPr sz="1500" b="0" i="0" dirty="0">
                <a:solidFill>
                  <a:srgbClr val="3A3A3A"/>
                </a:solidFill>
                <a:latin typeface="Arial"/>
              </a:rPr>
              <a:t>Method is correctly null for diffuse markers (</a:t>
            </a:r>
            <a:r>
              <a:rPr sz="1500" b="0" i="0" dirty="0" err="1">
                <a:solidFill>
                  <a:srgbClr val="3A3A3A"/>
                </a:solidFill>
                <a:latin typeface="Arial"/>
              </a:rPr>
              <a:t>cytokeratins</a:t>
            </a:r>
            <a:r>
              <a:rPr sz="1500" b="0" i="0" dirty="0">
                <a:solidFill>
                  <a:srgbClr val="3A3A3A"/>
                </a:solidFill>
                <a:latin typeface="Arial"/>
              </a:rPr>
              <a:t>, housekeeping anchors) and elevated for focal pairs (paracrine, infection, stromal, immune). Bivariate K under this null detects excess spatial co-association beyond marginal density.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20000" y="4932000"/>
            <a:ext cx="8820000" cy="528794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200" b="1" i="0" dirty="0">
                <a:solidFill>
                  <a:srgbClr val="500778"/>
                </a:solidFill>
                <a:latin typeface="Arial"/>
              </a:rPr>
              <a:t>Results </a:t>
            </a:r>
            <a:r>
              <a:rPr lang="en-GB" sz="3200" b="1" dirty="0">
                <a:solidFill>
                  <a:srgbClr val="500778"/>
                </a:solidFill>
                <a:latin typeface="Arial"/>
              </a:rPr>
              <a:t>|</a:t>
            </a:r>
            <a:r>
              <a:rPr sz="3200" b="1" i="0" dirty="0">
                <a:solidFill>
                  <a:srgbClr val="500778"/>
                </a:solidFill>
                <a:latin typeface="Arial"/>
              </a:rPr>
              <a:t> Infection Biology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520000" y="5490000"/>
            <a:ext cx="8820000" cy="25200"/>
          </a:xfrm>
          <a:prstGeom prst="rect">
            <a:avLst/>
          </a:prstGeom>
          <a:solidFill>
            <a:srgbClr val="500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20520000" y="5616000"/>
            <a:ext cx="8820000" cy="1080000"/>
          </a:xfrm>
          <a:prstGeom prst="roundRect">
            <a:avLst>
              <a:gd name="adj" fmla="val 3000"/>
            </a:avLst>
          </a:prstGeom>
          <a:solidFill>
            <a:srgbClr val="500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2248000" y="5688000"/>
            <a:ext cx="6948000" cy="792841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650" b="1" i="0" dirty="0">
                <a:solidFill>
                  <a:srgbClr val="FFFFFF"/>
                </a:solidFill>
                <a:latin typeface="Arial"/>
              </a:rPr>
              <a:t>Immune cell-communication pairs preferentially co-</a:t>
            </a:r>
            <a:r>
              <a:rPr sz="1650" b="1" i="0" dirty="0" err="1">
                <a:solidFill>
                  <a:srgbClr val="FFFFFF"/>
                </a:solidFill>
                <a:latin typeface="Arial"/>
              </a:rPr>
              <a:t>localise</a:t>
            </a:r>
            <a:r>
              <a:rPr sz="1650" b="1" i="0" dirty="0">
                <a:solidFill>
                  <a:srgbClr val="FFFFFF"/>
                </a:solidFill>
                <a:latin typeface="Arial"/>
              </a:rPr>
              <a:t> on infected tissue </a:t>
            </a:r>
            <a:r>
              <a:rPr lang="en-GB" sz="1650" b="1" i="0" dirty="0">
                <a:solidFill>
                  <a:srgbClr val="FFFFFF"/>
                </a:solidFill>
                <a:latin typeface="Arial"/>
              </a:rPr>
              <a:t>-</a:t>
            </a:r>
            <a:r>
              <a:rPr sz="1650" b="1" i="0" dirty="0">
                <a:solidFill>
                  <a:srgbClr val="FFFFFF"/>
                </a:solidFill>
                <a:latin typeface="Arial"/>
              </a:rPr>
              <a:t> recovered with no segmentation step.</a:t>
            </a:r>
          </a:p>
          <a:p>
            <a:pPr algn="l"/>
            <a:r>
              <a:rPr sz="1350" b="0" i="0" dirty="0">
                <a:solidFill>
                  <a:srgbClr val="C9A8D4"/>
                </a:solidFill>
                <a:latin typeface="Arial"/>
              </a:rPr>
              <a:t>Controls separate by </a:t>
            </a:r>
            <a:r>
              <a:rPr sz="1350" b="1" i="0" dirty="0">
                <a:solidFill>
                  <a:srgbClr val="FFFFFF"/>
                </a:solidFill>
                <a:latin typeface="Arial"/>
              </a:rPr>
              <a:t>+2.67 envelope half-widths</a:t>
            </a:r>
            <a:r>
              <a:rPr sz="1350" b="0" i="0" dirty="0">
                <a:solidFill>
                  <a:srgbClr val="C9A8D4"/>
                </a:solidFill>
                <a:latin typeface="Arial"/>
              </a:rPr>
              <a:t>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92000" y="5670000"/>
            <a:ext cx="1584000" cy="97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</a:rPr>
              <a:t>5/6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C9A8D4"/>
                </a:solidFill>
                <a:latin typeface="Arial"/>
              </a:rPr>
              <a:t>immune pairs
positive on the
infected strip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20000" y="6840000"/>
            <a:ext cx="8820000" cy="1200773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850" b="0" i="0" dirty="0">
                <a:solidFill>
                  <a:srgbClr val="2C2C2C"/>
                </a:solidFill>
                <a:latin typeface="Arial"/>
              </a:rPr>
              <a:t>Antigen presentation, T-cell recruitment and antiviral monocyte </a:t>
            </a:r>
            <a:r>
              <a:rPr sz="1850" b="0" i="0" dirty="0" err="1">
                <a:solidFill>
                  <a:srgbClr val="2C2C2C"/>
                </a:solidFill>
                <a:latin typeface="Arial"/>
              </a:rPr>
              <a:t>signalling</a:t>
            </a:r>
            <a:r>
              <a:rPr sz="1850" b="0" i="0" dirty="0">
                <a:solidFill>
                  <a:srgbClr val="2C2C2C"/>
                </a:solidFill>
                <a:latin typeface="Arial"/>
              </a:rPr>
              <a:t> all preferentially co-</a:t>
            </a:r>
            <a:r>
              <a:rPr sz="1850" b="0" i="0" dirty="0" err="1">
                <a:solidFill>
                  <a:srgbClr val="2C2C2C"/>
                </a:solidFill>
                <a:latin typeface="Arial"/>
              </a:rPr>
              <a:t>localise</a:t>
            </a:r>
            <a:r>
              <a:rPr sz="1850" b="0" i="0" dirty="0">
                <a:solidFill>
                  <a:srgbClr val="2C2C2C"/>
                </a:solidFill>
                <a:latin typeface="Arial"/>
              </a:rPr>
              <a:t> on the infected strip </a:t>
            </a:r>
            <a:r>
              <a:rPr lang="en-GB" sz="1850" b="0" i="0" dirty="0">
                <a:solidFill>
                  <a:srgbClr val="2C2C2C"/>
                </a:solidFill>
                <a:latin typeface="Arial"/>
              </a:rPr>
              <a:t>-</a:t>
            </a:r>
            <a:r>
              <a:rPr sz="1850" b="0" i="0" dirty="0">
                <a:solidFill>
                  <a:srgbClr val="2C2C2C"/>
                </a:solidFill>
                <a:latin typeface="Arial"/>
              </a:rPr>
              <a:t> the textbook adaptive immune response to RSV (Openshaw 2017; Russell 2017), recovered here with no segmentation step.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20000" y="8044807"/>
            <a:ext cx="8820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300" b="1" i="0">
                <a:solidFill>
                  <a:srgbClr val="6A1B9A"/>
                </a:solidFill>
                <a:latin typeface="Arial"/>
              </a:rPr>
              <a:t>Infection signalling boost</a:t>
            </a:r>
          </a:p>
        </p:txBody>
      </p:sp>
      <p:pic>
        <p:nvPicPr>
          <p:cNvPr id="83" name="Picture 82" descr="13_F_infection_signatur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330000" y="8494807"/>
            <a:ext cx="7200000" cy="4485155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20520000" y="13069963"/>
            <a:ext cx="8820000" cy="2006221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 i="0" dirty="0">
                <a:solidFill>
                  <a:srgbClr val="500778"/>
                </a:solidFill>
                <a:latin typeface="Arial"/>
              </a:rPr>
              <a:t>Fig 10. </a:t>
            </a:r>
            <a:r>
              <a:rPr sz="1550" b="0" i="0" dirty="0">
                <a:solidFill>
                  <a:srgbClr val="3A3A3A"/>
                </a:solidFill>
                <a:latin typeface="Arial"/>
              </a:rPr>
              <a:t>Per-pair Strip-2 boost for the surviving infection-response pairs. Immune cell-communication pairs are positive (5/6): antigen presentation onto T cells (HLA-DRA×CD3D, +0.74; Roche &amp; Furuta 2015), chemokine-driven T-cell recruitment (CXCL10×CD3D, +0.59; Groom &amp; Luster 2011) and macrophage antigen presentation (HLA-DRA×CD68, +0.32) </a:t>
            </a:r>
            <a:r>
              <a:rPr lang="en-GB" sz="1550" b="0" i="0" dirty="0">
                <a:solidFill>
                  <a:srgbClr val="3A3A3A"/>
                </a:solidFill>
                <a:latin typeface="Arial"/>
              </a:rPr>
              <a:t>-</a:t>
            </a:r>
            <a:r>
              <a:rPr sz="1550" b="0" i="0" dirty="0">
                <a:solidFill>
                  <a:srgbClr val="3A3A3A"/>
                </a:solidFill>
                <a:latin typeface="Arial"/>
              </a:rPr>
              <a:t> the expected adaptive response to RSV (Openshaw 2017). A paradoxical second finding only a segmentation-free method can surface: antiviral interferon-stimulated genes paired with epithelium (ISG15×KRT8, MX1×KRT5; Schoggins 2011) move off infected tissue, consistent with epithelial loss redistributing antiviral activity into immune cells.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20000" y="15094184"/>
            <a:ext cx="8820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300" b="1" i="0">
                <a:solidFill>
                  <a:srgbClr val="6A1B9A"/>
                </a:solidFill>
                <a:latin typeface="Arial"/>
              </a:rPr>
              <a:t>Co-localisation networks</a:t>
            </a:r>
          </a:p>
        </p:txBody>
      </p:sp>
      <p:pic>
        <p:nvPicPr>
          <p:cNvPr id="86" name="Picture 85" descr="13_G_networ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520000" y="15544184"/>
            <a:ext cx="8820000" cy="338156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20520000" y="19015751"/>
            <a:ext cx="8820000" cy="1001653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 i="0" dirty="0">
                <a:solidFill>
                  <a:srgbClr val="500778"/>
                </a:solidFill>
                <a:latin typeface="Arial"/>
              </a:rPr>
              <a:t>Fig 11. </a:t>
            </a:r>
            <a:r>
              <a:rPr sz="1550" b="0" i="0" dirty="0">
                <a:solidFill>
                  <a:srgbClr val="3A3A3A"/>
                </a:solidFill>
                <a:latin typeface="Arial"/>
              </a:rPr>
              <a:t>Top-50 spatial co-association edges per strip with Louvain community detection. Communities are spatial </a:t>
            </a:r>
            <a:r>
              <a:rPr sz="1550" b="0" i="0" dirty="0" err="1">
                <a:solidFill>
                  <a:srgbClr val="3A3A3A"/>
                </a:solidFill>
                <a:latin typeface="Arial"/>
              </a:rPr>
              <a:t>signalling</a:t>
            </a:r>
            <a:r>
              <a:rPr sz="1550" b="0" i="0" dirty="0">
                <a:solidFill>
                  <a:srgbClr val="3A3A3A"/>
                </a:solidFill>
                <a:latin typeface="Arial"/>
              </a:rPr>
              <a:t> modules </a:t>
            </a:r>
            <a:r>
              <a:rPr lang="en-GB" sz="1550" b="0" i="0" dirty="0">
                <a:solidFill>
                  <a:srgbClr val="3A3A3A"/>
                </a:solidFill>
                <a:latin typeface="Arial"/>
              </a:rPr>
              <a:t>-</a:t>
            </a:r>
            <a:r>
              <a:rPr sz="1550" b="0" i="0" dirty="0">
                <a:solidFill>
                  <a:srgbClr val="3A3A3A"/>
                </a:solidFill>
                <a:latin typeface="Arial"/>
              </a:rPr>
              <a:t> interferon response, chemokine </a:t>
            </a:r>
            <a:r>
              <a:rPr sz="1550" b="0" i="0" dirty="0" err="1">
                <a:solidFill>
                  <a:srgbClr val="3A3A3A"/>
                </a:solidFill>
                <a:latin typeface="Arial"/>
              </a:rPr>
              <a:t>signalling</a:t>
            </a:r>
            <a:r>
              <a:rPr sz="1550" b="0" i="0" dirty="0">
                <a:solidFill>
                  <a:srgbClr val="3A3A3A"/>
                </a:solidFill>
                <a:latin typeface="Arial"/>
              </a:rPr>
              <a:t>, stromal ECM  recovered without any cell segmentation. Strip 2 (infected) carries more and larger modules than the controls.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520000" y="20035405"/>
            <a:ext cx="8820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300" b="1" i="0">
                <a:solidFill>
                  <a:srgbClr val="6A1B9A"/>
                </a:solidFill>
                <a:latin typeface="Arial"/>
              </a:rPr>
              <a:t>Spatial signatures (UMAP)</a:t>
            </a:r>
          </a:p>
        </p:txBody>
      </p:sp>
      <p:pic>
        <p:nvPicPr>
          <p:cNvPr id="89" name="Picture 88" descr="13_H_umap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870000" y="20485405"/>
            <a:ext cx="6120000" cy="5419132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20520000" y="25994537"/>
            <a:ext cx="8820000" cy="50737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 i="0" dirty="0">
                <a:solidFill>
                  <a:srgbClr val="500778"/>
                </a:solidFill>
                <a:latin typeface="Arial"/>
              </a:rPr>
              <a:t>Fig 12. </a:t>
            </a:r>
            <a:r>
              <a:rPr sz="1550" b="0" i="0" dirty="0">
                <a:solidFill>
                  <a:srgbClr val="3A3A3A"/>
                </a:solidFill>
                <a:latin typeface="Arial"/>
              </a:rPr>
              <a:t>Each (pair, strip) treated as a 50-dim L(r) curve-shape vector, embedded with UMAP. </a:t>
            </a:r>
            <a:r>
              <a:rPr lang="en-GB" sz="1550" dirty="0">
                <a:solidFill>
                  <a:srgbClr val="3A3A3A"/>
                </a:solidFill>
                <a:latin typeface="Arial"/>
              </a:rPr>
              <a:t>T</a:t>
            </a:r>
            <a:r>
              <a:rPr sz="1550" b="0" i="0" dirty="0">
                <a:solidFill>
                  <a:srgbClr val="3A3A3A"/>
                </a:solidFill>
                <a:latin typeface="Arial"/>
              </a:rPr>
              <a:t>he method recovers biological grouping as soft visual structure from raw transcripts alone.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520000" y="27032191"/>
            <a:ext cx="8820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200" b="1" i="0">
                <a:solidFill>
                  <a:srgbClr val="500778"/>
                </a:solidFill>
                <a:latin typeface="Arial"/>
              </a:rPr>
              <a:t>Where NoSegs Sits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520000" y="27590191"/>
            <a:ext cx="8820000" cy="25200"/>
          </a:xfrm>
          <a:prstGeom prst="rect">
            <a:avLst/>
          </a:prstGeom>
          <a:solidFill>
            <a:srgbClr val="500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0520000" y="27716191"/>
            <a:ext cx="8820000" cy="143130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850" b="0" i="0">
                <a:solidFill>
                  <a:srgbClr val="2C2C2C"/>
                </a:solidFill>
                <a:latin typeface="Arial"/>
              </a:rPr>
              <a:t>No existing tool tests ligand–receptor co-localisation on raw transcripts. Cell-level methods require segmentation or cell-typing first; the one segmentation-free neighbour, FICTURE, infers tissue domains rather than pairwise interactions. NoSegs is the only method that satisfies all four capabilities at once (Fig 13).</a:t>
            </a:r>
          </a:p>
        </p:txBody>
      </p:sp>
      <p:pic>
        <p:nvPicPr>
          <p:cNvPr id="94" name="Picture 93" descr="14_T_tool_positioning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510000" y="29129501"/>
            <a:ext cx="6840000" cy="3759254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20520000" y="32978755"/>
            <a:ext cx="8820000" cy="1237193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 i="0" dirty="0">
                <a:solidFill>
                  <a:srgbClr val="500778"/>
                </a:solidFill>
                <a:latin typeface="Arial"/>
              </a:rPr>
              <a:t>Fig 13. </a:t>
            </a:r>
            <a:r>
              <a:rPr sz="1550" b="0" i="0" dirty="0">
                <a:solidFill>
                  <a:srgbClr val="3A3A3A"/>
                </a:solidFill>
                <a:latin typeface="Arial"/>
              </a:rPr>
              <a:t>No published tool screens LR co-</a:t>
            </a:r>
            <a:r>
              <a:rPr sz="1550" b="0" i="0" dirty="0" err="1">
                <a:solidFill>
                  <a:srgbClr val="3A3A3A"/>
                </a:solidFill>
                <a:latin typeface="Arial"/>
              </a:rPr>
              <a:t>localisation</a:t>
            </a:r>
            <a:r>
              <a:rPr sz="1550" b="0" i="0" dirty="0">
                <a:solidFill>
                  <a:srgbClr val="3A3A3A"/>
                </a:solidFill>
                <a:latin typeface="Arial"/>
              </a:rPr>
              <a:t> on raw transcripts without segmentation. </a:t>
            </a:r>
            <a:r>
              <a:rPr sz="1550" b="0" i="0" dirty="0" err="1">
                <a:solidFill>
                  <a:srgbClr val="3A3A3A"/>
                </a:solidFill>
                <a:latin typeface="Arial"/>
              </a:rPr>
              <a:t>CellChat</a:t>
            </a:r>
            <a:r>
              <a:rPr sz="1550" b="0" i="0" dirty="0">
                <a:solidFill>
                  <a:srgbClr val="3A3A3A"/>
                </a:solidFill>
                <a:latin typeface="Arial"/>
              </a:rPr>
              <a:t>/LIANA (Jin 2021), </a:t>
            </a:r>
            <a:r>
              <a:rPr sz="1550" b="0" i="0" dirty="0" err="1">
                <a:solidFill>
                  <a:srgbClr val="3A3A3A"/>
                </a:solidFill>
                <a:latin typeface="Arial"/>
              </a:rPr>
              <a:t>Squidpy</a:t>
            </a:r>
            <a:r>
              <a:rPr sz="1550" b="0" i="0" dirty="0">
                <a:solidFill>
                  <a:srgbClr val="3A3A3A"/>
                </a:solidFill>
                <a:latin typeface="Arial"/>
              </a:rPr>
              <a:t> (Palla 2022), Bento (Mah 2024) and </a:t>
            </a:r>
            <a:r>
              <a:rPr sz="1550" b="0" i="0" dirty="0" err="1">
                <a:solidFill>
                  <a:srgbClr val="3A3A3A"/>
                </a:solidFill>
                <a:latin typeface="Arial"/>
              </a:rPr>
              <a:t>Baysor</a:t>
            </a:r>
            <a:r>
              <a:rPr sz="1550" b="0" i="0" dirty="0">
                <a:solidFill>
                  <a:srgbClr val="3A3A3A"/>
                </a:solidFill>
                <a:latin typeface="Arial"/>
              </a:rPr>
              <a:t> (Petukhov 2022) require segmentation or cell-typing; FICTURE (Si 2024) is segmentation-free but answers a different question (tissue domains); </a:t>
            </a:r>
            <a:r>
              <a:rPr sz="1550" b="0" i="0" dirty="0" err="1">
                <a:solidFill>
                  <a:srgbClr val="3A3A3A"/>
                </a:solidFill>
                <a:latin typeface="Arial"/>
              </a:rPr>
              <a:t>spatstat</a:t>
            </a:r>
            <a:r>
              <a:rPr sz="1550" b="0" i="0" dirty="0">
                <a:solidFill>
                  <a:srgbClr val="3A3A3A"/>
                </a:solidFill>
                <a:latin typeface="Arial"/>
              </a:rPr>
              <a:t> is a generic point-pattern library. </a:t>
            </a:r>
            <a:r>
              <a:rPr sz="1550" b="0" i="0" dirty="0" err="1">
                <a:solidFill>
                  <a:srgbClr val="3A3A3A"/>
                </a:solidFill>
                <a:latin typeface="Arial"/>
              </a:rPr>
              <a:t>NoSegs</a:t>
            </a:r>
            <a:r>
              <a:rPr sz="1550" b="0" i="0" dirty="0">
                <a:solidFill>
                  <a:srgbClr val="3A3A3A"/>
                </a:solidFill>
                <a:latin typeface="Arial"/>
              </a:rPr>
              <a:t> satisfies all four capabilities.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36360000"/>
            <a:ext cx="30275999" cy="5616000"/>
          </a:xfrm>
          <a:prstGeom prst="rect">
            <a:avLst/>
          </a:prstGeom>
          <a:solidFill>
            <a:srgbClr val="500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0" y="36360000"/>
            <a:ext cx="30275999" cy="43200"/>
          </a:xfrm>
          <a:prstGeom prst="rect">
            <a:avLst/>
          </a:prstGeom>
          <a:solidFill>
            <a:srgbClr val="C9A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20000" y="36540000"/>
            <a:ext cx="11160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Conclusions &amp; Next Steps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0000" y="36972000"/>
            <a:ext cx="11160000" cy="1703731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228600" indent="-228600" algn="l">
              <a:lnSpc>
                <a:spcPct val="103000"/>
              </a:lnSpc>
              <a:spcAft>
                <a:spcPts val="500"/>
              </a:spcAft>
              <a:buFont typeface="Arial"/>
              <a:buChar char="•"/>
            </a:pPr>
            <a:r>
              <a:rPr sz="1500" b="0" i="0" dirty="0">
                <a:solidFill>
                  <a:srgbClr val="FFFFFF"/>
                </a:solidFill>
                <a:latin typeface="Arial"/>
              </a:rPr>
              <a:t>Bivariate Ripley's K on raw transcript point clouds detects LR co-</a:t>
            </a:r>
            <a:r>
              <a:rPr sz="1500" b="0" i="0" dirty="0" err="1">
                <a:solidFill>
                  <a:srgbClr val="FFFFFF"/>
                </a:solidFill>
                <a:latin typeface="Arial"/>
              </a:rPr>
              <a:t>localisation</a:t>
            </a:r>
            <a:r>
              <a:rPr sz="1500" b="0" i="0" dirty="0">
                <a:solidFill>
                  <a:srgbClr val="FFFFFF"/>
                </a:solidFill>
                <a:latin typeface="Arial"/>
              </a:rPr>
              <a:t> with no cell segmentation step.</a:t>
            </a:r>
          </a:p>
          <a:p>
            <a:pPr marL="228600" indent="-228600" algn="l">
              <a:lnSpc>
                <a:spcPct val="103000"/>
              </a:lnSpc>
              <a:spcAft>
                <a:spcPts val="500"/>
              </a:spcAft>
              <a:buFont typeface="Arial"/>
              <a:buChar char="•"/>
            </a:pPr>
            <a:r>
              <a:rPr sz="1500" b="0" i="0" dirty="0">
                <a:solidFill>
                  <a:srgbClr val="FFFFFF"/>
                </a:solidFill>
                <a:latin typeface="Arial"/>
              </a:rPr>
              <a:t>Discriminates positive from negative controls by effect size (separation = +2.67 envelope half-widths under the production window).</a:t>
            </a:r>
          </a:p>
          <a:p>
            <a:pPr marL="228600" indent="-228600" algn="l">
              <a:lnSpc>
                <a:spcPct val="103000"/>
              </a:lnSpc>
              <a:spcAft>
                <a:spcPts val="1000"/>
              </a:spcAft>
              <a:buFont typeface="Arial"/>
              <a:buChar char="•"/>
            </a:pPr>
            <a:r>
              <a:rPr sz="1500" b="0" i="0" dirty="0">
                <a:solidFill>
                  <a:srgbClr val="FFFFFF"/>
                </a:solidFill>
                <a:latin typeface="Arial"/>
              </a:rPr>
              <a:t>Fills a vacant niche: Bento, </a:t>
            </a:r>
            <a:r>
              <a:rPr sz="1500" b="0" i="0" dirty="0" err="1">
                <a:solidFill>
                  <a:srgbClr val="FFFFFF"/>
                </a:solidFill>
                <a:latin typeface="Arial"/>
              </a:rPr>
              <a:t>Squidpy</a:t>
            </a:r>
            <a:r>
              <a:rPr sz="1500" b="0" i="0" dirty="0">
                <a:solidFill>
                  <a:srgbClr val="FFFFFF"/>
                </a:solidFill>
                <a:latin typeface="Arial"/>
              </a:rPr>
              <a:t>, </a:t>
            </a:r>
            <a:r>
              <a:rPr sz="1500" b="0" i="0" dirty="0" err="1">
                <a:solidFill>
                  <a:srgbClr val="FFFFFF"/>
                </a:solidFill>
                <a:latin typeface="Arial"/>
              </a:rPr>
              <a:t>CellChat</a:t>
            </a:r>
            <a:r>
              <a:rPr sz="1500" b="0" i="0" dirty="0">
                <a:solidFill>
                  <a:srgbClr val="FFFFFF"/>
                </a:solidFill>
                <a:latin typeface="Arial"/>
              </a:rPr>
              <a:t>, LIANA all require segmentation</a:t>
            </a:r>
            <a:r>
              <a:rPr lang="en-GB" sz="1500" dirty="0">
                <a:solidFill>
                  <a:srgbClr val="FFFFFF"/>
                </a:solidFill>
                <a:latin typeface="Arial"/>
              </a:rPr>
              <a:t> -</a:t>
            </a:r>
            <a:r>
              <a:rPr sz="15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FFFFFF"/>
                </a:solidFill>
                <a:latin typeface="Arial"/>
              </a:rPr>
              <a:t>NoSegs</a:t>
            </a:r>
            <a:r>
              <a:rPr sz="1500" b="0" i="0" dirty="0">
                <a:solidFill>
                  <a:srgbClr val="FFFFFF"/>
                </a:solidFill>
                <a:latin typeface="Arial"/>
              </a:rPr>
              <a:t> does not.</a:t>
            </a:r>
          </a:p>
          <a:p>
            <a:pPr algn="l">
              <a:lnSpc>
                <a:spcPct val="103000"/>
              </a:lnSpc>
            </a:pPr>
            <a:r>
              <a:rPr sz="1500" b="1" i="0" dirty="0">
                <a:solidFill>
                  <a:srgbClr val="C9A8D4"/>
                </a:solidFill>
                <a:latin typeface="Arial"/>
              </a:rPr>
              <a:t>Next: </a:t>
            </a:r>
            <a:r>
              <a:rPr lang="en-GB" sz="1500" dirty="0">
                <a:solidFill>
                  <a:srgbClr val="FFFFFF"/>
                </a:solidFill>
                <a:latin typeface="Arial"/>
              </a:rPr>
              <a:t>E</a:t>
            </a:r>
            <a:r>
              <a:rPr sz="1500" b="0" i="0" dirty="0" err="1">
                <a:solidFill>
                  <a:srgbClr val="FFFFFF"/>
                </a:solidFill>
                <a:latin typeface="Arial"/>
              </a:rPr>
              <a:t>xtended</a:t>
            </a:r>
            <a:r>
              <a:rPr sz="1500" b="0" i="0" dirty="0">
                <a:solidFill>
                  <a:srgbClr val="FFFFFF"/>
                </a:solidFill>
                <a:latin typeface="Arial"/>
              </a:rPr>
              <a:t> cytokeratin/housekeeping anchor panel; marker-gene pseudo-segmentation for cell-type stratification; benchmark vs </a:t>
            </a:r>
            <a:r>
              <a:rPr sz="1500" b="0" i="0" dirty="0" err="1">
                <a:solidFill>
                  <a:srgbClr val="FFFFFF"/>
                </a:solidFill>
                <a:latin typeface="Arial"/>
              </a:rPr>
              <a:t>Squidpy</a:t>
            </a:r>
            <a:r>
              <a:rPr sz="15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FFFFFF"/>
                </a:solidFill>
                <a:latin typeface="Arial"/>
              </a:rPr>
              <a:t>gr.ripley</a:t>
            </a:r>
            <a:r>
              <a:rPr sz="1500" b="0" i="0" dirty="0">
                <a:solidFill>
                  <a:srgbClr val="FFFFFF"/>
                </a:solidFill>
                <a:latin typeface="Arial"/>
              </a:rPr>
              <a:t> on cell-level reductions.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780000" y="36540000"/>
            <a:ext cx="10800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Key References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780000" y="36972000"/>
            <a:ext cx="10800000" cy="3252617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 dirty="0">
                <a:solidFill>
                  <a:srgbClr val="C9A8D4"/>
                </a:solidFill>
                <a:latin typeface="Arial"/>
              </a:rPr>
              <a:t>1. 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Ripley BD (1976) J. Appl. Prob. 13:255–266</a:t>
            </a:r>
            <a:r>
              <a:rPr lang="en-GB" sz="1150" b="0" i="0" dirty="0">
                <a:solidFill>
                  <a:srgbClr val="FFFFFF"/>
                </a:solidFill>
                <a:latin typeface="Arial"/>
              </a:rPr>
              <a:t> |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GB" sz="1150" dirty="0">
                <a:solidFill>
                  <a:srgbClr val="FFFFFF"/>
                </a:solidFill>
                <a:latin typeface="Arial"/>
              </a:rPr>
              <a:t>T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he K-function.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 dirty="0">
                <a:solidFill>
                  <a:srgbClr val="C9A8D4"/>
                </a:solidFill>
                <a:latin typeface="Arial"/>
              </a:rPr>
              <a:t>2. 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Diggle PJ (2003) Statistical Analysis of Spatial Point Patterns, 2nd ed. Arnold.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 dirty="0">
                <a:solidFill>
                  <a:srgbClr val="C9A8D4"/>
                </a:solidFill>
                <a:latin typeface="Arial"/>
              </a:rPr>
              <a:t>3. 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Baddeley A, Rubak E, Turner R (2015) Spatial Point Patterns. CRC Press.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 dirty="0">
                <a:solidFill>
                  <a:srgbClr val="C9A8D4"/>
                </a:solidFill>
                <a:latin typeface="Arial"/>
              </a:rPr>
              <a:t>4. 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Myllymäki M et al. (2017) J. R. Stat. Soc. B 79:381–404</a:t>
            </a:r>
            <a:r>
              <a:rPr lang="en-GB" sz="1150" b="0" i="0" dirty="0">
                <a:solidFill>
                  <a:srgbClr val="FFFFFF"/>
                </a:solidFill>
                <a:latin typeface="Arial"/>
              </a:rPr>
              <a:t> | Rank 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envelope test.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 dirty="0">
                <a:solidFill>
                  <a:srgbClr val="C9A8D4"/>
                </a:solidFill>
                <a:latin typeface="Arial"/>
              </a:rPr>
              <a:t>5. 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He S et al. (2022) Nat. </a:t>
            </a:r>
            <a:r>
              <a:rPr sz="1150" b="0" i="0" dirty="0" err="1">
                <a:solidFill>
                  <a:srgbClr val="FFFFFF"/>
                </a:solidFill>
                <a:latin typeface="Arial"/>
              </a:rPr>
              <a:t>Biotechnol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. 40:1794–1806 </a:t>
            </a:r>
            <a:r>
              <a:rPr lang="en-GB" sz="1150" b="0" i="0" dirty="0">
                <a:solidFill>
                  <a:srgbClr val="FFFFFF"/>
                </a:solidFill>
                <a:latin typeface="Arial"/>
              </a:rPr>
              <a:t>|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Arial"/>
              </a:rPr>
              <a:t>CosMx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 SMI platform.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 dirty="0">
                <a:solidFill>
                  <a:srgbClr val="C9A8D4"/>
                </a:solidFill>
                <a:latin typeface="Arial"/>
              </a:rPr>
              <a:t>6. 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Petukhov V et al. (2022) Nat. </a:t>
            </a:r>
            <a:r>
              <a:rPr sz="1150" b="0" i="0" dirty="0" err="1">
                <a:solidFill>
                  <a:srgbClr val="FFFFFF"/>
                </a:solidFill>
                <a:latin typeface="Arial"/>
              </a:rPr>
              <a:t>Biotechnol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. 40:345–354 </a:t>
            </a:r>
            <a:r>
              <a:rPr lang="en-GB" sz="1150" b="0" i="0" dirty="0">
                <a:solidFill>
                  <a:srgbClr val="FFFFFF"/>
                </a:solidFill>
                <a:latin typeface="Arial"/>
              </a:rPr>
              <a:t>|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Arial"/>
              </a:rPr>
              <a:t>Baysor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 segmentation.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 dirty="0">
                <a:solidFill>
                  <a:srgbClr val="C9A8D4"/>
                </a:solidFill>
                <a:latin typeface="Arial"/>
              </a:rPr>
              <a:t>7. 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Si Y et al. (2024) Nat. Methods 21:1843–1854 </a:t>
            </a:r>
            <a:r>
              <a:rPr lang="en-GB" sz="1150" b="0" i="0" dirty="0">
                <a:solidFill>
                  <a:srgbClr val="FFFFFF"/>
                </a:solidFill>
                <a:latin typeface="Arial"/>
              </a:rPr>
              <a:t>|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 FICTURE (segmentation-free).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 dirty="0">
                <a:solidFill>
                  <a:srgbClr val="C9A8D4"/>
                </a:solidFill>
                <a:latin typeface="Arial"/>
              </a:rPr>
              <a:t>8. 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Marco Salas S et al. (2025) Nat. Methods 22:813–823 </a:t>
            </a:r>
            <a:r>
              <a:rPr lang="en-GB" sz="1150" b="0" i="0" dirty="0">
                <a:solidFill>
                  <a:srgbClr val="FFFFFF"/>
                </a:solidFill>
                <a:latin typeface="Arial"/>
              </a:rPr>
              <a:t>Z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 Xenium QA/segmentation.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 dirty="0">
                <a:solidFill>
                  <a:srgbClr val="C9A8D4"/>
                </a:solidFill>
                <a:latin typeface="Arial"/>
              </a:rPr>
              <a:t>9. 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Palla G et al. (2022) Nat. Methods 19:171–178 </a:t>
            </a:r>
            <a:r>
              <a:rPr lang="en-GB" sz="1150" b="0" i="0" dirty="0">
                <a:solidFill>
                  <a:srgbClr val="FFFFFF"/>
                </a:solidFill>
                <a:latin typeface="Arial"/>
              </a:rPr>
              <a:t>|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Arial"/>
              </a:rPr>
              <a:t>Squidpy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 dirty="0">
                <a:solidFill>
                  <a:srgbClr val="C9A8D4"/>
                </a:solidFill>
                <a:latin typeface="Arial"/>
              </a:rPr>
              <a:t>10. 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Mah CK et al. (2024) Genome Biol. 25:82 </a:t>
            </a:r>
            <a:r>
              <a:rPr lang="en-GB" sz="1150" b="0" i="0" dirty="0">
                <a:solidFill>
                  <a:srgbClr val="FFFFFF"/>
                </a:solidFill>
                <a:latin typeface="Arial"/>
              </a:rPr>
              <a:t>|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 Bento.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 dirty="0">
                <a:solidFill>
                  <a:srgbClr val="C9A8D4"/>
                </a:solidFill>
                <a:latin typeface="Arial"/>
              </a:rPr>
              <a:t>11. 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Jin S et al. (2021) Nat. Commun. 12:1088 </a:t>
            </a:r>
            <a:r>
              <a:rPr lang="en-GB" sz="1150" b="0" i="0" dirty="0">
                <a:solidFill>
                  <a:srgbClr val="FFFFFF"/>
                </a:solidFill>
                <a:latin typeface="Arial"/>
              </a:rPr>
              <a:t>|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Arial"/>
              </a:rPr>
              <a:t>CellChat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 / </a:t>
            </a:r>
            <a:r>
              <a:rPr sz="1150" b="0" i="0" dirty="0" err="1">
                <a:solidFill>
                  <a:srgbClr val="FFFFFF"/>
                </a:solidFill>
                <a:latin typeface="Arial"/>
              </a:rPr>
              <a:t>CellChatDB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 dirty="0">
                <a:solidFill>
                  <a:srgbClr val="C9A8D4"/>
                </a:solidFill>
                <a:latin typeface="Arial"/>
              </a:rPr>
              <a:t>12. 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Openshaw PJM et al. (2017) Annu. Rev. Immunol. 35:501–532 </a:t>
            </a:r>
            <a:r>
              <a:rPr lang="en-GB" sz="1150" b="0" i="0" dirty="0">
                <a:solidFill>
                  <a:srgbClr val="FFFFFF"/>
                </a:solidFill>
                <a:latin typeface="Arial"/>
              </a:rPr>
              <a:t>|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 RSV immunity.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 dirty="0">
                <a:solidFill>
                  <a:srgbClr val="C9A8D4"/>
                </a:solidFill>
                <a:latin typeface="Arial"/>
              </a:rPr>
              <a:t>13. 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Russell CD et al. (2017) Clin. </a:t>
            </a:r>
            <a:r>
              <a:rPr sz="1150" b="0" i="0" dirty="0" err="1">
                <a:solidFill>
                  <a:srgbClr val="FFFFFF"/>
                </a:solidFill>
                <a:latin typeface="Arial"/>
              </a:rPr>
              <a:t>Microbiol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. Rev. 30:481–502 </a:t>
            </a:r>
            <a:r>
              <a:rPr lang="en-GB" sz="1150" dirty="0">
                <a:solidFill>
                  <a:srgbClr val="FFFFFF"/>
                </a:solidFill>
                <a:latin typeface="Arial"/>
              </a:rPr>
              <a:t>|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GB" sz="1150" dirty="0">
                <a:solidFill>
                  <a:srgbClr val="FFFFFF"/>
                </a:solidFill>
                <a:latin typeface="Arial"/>
              </a:rPr>
              <a:t>H</a:t>
            </a:r>
            <a:r>
              <a:rPr sz="1150" b="0" i="0" dirty="0" err="1">
                <a:solidFill>
                  <a:srgbClr val="FFFFFF"/>
                </a:solidFill>
                <a:latin typeface="Arial"/>
              </a:rPr>
              <a:t>uman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 RSV response.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 dirty="0">
                <a:solidFill>
                  <a:srgbClr val="C9A8D4"/>
                </a:solidFill>
                <a:latin typeface="Arial"/>
              </a:rPr>
              <a:t>14. 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Schoggins JW et al. (2011) Nature 472:481–485 </a:t>
            </a:r>
            <a:r>
              <a:rPr lang="en-GB" sz="1150" b="0" i="0" dirty="0">
                <a:solidFill>
                  <a:srgbClr val="FFFFFF"/>
                </a:solidFill>
                <a:latin typeface="Arial"/>
              </a:rPr>
              <a:t>|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 ISG antiviral effectors.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 dirty="0">
                <a:solidFill>
                  <a:srgbClr val="C9A8D4"/>
                </a:solidFill>
                <a:latin typeface="Arial"/>
              </a:rPr>
              <a:t>15. 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Roche PA, Furuta K (2015) Nat. Rev. Immunol. 15:203–216 </a:t>
            </a:r>
            <a:r>
              <a:rPr lang="en-GB" sz="1150" b="0" i="0" dirty="0">
                <a:solidFill>
                  <a:srgbClr val="FFFFFF"/>
                </a:solidFill>
                <a:latin typeface="Arial"/>
              </a:rPr>
              <a:t>|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 MHC class II.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 dirty="0">
                <a:solidFill>
                  <a:srgbClr val="C9A8D4"/>
                </a:solidFill>
                <a:latin typeface="Arial"/>
              </a:rPr>
              <a:t>16. 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Groom JR, Luster AD (2011) Immunol. Cell Biol. 89:207–215 </a:t>
            </a:r>
            <a:r>
              <a:rPr lang="en-GB" sz="1150" b="0" i="0" dirty="0">
                <a:solidFill>
                  <a:srgbClr val="FFFFFF"/>
                </a:solidFill>
                <a:latin typeface="Arial"/>
              </a:rPr>
              <a:t>|</a:t>
            </a:r>
            <a:r>
              <a:rPr sz="1150" b="0" i="0" dirty="0">
                <a:solidFill>
                  <a:srgbClr val="FFFFFF"/>
                </a:solidFill>
                <a:latin typeface="Arial"/>
              </a:rPr>
              <a:t> CXCR3 ligands.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4120000" y="36540000"/>
            <a:ext cx="4860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Acknowledgements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4120000" y="36972000"/>
            <a:ext cx="4680000" cy="1072084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 dirty="0">
                <a:solidFill>
                  <a:srgbClr val="FFFFFF"/>
                </a:solidFill>
                <a:latin typeface="Arial"/>
              </a:rPr>
              <a:t>HPC compute courtesy of King's College London (CREATE HPC). </a:t>
            </a:r>
            <a:r>
              <a:rPr lang="en-GB" sz="1300" b="0" i="0" dirty="0">
                <a:solidFill>
                  <a:srgbClr val="FFFFFF"/>
                </a:solidFill>
                <a:latin typeface="Arial"/>
              </a:rPr>
              <a:t>Dataset courtesy of 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Nicolau Lab and clinical collaborators</a:t>
            </a:r>
            <a:r>
              <a:rPr lang="en-GB" sz="1300" dirty="0">
                <a:solidFill>
                  <a:srgbClr val="FFFFFF"/>
                </a:solidFill>
                <a:latin typeface="Arial"/>
              </a:rPr>
              <a:t>.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CellChatDB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via Jin et al. 2021. </a:t>
            </a:r>
            <a:r>
              <a:rPr lang="en-GB" sz="1300" b="0" i="0" dirty="0">
                <a:solidFill>
                  <a:srgbClr val="FFFFFF"/>
                </a:solidFill>
                <a:latin typeface="Arial"/>
              </a:rPr>
              <a:t>Thank you to Dr Dan Nicolau for project supervision and for his ideas and wisdom.</a:t>
            </a:r>
            <a:endParaRPr sz="13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0" y="42084000"/>
            <a:ext cx="30275999" cy="720000"/>
          </a:xfrm>
          <a:prstGeom prst="rect">
            <a:avLst/>
          </a:prstGeom>
          <a:solidFill>
            <a:srgbClr val="3A0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720000" y="42174000"/>
            <a:ext cx="28800000" cy="405683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400" b="0" i="0" dirty="0">
                <a:solidFill>
                  <a:srgbClr val="C9A8D4"/>
                </a:solidFill>
                <a:latin typeface="Arial"/>
              </a:rPr>
              <a:t>github.com/</a:t>
            </a:r>
            <a:r>
              <a:rPr sz="2400" b="0" i="0" dirty="0" err="1">
                <a:solidFill>
                  <a:srgbClr val="C9A8D4"/>
                </a:solidFill>
                <a:latin typeface="Arial"/>
              </a:rPr>
              <a:t>harrydaw</a:t>
            </a:r>
            <a:r>
              <a:rPr sz="2400" b="0" i="0" dirty="0">
                <a:solidFill>
                  <a:srgbClr val="C9A8D4"/>
                </a:solidFill>
                <a:latin typeface="Arial"/>
              </a:rPr>
              <a:t>/</a:t>
            </a:r>
            <a:r>
              <a:rPr sz="2400" b="0" i="0" dirty="0" err="1">
                <a:solidFill>
                  <a:srgbClr val="C9A8D4"/>
                </a:solidFill>
                <a:latin typeface="Arial"/>
              </a:rPr>
              <a:t>cosmx-pointpattern</a:t>
            </a:r>
            <a:r>
              <a:rPr sz="2400" b="0" i="0" dirty="0">
                <a:solidFill>
                  <a:srgbClr val="C9A8D4"/>
                </a:solidFill>
                <a:latin typeface="Arial"/>
              </a:rPr>
              <a:t>    </a:t>
            </a:r>
            <a:r>
              <a:rPr lang="en-GB" sz="2400" b="0" i="0" dirty="0">
                <a:solidFill>
                  <a:srgbClr val="C9A8D4"/>
                </a:solidFill>
                <a:latin typeface="Arial"/>
              </a:rPr>
              <a:t>|</a:t>
            </a:r>
            <a:r>
              <a:rPr sz="2400" b="0" i="0" dirty="0">
                <a:solidFill>
                  <a:srgbClr val="C9A8D4"/>
                </a:solidFill>
                <a:latin typeface="Arial"/>
              </a:rPr>
              <a:t>    </a:t>
            </a:r>
            <a:r>
              <a:rPr lang="en-GB" sz="2400" b="0" i="0" dirty="0">
                <a:solidFill>
                  <a:srgbClr val="C9A8D4"/>
                </a:solidFill>
                <a:latin typeface="Arial"/>
              </a:rPr>
              <a:t>harry.1.woodward@kcl.ac.uk |</a:t>
            </a:r>
            <a:r>
              <a:rPr sz="2400" b="0" i="0" dirty="0">
                <a:solidFill>
                  <a:srgbClr val="C9A8D4"/>
                </a:solidFill>
                <a:latin typeface="Arial"/>
              </a:rPr>
              <a:t>    MSc </a:t>
            </a:r>
            <a:r>
              <a:rPr lang="en-GB" sz="2400" b="0" i="0" dirty="0">
                <a:solidFill>
                  <a:srgbClr val="C9A8D4"/>
                </a:solidFill>
                <a:latin typeface="Arial"/>
              </a:rPr>
              <a:t>Applied </a:t>
            </a:r>
            <a:r>
              <a:rPr sz="2400" b="0" i="0" dirty="0">
                <a:solidFill>
                  <a:srgbClr val="C9A8D4"/>
                </a:solidFill>
                <a:latin typeface="Arial"/>
              </a:rPr>
              <a:t>Bioinformatics </a:t>
            </a: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2A07F718-98D8-F3C5-30FE-913866CA02F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887598" y="38578421"/>
            <a:ext cx="3199462" cy="31994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1916</Words>
  <Application>Microsoft Office PowerPoint</Application>
  <PresentationFormat>Custom</PresentationFormat>
  <Paragraphs>96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Harry Woodward</cp:lastModifiedBy>
  <cp:revision>7</cp:revision>
  <dcterms:created xsi:type="dcterms:W3CDTF">2013-01-27T09:14:16Z</dcterms:created>
  <dcterms:modified xsi:type="dcterms:W3CDTF">2026-06-04T16:52:44Z</dcterms:modified>
  <cp:category/>
</cp:coreProperties>
</file>