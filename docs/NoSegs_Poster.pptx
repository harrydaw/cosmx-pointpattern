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07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8" d="100"/>
          <a:sy n="18" d="100"/>
        </p:scale>
        <p:origin x="26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1695D-9C46-4AE0-ADFC-F291F9E74004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2E1CC-7F58-4505-AE81-4F4A7F47BC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994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2E1CC-7F58-4505-AE81-4F4A7F47BC9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394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201"/>
          <p:cNvSpPr/>
          <p:nvPr/>
        </p:nvSpPr>
        <p:spPr>
          <a:xfrm>
            <a:off x="0" y="0"/>
            <a:ext cx="21384000" cy="4320000"/>
          </a:xfrm>
          <a:prstGeom prst="rect">
            <a:avLst/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540000" y="251999"/>
            <a:ext cx="1761782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 dirty="0" err="1">
                <a:solidFill>
                  <a:srgbClr val="FFFFFF"/>
                </a:solidFill>
                <a:latin typeface="Arial"/>
              </a:rPr>
              <a:t>NoSegs</a:t>
            </a:r>
            <a:r>
              <a:rPr sz="5000" b="1" i="0" dirty="0">
                <a:solidFill>
                  <a:srgbClr val="FFFFFF"/>
                </a:solidFill>
                <a:latin typeface="Arial"/>
              </a:rPr>
              <a:t>: Segmentation-Free Spatial Co-Expression Analysis</a:t>
            </a:r>
            <a:r>
              <a:rPr lang="en-GB" sz="50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5000" b="1" i="0" dirty="0">
                <a:solidFill>
                  <a:srgbClr val="FFFFFF"/>
                </a:solidFill>
                <a:latin typeface="Arial"/>
              </a:rPr>
              <a:t>of Spatial Transcriptomic Data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40000" y="2767680"/>
            <a:ext cx="185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FFFFFF"/>
                </a:solidFill>
                <a:latin typeface="Arial"/>
              </a:rPr>
              <a:t>Harry </a:t>
            </a:r>
            <a:r>
              <a:rPr lang="en-GB" dirty="0">
                <a:solidFill>
                  <a:srgbClr val="FFFFFF"/>
                </a:solidFill>
                <a:latin typeface="Arial"/>
              </a:rPr>
              <a:t>Woodward</a:t>
            </a:r>
            <a:r>
              <a:rPr sz="1800" b="0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GB" sz="180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800" b="0" i="0" dirty="0">
                <a:solidFill>
                  <a:srgbClr val="FFFFFF"/>
                </a:solidFill>
                <a:latin typeface="Arial"/>
              </a:rPr>
              <a:t>  Supervisor: </a:t>
            </a:r>
            <a:r>
              <a:rPr lang="en-GB" dirty="0">
                <a:solidFill>
                  <a:srgbClr val="FFFFFF"/>
                </a:solidFill>
                <a:latin typeface="Arial"/>
              </a:rPr>
              <a:t>Dr Dan Nicolau</a:t>
            </a:r>
            <a:r>
              <a:rPr sz="1800" b="0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GB" dirty="0">
                <a:solidFill>
                  <a:srgbClr val="FFFFFF"/>
                </a:solidFill>
                <a:latin typeface="Arial"/>
              </a:rPr>
              <a:t>|</a:t>
            </a:r>
            <a:r>
              <a:rPr sz="1800" b="0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GB" sz="1800" b="0" i="0" dirty="0">
                <a:solidFill>
                  <a:srgbClr val="FFFFFF"/>
                </a:solidFill>
                <a:latin typeface="Arial"/>
              </a:rPr>
              <a:t>Nicolau Lab  |  </a:t>
            </a:r>
            <a:r>
              <a:rPr sz="1800" b="0" i="0" dirty="0">
                <a:solidFill>
                  <a:srgbClr val="FFFFFF"/>
                </a:solidFill>
                <a:latin typeface="Arial"/>
              </a:rPr>
              <a:t>MSc Bioinformatics, King's College London  </a:t>
            </a:r>
            <a:r>
              <a:rPr lang="en-GB" sz="180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800" b="0" i="0" dirty="0">
                <a:solidFill>
                  <a:srgbClr val="FFFFFF"/>
                </a:solidFill>
                <a:latin typeface="Arial"/>
              </a:rPr>
              <a:t>  2026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54400" y="3508320"/>
            <a:ext cx="18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A8D4"/>
                </a:solidFill>
                <a:latin typeface="Arial"/>
              </a:rPr>
              <a:t>Platform: NanoString CosMx SMI  |  Tissue: Severe asthmatic RSV-infected human lung  |  ~2.66M transcripts  |  1,000-gene panel</a:t>
            </a:r>
          </a:p>
        </p:txBody>
      </p:sp>
      <p:sp>
        <p:nvSpPr>
          <p:cNvPr id="3" name="s203"/>
          <p:cNvSpPr/>
          <p:nvPr/>
        </p:nvSpPr>
        <p:spPr>
          <a:xfrm>
            <a:off x="405040" y="4500000"/>
            <a:ext cx="6480000" cy="19260000"/>
          </a:xfrm>
          <a:prstGeom prst="roundRect">
            <a:avLst>
              <a:gd name="adj" fmla="val 2000"/>
            </a:avLst>
          </a:prstGeom>
          <a:solidFill>
            <a:srgbClr val="F3EEF7"/>
          </a:solidFill>
          <a:ln w="19050">
            <a:solidFill>
              <a:srgbClr val="C9A8D4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" name="s204"/>
          <p:cNvSpPr/>
          <p:nvPr/>
        </p:nvSpPr>
        <p:spPr>
          <a:xfrm>
            <a:off x="7200000" y="4500000"/>
            <a:ext cx="6840000" cy="19260000"/>
          </a:xfrm>
          <a:prstGeom prst="roundRect">
            <a:avLst>
              <a:gd name="adj" fmla="val 2000"/>
            </a:avLst>
          </a:prstGeom>
          <a:solidFill>
            <a:srgbClr val="F3EEF7"/>
          </a:solidFill>
          <a:ln w="1905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205"/>
          <p:cNvSpPr/>
          <p:nvPr/>
        </p:nvSpPr>
        <p:spPr>
          <a:xfrm>
            <a:off x="14400000" y="4500000"/>
            <a:ext cx="6623999" cy="19260000"/>
          </a:xfrm>
          <a:prstGeom prst="roundRect">
            <a:avLst>
              <a:gd name="adj" fmla="val 2000"/>
            </a:avLst>
          </a:prstGeom>
          <a:solidFill>
            <a:srgbClr val="F3EEF7"/>
          </a:solidFill>
          <a:ln w="1905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48000" y="4716000"/>
            <a:ext cx="59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00778"/>
                </a:solidFill>
                <a:latin typeface="Arial"/>
              </a:rPr>
              <a:t>Introduction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48000" y="5256000"/>
            <a:ext cx="590399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C2C2C"/>
                </a:solidFill>
                <a:latin typeface="Arial"/>
              </a:rPr>
              <a:t>• Spatial transcriptomics maps gene expression in tissue, but standard workflows require cell segmentation </a:t>
            </a:r>
            <a:r>
              <a:rPr lang="en-GB" sz="1400" b="0" i="0" dirty="0">
                <a:solidFill>
                  <a:srgbClr val="2C2C2C"/>
                </a:solidFill>
                <a:latin typeface="Arial"/>
              </a:rPr>
              <a:t>-</a:t>
            </a:r>
            <a:r>
              <a:rPr sz="1400" b="0" i="0" dirty="0">
                <a:solidFill>
                  <a:srgbClr val="2C2C2C"/>
                </a:solidFill>
                <a:latin typeface="Arial"/>
              </a:rPr>
              <a:t> a major bottleneck prone to failure on poor-quality imaging data.
• </a:t>
            </a:r>
            <a:r>
              <a:rPr sz="1400" b="0" i="0" dirty="0" err="1">
                <a:solidFill>
                  <a:srgbClr val="2C2C2C"/>
                </a:solidFill>
                <a:latin typeface="Arial"/>
              </a:rPr>
              <a:t>NanoString</a:t>
            </a:r>
            <a:r>
              <a:rPr sz="1400" b="0" i="0" dirty="0">
                <a:solidFill>
                  <a:srgbClr val="2C2C2C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2C2C2C"/>
                </a:solidFill>
                <a:latin typeface="Arial"/>
              </a:rPr>
              <a:t>CosMx</a:t>
            </a:r>
            <a:r>
              <a:rPr sz="1400" b="0" i="0" dirty="0">
                <a:solidFill>
                  <a:srgbClr val="2C2C2C"/>
                </a:solidFill>
                <a:latin typeface="Arial"/>
              </a:rPr>
              <a:t> SMI data from RSV-infected human lung: ~42% of transcripts unassigned to cells after native segmentation. Tools (</a:t>
            </a:r>
            <a:r>
              <a:rPr sz="1400" b="0" i="0" dirty="0" err="1">
                <a:solidFill>
                  <a:srgbClr val="2C2C2C"/>
                </a:solidFill>
                <a:latin typeface="Arial"/>
              </a:rPr>
              <a:t>Cellpose</a:t>
            </a:r>
            <a:r>
              <a:rPr sz="1400" b="0" i="0" dirty="0">
                <a:solidFill>
                  <a:srgbClr val="2C2C2C"/>
                </a:solidFill>
                <a:latin typeface="Arial"/>
              </a:rPr>
              <a:t>, MOSAIK) insufficient due to poor DAPI staining.
• </a:t>
            </a:r>
            <a:r>
              <a:rPr sz="1400" b="0" i="0" dirty="0" err="1">
                <a:solidFill>
                  <a:srgbClr val="2C2C2C"/>
                </a:solidFill>
                <a:latin typeface="Arial"/>
              </a:rPr>
              <a:t>NoSegs</a:t>
            </a:r>
            <a:r>
              <a:rPr sz="1400" b="0" i="0" dirty="0">
                <a:solidFill>
                  <a:srgbClr val="2C2C2C"/>
                </a:solidFill>
                <a:latin typeface="Arial"/>
              </a:rPr>
              <a:t> treats transcripts directly as a spatial point process and asks: do genes A and B co-</a:t>
            </a:r>
            <a:r>
              <a:rPr sz="1400" b="0" i="0" dirty="0" err="1">
                <a:solidFill>
                  <a:srgbClr val="2C2C2C"/>
                </a:solidFill>
                <a:latin typeface="Arial"/>
              </a:rPr>
              <a:t>localise</a:t>
            </a:r>
            <a:r>
              <a:rPr sz="1400" b="0" i="0" dirty="0">
                <a:solidFill>
                  <a:srgbClr val="2C2C2C"/>
                </a:solidFill>
                <a:latin typeface="Arial"/>
              </a:rPr>
              <a:t> in space, beyond what tissue structure alone would predict?
• Uses bivariate Ripley's K / L functions with permutation envelopes</a:t>
            </a:r>
            <a:r>
              <a:rPr lang="en-GB" sz="1400" b="0" i="0" dirty="0">
                <a:solidFill>
                  <a:srgbClr val="2C2C2C"/>
                </a:solidFill>
                <a:latin typeface="Arial"/>
              </a:rPr>
              <a:t> -</a:t>
            </a:r>
            <a:r>
              <a:rPr sz="1400" b="0" i="0" dirty="0">
                <a:solidFill>
                  <a:srgbClr val="2C2C2C"/>
                </a:solidFill>
                <a:latin typeface="Arial"/>
              </a:rPr>
              <a:t> the framework of spatial ecology and epidemiology, applied to transcriptomics at panel scale.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48000" y="13680000"/>
            <a:ext cx="59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0778"/>
                </a:solidFill>
                <a:latin typeface="Arial"/>
              </a:rPr>
              <a:t>Dataset</a:t>
            </a:r>
          </a:p>
        </p:txBody>
      </p:sp>
      <p:sp>
        <p:nvSpPr>
          <p:cNvPr id="6" name="s206"/>
          <p:cNvSpPr/>
          <p:nvPr/>
        </p:nvSpPr>
        <p:spPr>
          <a:xfrm>
            <a:off x="648000" y="14112000"/>
            <a:ext cx="3311999" cy="324000"/>
          </a:xfrm>
          <a:prstGeom prst="rect">
            <a:avLst/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s207"/>
          <p:cNvSpPr/>
          <p:nvPr/>
        </p:nvSpPr>
        <p:spPr>
          <a:xfrm>
            <a:off x="3960000" y="14112000"/>
            <a:ext cx="2592000" cy="324000"/>
          </a:xfrm>
          <a:prstGeom prst="rect">
            <a:avLst/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720000" y="1413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Property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031999" y="1413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Value</a:t>
            </a:r>
          </a:p>
        </p:txBody>
      </p:sp>
      <p:sp>
        <p:nvSpPr>
          <p:cNvPr id="8" name="s208"/>
          <p:cNvSpPr/>
          <p:nvPr/>
        </p:nvSpPr>
        <p:spPr>
          <a:xfrm>
            <a:off x="648000" y="14436000"/>
            <a:ext cx="3311999" cy="29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209"/>
          <p:cNvSpPr/>
          <p:nvPr/>
        </p:nvSpPr>
        <p:spPr>
          <a:xfrm>
            <a:off x="3960000" y="14436000"/>
            <a:ext cx="2592000" cy="29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720000" y="144648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Arial"/>
              </a:rPr>
              <a:t>Platform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031999" y="14464800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Arial"/>
              </a:rPr>
              <a:t>CosMx SMI (NanoString)</a:t>
            </a:r>
          </a:p>
        </p:txBody>
      </p:sp>
      <p:sp>
        <p:nvSpPr>
          <p:cNvPr id="10" name="s210"/>
          <p:cNvSpPr/>
          <p:nvPr/>
        </p:nvSpPr>
        <p:spPr>
          <a:xfrm>
            <a:off x="648000" y="14742000"/>
            <a:ext cx="3311999" cy="298800"/>
          </a:xfrm>
          <a:prstGeom prst="rect">
            <a:avLst/>
          </a:prstGeom>
          <a:solidFill>
            <a:srgbClr val="F3EEF7"/>
          </a:solidFill>
          <a:ln w="635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211"/>
          <p:cNvSpPr/>
          <p:nvPr/>
        </p:nvSpPr>
        <p:spPr>
          <a:xfrm>
            <a:off x="3960000" y="14742000"/>
            <a:ext cx="2592000" cy="298800"/>
          </a:xfrm>
          <a:prstGeom prst="rect">
            <a:avLst/>
          </a:prstGeom>
          <a:solidFill>
            <a:srgbClr val="F3EEF7"/>
          </a:solidFill>
          <a:ln w="635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720000" y="147708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Arial"/>
              </a:rPr>
              <a:t>Tissue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031999" y="14770800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Arial"/>
              </a:rPr>
              <a:t>RSV-infected human lung</a:t>
            </a:r>
          </a:p>
        </p:txBody>
      </p:sp>
      <p:sp>
        <p:nvSpPr>
          <p:cNvPr id="12" name="s212"/>
          <p:cNvSpPr/>
          <p:nvPr/>
        </p:nvSpPr>
        <p:spPr>
          <a:xfrm>
            <a:off x="648000" y="15048000"/>
            <a:ext cx="3311999" cy="29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s213"/>
          <p:cNvSpPr/>
          <p:nvPr/>
        </p:nvSpPr>
        <p:spPr>
          <a:xfrm>
            <a:off x="3960000" y="15048000"/>
            <a:ext cx="2592000" cy="29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20000" y="150768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Arial"/>
              </a:rPr>
              <a:t>Transcripts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031999" y="15076800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Arial"/>
              </a:rPr>
              <a:t>~710,751 (Slide S1)</a:t>
            </a:r>
          </a:p>
        </p:txBody>
      </p:sp>
      <p:sp>
        <p:nvSpPr>
          <p:cNvPr id="14" name="s214"/>
          <p:cNvSpPr/>
          <p:nvPr/>
        </p:nvSpPr>
        <p:spPr>
          <a:xfrm>
            <a:off x="648000" y="15354000"/>
            <a:ext cx="3311999" cy="298800"/>
          </a:xfrm>
          <a:prstGeom prst="rect">
            <a:avLst/>
          </a:prstGeom>
          <a:solidFill>
            <a:srgbClr val="F3EEF7"/>
          </a:solidFill>
          <a:ln w="635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s215"/>
          <p:cNvSpPr/>
          <p:nvPr/>
        </p:nvSpPr>
        <p:spPr>
          <a:xfrm>
            <a:off x="3960000" y="15354000"/>
            <a:ext cx="2592000" cy="298800"/>
          </a:xfrm>
          <a:prstGeom prst="rect">
            <a:avLst/>
          </a:prstGeom>
          <a:solidFill>
            <a:srgbClr val="F3EEF7"/>
          </a:solidFill>
          <a:ln w="635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720000" y="15382799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Arial"/>
              </a:rPr>
              <a:t>Gene panel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031999" y="15382799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Arial"/>
              </a:rPr>
              <a:t>1,000 targets + controls</a:t>
            </a:r>
          </a:p>
        </p:txBody>
      </p:sp>
      <p:sp>
        <p:nvSpPr>
          <p:cNvPr id="16" name="s216"/>
          <p:cNvSpPr/>
          <p:nvPr/>
        </p:nvSpPr>
        <p:spPr>
          <a:xfrm>
            <a:off x="648000" y="15660000"/>
            <a:ext cx="3311999" cy="29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217"/>
          <p:cNvSpPr/>
          <p:nvPr/>
        </p:nvSpPr>
        <p:spPr>
          <a:xfrm>
            <a:off x="3960000" y="15660000"/>
            <a:ext cx="2592000" cy="29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720000" y="156888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Arial"/>
              </a:rPr>
              <a:t>L-R pairs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031999" y="15688800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Arial"/>
              </a:rPr>
              <a:t>146 via CellChatDB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48000" y="16020000"/>
            <a:ext cx="59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0778"/>
                </a:solidFill>
                <a:latin typeface="Arial"/>
              </a:rPr>
              <a:t>Validation Controls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224000" y="16459201"/>
            <a:ext cx="59039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 dirty="0">
                <a:solidFill>
                  <a:srgbClr val="2C2C2C"/>
                </a:solidFill>
                <a:latin typeface="Arial"/>
              </a:rPr>
              <a:t>  Positive: KRT8 × KRT18 (co-expressed epithelial keratins)
     L(r) above envelope at r &lt; 50 </a:t>
            </a:r>
            <a:r>
              <a:rPr sz="1350" b="0" i="0" dirty="0" err="1">
                <a:solidFill>
                  <a:srgbClr val="2C2C2C"/>
                </a:solidFill>
                <a:latin typeface="Arial"/>
              </a:rPr>
              <a:t>px</a:t>
            </a:r>
            <a:r>
              <a:rPr sz="1350" b="0" i="0" dirty="0">
                <a:solidFill>
                  <a:srgbClr val="2C2C2C"/>
                </a:solidFill>
                <a:latin typeface="Arial"/>
              </a:rPr>
              <a:t> across all 3 strips
  Negative: KRT8 × SCGB3A1 (different epithelial lineages)
     L(r) within permutation envelope
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488000" y="4716000"/>
            <a:ext cx="626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00778"/>
                </a:solidFill>
                <a:latin typeface="Arial"/>
              </a:rPr>
              <a:t>Methods — Analysis Pipeline</a:t>
            </a:r>
          </a:p>
        </p:txBody>
      </p:sp>
      <p:sp>
        <p:nvSpPr>
          <p:cNvPr id="18" name="s218"/>
          <p:cNvSpPr/>
          <p:nvPr/>
        </p:nvSpPr>
        <p:spPr>
          <a:xfrm>
            <a:off x="8100000" y="5328000"/>
            <a:ext cx="5040000" cy="1296000"/>
          </a:xfrm>
          <a:prstGeom prst="roundRect">
            <a:avLst>
              <a:gd name="adj" fmla="val 2500"/>
            </a:avLst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8243999" y="5418000"/>
            <a:ext cx="47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1. Load &amp; QC Raw Data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243999" y="5868000"/>
            <a:ext cx="475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CosMx zarr → extract transcripts → characterise FOVs</a:t>
            </a:r>
          </a:p>
        </p:txBody>
      </p:sp>
      <p:sp>
        <p:nvSpPr>
          <p:cNvPr id="20" name="s220"/>
          <p:cNvSpPr/>
          <p:nvPr/>
        </p:nvSpPr>
        <p:spPr>
          <a:xfrm>
            <a:off x="10332000" y="6606000"/>
            <a:ext cx="576000" cy="413999"/>
          </a:xfrm>
          <a:prstGeom prst="downArrow">
            <a:avLst/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s221"/>
          <p:cNvSpPr/>
          <p:nvPr/>
        </p:nvSpPr>
        <p:spPr>
          <a:xfrm>
            <a:off x="8100000" y="7020000"/>
            <a:ext cx="5040000" cy="1296000"/>
          </a:xfrm>
          <a:prstGeom prst="roundRect">
            <a:avLst>
              <a:gd name="adj" fmla="val 2500"/>
            </a:avLst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8243999" y="7110000"/>
            <a:ext cx="47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2. Strip Assignment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243999" y="7560000"/>
            <a:ext cx="47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Arial"/>
              </a:rPr>
              <a:t>Per-FOV 3-component GMM on x-coordinate
→ strip_1 (ctrl)  </a:t>
            </a:r>
            <a:r>
              <a:rPr lang="en-GB" sz="120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 strip_2 (infected)  </a:t>
            </a:r>
            <a:r>
              <a:rPr lang="en-GB" sz="1200" dirty="0">
                <a:solidFill>
                  <a:srgbClr val="FFFFFF"/>
                </a:solidFill>
                <a:latin typeface="Arial"/>
              </a:rPr>
              <a:t>|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 strip_3 (ctrl)</a:t>
            </a:r>
          </a:p>
        </p:txBody>
      </p:sp>
      <p:sp>
        <p:nvSpPr>
          <p:cNvPr id="23" name="s223"/>
          <p:cNvSpPr/>
          <p:nvPr/>
        </p:nvSpPr>
        <p:spPr>
          <a:xfrm>
            <a:off x="10332000" y="8298000"/>
            <a:ext cx="576000" cy="413999"/>
          </a:xfrm>
          <a:prstGeom prst="downArrow">
            <a:avLst/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s224"/>
          <p:cNvSpPr/>
          <p:nvPr/>
        </p:nvSpPr>
        <p:spPr>
          <a:xfrm>
            <a:off x="8100000" y="8712000"/>
            <a:ext cx="5040000" cy="1296000"/>
          </a:xfrm>
          <a:prstGeom prst="roundRect">
            <a:avLst>
              <a:gd name="adj" fmla="val 2500"/>
            </a:avLst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243999" y="8802000"/>
            <a:ext cx="47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3. DBSCAN Noise Filtering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243999" y="9252000"/>
            <a:ext cx="475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Arial"/>
              </a:rPr>
              <a:t>Adaptive eps (1-NN p97, clipped 20–30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px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)
6.8% of transcripts removed as optical noise</a:t>
            </a:r>
          </a:p>
        </p:txBody>
      </p:sp>
      <p:sp>
        <p:nvSpPr>
          <p:cNvPr id="26" name="s226"/>
          <p:cNvSpPr/>
          <p:nvPr/>
        </p:nvSpPr>
        <p:spPr>
          <a:xfrm>
            <a:off x="10332000" y="10008000"/>
            <a:ext cx="576000" cy="396000"/>
          </a:xfrm>
          <a:prstGeom prst="downArrow">
            <a:avLst/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s227"/>
          <p:cNvSpPr/>
          <p:nvPr/>
        </p:nvSpPr>
        <p:spPr>
          <a:xfrm>
            <a:off x="8100000" y="10404000"/>
            <a:ext cx="5040000" cy="1296000"/>
          </a:xfrm>
          <a:prstGeom prst="roundRect">
            <a:avLst>
              <a:gd name="adj" fmla="val 2500"/>
            </a:avLst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8243999" y="10494000"/>
            <a:ext cx="47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4. Observation Window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8243999" y="10944000"/>
            <a:ext cx="47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Arial"/>
              </a:rPr>
              <a:t>Convex hull of transcript cloud (default)
40% of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rect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area </a:t>
            </a:r>
            <a:r>
              <a:rPr lang="en-GB" sz="120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matches tissue boundary</a:t>
            </a:r>
          </a:p>
        </p:txBody>
      </p:sp>
      <p:sp>
        <p:nvSpPr>
          <p:cNvPr id="29" name="s229"/>
          <p:cNvSpPr/>
          <p:nvPr/>
        </p:nvSpPr>
        <p:spPr>
          <a:xfrm>
            <a:off x="10332000" y="11700000"/>
            <a:ext cx="576000" cy="396000"/>
          </a:xfrm>
          <a:prstGeom prst="downArrow">
            <a:avLst/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s230"/>
          <p:cNvSpPr/>
          <p:nvPr/>
        </p:nvSpPr>
        <p:spPr>
          <a:xfrm>
            <a:off x="8100000" y="12096000"/>
            <a:ext cx="5040000" cy="1296000"/>
          </a:xfrm>
          <a:prstGeom prst="roundRect">
            <a:avLst>
              <a:gd name="adj" fmla="val 2500"/>
            </a:avLst>
          </a:prstGeom>
          <a:solidFill>
            <a:srgbClr val="1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8243999" y="12186000"/>
            <a:ext cx="47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5. Bivariate Ripley's K / L Function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8243999" y="12636000"/>
            <a:ext cx="47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Arial"/>
              </a:rPr>
              <a:t>K</a:t>
            </a:r>
            <a:r>
              <a:rPr sz="1200" b="0" i="0" baseline="-25000" dirty="0">
                <a:solidFill>
                  <a:srgbClr val="FFFFFF"/>
                </a:solidFill>
                <a:latin typeface="Arial"/>
              </a:rPr>
              <a:t>AB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(r): expected co-occurrences within radius r
L(r) = √(K/π) − r  </a:t>
            </a:r>
            <a:r>
              <a:rPr lang="en-GB" sz="120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GB" sz="1200" b="0" i="0" dirty="0">
                <a:solidFill>
                  <a:srgbClr val="FFFFFF"/>
                </a:solidFill>
                <a:latin typeface="Arial"/>
              </a:rPr>
              <a:t>~ 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zero under CSR</a:t>
            </a:r>
          </a:p>
        </p:txBody>
      </p:sp>
      <p:sp>
        <p:nvSpPr>
          <p:cNvPr id="32" name="s232"/>
          <p:cNvSpPr/>
          <p:nvPr/>
        </p:nvSpPr>
        <p:spPr>
          <a:xfrm>
            <a:off x="10332000" y="13374000"/>
            <a:ext cx="576000" cy="413999"/>
          </a:xfrm>
          <a:prstGeom prst="downArrow">
            <a:avLst/>
          </a:prstGeom>
          <a:solidFill>
            <a:srgbClr val="1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s233"/>
          <p:cNvSpPr/>
          <p:nvPr/>
        </p:nvSpPr>
        <p:spPr>
          <a:xfrm>
            <a:off x="8100000" y="13787999"/>
            <a:ext cx="5040000" cy="1296000"/>
          </a:xfrm>
          <a:prstGeom prst="roundRect">
            <a:avLst>
              <a:gd name="adj" fmla="val 2500"/>
            </a:avLst>
          </a:prstGeom>
          <a:solidFill>
            <a:srgbClr val="1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8243999" y="13877999"/>
            <a:ext cx="47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6. Permutation Envelope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8243999" y="14327999"/>
            <a:ext cx="47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Arial"/>
              </a:rPr>
              <a:t>199 label-swap simulations </a:t>
            </a:r>
            <a:r>
              <a:rPr lang="en-GB" sz="120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pointwise min/max bands
Tests gene-specificity vs tissue-structure confound</a:t>
            </a:r>
          </a:p>
        </p:txBody>
      </p:sp>
      <p:sp>
        <p:nvSpPr>
          <p:cNvPr id="35" name="s235"/>
          <p:cNvSpPr/>
          <p:nvPr/>
        </p:nvSpPr>
        <p:spPr>
          <a:xfrm>
            <a:off x="10332000" y="15076800"/>
            <a:ext cx="576000" cy="403200"/>
          </a:xfrm>
          <a:prstGeom prst="downArrow">
            <a:avLst/>
          </a:prstGeom>
          <a:solidFill>
            <a:srgbClr val="1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s236"/>
          <p:cNvSpPr/>
          <p:nvPr/>
        </p:nvSpPr>
        <p:spPr>
          <a:xfrm>
            <a:off x="8100000" y="15480000"/>
            <a:ext cx="5040000" cy="1296000"/>
          </a:xfrm>
          <a:prstGeom prst="roundRect">
            <a:avLst>
              <a:gd name="adj" fmla="val 2500"/>
            </a:avLst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8243999" y="15570000"/>
            <a:ext cx="47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7. Panel-Wide L-R Screening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8243999" y="16020000"/>
            <a:ext cx="475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146 CellChatDB pairs × 3 strips via HPC SLURM
Significant: L(r) &gt; envelope for ≥3 consecutive r</a:t>
            </a:r>
          </a:p>
        </p:txBody>
      </p:sp>
      <p:sp>
        <p:nvSpPr>
          <p:cNvPr id="37" name="s238"/>
          <p:cNvSpPr/>
          <p:nvPr/>
        </p:nvSpPr>
        <p:spPr>
          <a:xfrm>
            <a:off x="10332000" y="16776000"/>
            <a:ext cx="576000" cy="396000"/>
          </a:xfrm>
          <a:prstGeom prst="downArrow">
            <a:avLst/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9" name="s239"/>
          <p:cNvSpPr/>
          <p:nvPr/>
        </p:nvSpPr>
        <p:spPr>
          <a:xfrm>
            <a:off x="8100000" y="17172000"/>
            <a:ext cx="5040000" cy="1296000"/>
          </a:xfrm>
          <a:prstGeom prst="roundRect">
            <a:avLst>
              <a:gd name="adj" fmla="val 2500"/>
            </a:avLst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8243999" y="17262000"/>
            <a:ext cx="47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8. Network Construction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8243999" y="17712000"/>
            <a:ext cx="475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FFFFFF"/>
                </a:solidFill>
                <a:latin typeface="Arial"/>
              </a:rPr>
              <a:t>NetworkX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graph per strip  </a:t>
            </a:r>
            <a:r>
              <a:rPr lang="en-GB" sz="1200" b="0" i="0" dirty="0">
                <a:solidFill>
                  <a:srgbClr val="FFFFFF"/>
                </a:solidFill>
                <a:latin typeface="Arial"/>
              </a:rPr>
              <a:t>|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 edges = significant pairs
weight = peak L(r)  </a:t>
            </a:r>
            <a:r>
              <a:rPr lang="en-GB" sz="1200" dirty="0">
                <a:solidFill>
                  <a:srgbClr val="FFFFFF"/>
                </a:solidFill>
                <a:latin typeface="Arial"/>
              </a:rPr>
              <a:t>|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 modularity community detection</a:t>
            </a:r>
          </a:p>
        </p:txBody>
      </p:sp>
      <p:sp>
        <p:nvSpPr>
          <p:cNvPr id="38" name="s240"/>
          <p:cNvSpPr/>
          <p:nvPr/>
        </p:nvSpPr>
        <p:spPr>
          <a:xfrm>
            <a:off x="7488000" y="18936000"/>
            <a:ext cx="90000" cy="1512000"/>
          </a:xfrm>
          <a:prstGeom prst="rect">
            <a:avLst/>
          </a:prstGeom>
          <a:solidFill>
            <a:srgbClr val="C9A8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668000" y="18936000"/>
            <a:ext cx="619200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1" dirty="0">
                <a:solidFill>
                  <a:srgbClr val="666666"/>
                </a:solidFill>
                <a:latin typeface="Arial"/>
              </a:rPr>
              <a:t>Edge correction: </a:t>
            </a:r>
            <a:r>
              <a:rPr sz="1250" b="1" i="1" dirty="0" err="1">
                <a:solidFill>
                  <a:srgbClr val="666666"/>
                </a:solidFill>
                <a:latin typeface="Arial"/>
              </a:rPr>
              <a:t>fraction_inside_hull</a:t>
            </a:r>
            <a:r>
              <a:rPr sz="1250" b="1" i="1" dirty="0">
                <a:solidFill>
                  <a:srgbClr val="666666"/>
                </a:solidFill>
                <a:latin typeface="Arial"/>
              </a:rPr>
              <a:t> </a:t>
            </a:r>
            <a:r>
              <a:rPr lang="en-GB" sz="1250" b="1" i="1" dirty="0">
                <a:solidFill>
                  <a:srgbClr val="666666"/>
                </a:solidFill>
                <a:latin typeface="Arial"/>
              </a:rPr>
              <a:t>-</a:t>
            </a:r>
            <a:r>
              <a:rPr sz="1250" b="1" i="1" dirty="0">
                <a:solidFill>
                  <a:srgbClr val="666666"/>
                </a:solidFill>
                <a:latin typeface="Arial"/>
              </a:rPr>
              <a:t> Shapely intersection of search disc with convex hull polygon. Systematic negative bias in absolute K(r) cancels in the permutation test; only position relative to the envelope is interpreted.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4687999" y="4716000"/>
            <a:ext cx="60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00778"/>
                </a:solidFill>
                <a:latin typeface="Arial"/>
              </a:rPr>
              <a:t>Results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4687999" y="5112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500778"/>
                </a:solidFill>
                <a:latin typeface="Arial"/>
              </a:rPr>
              <a:t>A</a:t>
            </a:r>
          </a:p>
        </p:txBody>
      </p:sp>
      <p:sp>
        <p:nvSpPr>
          <p:cNvPr id="39" name="s241"/>
          <p:cNvSpPr/>
          <p:nvPr/>
        </p:nvSpPr>
        <p:spPr>
          <a:xfrm>
            <a:off x="14688119" y="5501760"/>
            <a:ext cx="6048000" cy="3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14760000" y="6948000"/>
            <a:ext cx="5903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Arial"/>
              </a:rPr>
              <a:t>[  Figure: Window Overlay  ]
09c_window_overlay.png
Rect · Hull · Custom polygon
overlaid on transcript scatter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4688119" y="9189600"/>
            <a:ext cx="604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666666"/>
                </a:solidFill>
                <a:latin typeface="Arial"/>
              </a:rPr>
              <a:t>Fig A. Three observation window types over S1 transcript scatter. Convex hull (purple) captures tissue geometry; </a:t>
            </a:r>
            <a:r>
              <a:rPr lang="en-GB" sz="1200" b="0" i="1" dirty="0">
                <a:solidFill>
                  <a:srgbClr val="666666"/>
                </a:solidFill>
                <a:latin typeface="Arial"/>
              </a:rPr>
              <a:t>concave hull (orange) improves but is still dominated but white space, </a:t>
            </a:r>
            <a:r>
              <a:rPr sz="1200" b="0" i="1" dirty="0">
                <a:solidFill>
                  <a:srgbClr val="666666"/>
                </a:solidFill>
                <a:latin typeface="Arial"/>
              </a:rPr>
              <a:t>bounding box (grey) wastes &gt;60% of area on empty slide.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4687999" y="9855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0778"/>
                </a:solidFill>
                <a:latin typeface="Arial"/>
              </a:rPr>
              <a:t>B</a:t>
            </a:r>
          </a:p>
        </p:txBody>
      </p:sp>
      <p:sp>
        <p:nvSpPr>
          <p:cNvPr id="40" name="s242"/>
          <p:cNvSpPr/>
          <p:nvPr/>
        </p:nvSpPr>
        <p:spPr>
          <a:xfrm>
            <a:off x="14687999" y="10206000"/>
            <a:ext cx="6048000" cy="3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14760000" y="11250000"/>
            <a:ext cx="5903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666666"/>
                </a:solidFill>
                <a:latin typeface="Arial"/>
              </a:rPr>
              <a:t>[  Figure: Positive Control  ]
09c_KRT8_KRT18_window_comparison.png
L(r) vs permutation envelope
KRT8 × KRT18 across 3 strips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4687999" y="13648918"/>
            <a:ext cx="60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666666"/>
                </a:solidFill>
                <a:latin typeface="Arial"/>
              </a:rPr>
              <a:t>Fig B. KRT8 × KRT18 positive control. L(r) exceeds the permutation envelope at r &lt; 50 </a:t>
            </a:r>
            <a:r>
              <a:rPr sz="1200" b="0" i="1" dirty="0" err="1">
                <a:solidFill>
                  <a:srgbClr val="666666"/>
                </a:solidFill>
                <a:latin typeface="Arial"/>
              </a:rPr>
              <a:t>px</a:t>
            </a:r>
            <a:r>
              <a:rPr sz="1200" b="0" i="1" dirty="0">
                <a:solidFill>
                  <a:srgbClr val="666666"/>
                </a:solidFill>
                <a:latin typeface="Arial"/>
              </a:rPr>
              <a:t> (cell scale, ~9 µm) across all three tissue strips, confirming robust co-</a:t>
            </a:r>
            <a:r>
              <a:rPr sz="1200" b="0" i="1" dirty="0" err="1">
                <a:solidFill>
                  <a:srgbClr val="666666"/>
                </a:solidFill>
                <a:latin typeface="Arial"/>
              </a:rPr>
              <a:t>localisation</a:t>
            </a:r>
            <a:r>
              <a:rPr sz="1200" b="0" i="1" dirty="0">
                <a:solidFill>
                  <a:srgbClr val="666666"/>
                </a:solidFill>
                <a:latin typeface="Arial"/>
              </a:rPr>
              <a:t> detection.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4670000" y="14238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0778"/>
                </a:solidFill>
                <a:latin typeface="Arial"/>
              </a:rPr>
              <a:t>C</a:t>
            </a:r>
          </a:p>
        </p:txBody>
      </p:sp>
      <p:sp>
        <p:nvSpPr>
          <p:cNvPr id="41" name="s243"/>
          <p:cNvSpPr/>
          <p:nvPr/>
        </p:nvSpPr>
        <p:spPr>
          <a:xfrm>
            <a:off x="14688119" y="14632080"/>
            <a:ext cx="6048000" cy="28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14760000" y="15300000"/>
            <a:ext cx="5903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Arial"/>
              </a:rPr>
              <a:t>[  Figure: Negative Control  ]
09a_KRT8_SCGB3A1_hull.png
L(r) within permutation envelope
KRT8 × SCGB3A1 across 3 strips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4688119" y="17496000"/>
            <a:ext cx="60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666666"/>
                </a:solidFill>
                <a:latin typeface="Arial"/>
              </a:rPr>
              <a:t>Fig C. KRT8 × SCGB3A1 architectural negative. L(r) remains within the envelope across all strips, confirming specificity — different epithelial lineages are not detected as co-</a:t>
            </a:r>
            <a:r>
              <a:rPr sz="1200" b="0" i="1" dirty="0" err="1">
                <a:solidFill>
                  <a:srgbClr val="666666"/>
                </a:solidFill>
                <a:latin typeface="Arial"/>
              </a:rPr>
              <a:t>localising</a:t>
            </a:r>
            <a:r>
              <a:rPr sz="1200" b="0" i="1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4687999" y="18213527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500778"/>
                </a:solidFill>
                <a:latin typeface="Arial"/>
              </a:rPr>
              <a:t>D</a:t>
            </a:r>
          </a:p>
        </p:txBody>
      </p:sp>
      <p:sp>
        <p:nvSpPr>
          <p:cNvPr id="42" name="s244"/>
          <p:cNvSpPr/>
          <p:nvPr/>
        </p:nvSpPr>
        <p:spPr>
          <a:xfrm>
            <a:off x="14688119" y="18614880"/>
            <a:ext cx="6048000" cy="2700000"/>
          </a:xfrm>
          <a:prstGeom prst="rect">
            <a:avLst/>
          </a:prstGeom>
          <a:solidFill>
            <a:srgbClr val="EEE8F5"/>
          </a:solidFill>
          <a:ln w="22860">
            <a:solidFill>
              <a:srgbClr val="50077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14760000" y="19505280"/>
            <a:ext cx="5903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500778"/>
                </a:solidFill>
                <a:latin typeface="Arial"/>
              </a:rPr>
              <a:t>[ IN PROGRESS ]
L-R Co-</a:t>
            </a:r>
            <a:r>
              <a:rPr sz="1200" b="0" i="1" dirty="0" err="1">
                <a:solidFill>
                  <a:srgbClr val="500778"/>
                </a:solidFill>
                <a:latin typeface="Arial"/>
              </a:rPr>
              <a:t>localisation</a:t>
            </a:r>
            <a:r>
              <a:rPr sz="1200" b="0" i="1" dirty="0">
                <a:solidFill>
                  <a:srgbClr val="500778"/>
                </a:solidFill>
                <a:latin typeface="Arial"/>
              </a:rPr>
              <a:t> Network
Strip 2 (infected) vs Strips 1 &amp; 3 (control)
Modularity community detection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4687999" y="21314880"/>
            <a:ext cx="60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666666"/>
                </a:solidFill>
                <a:latin typeface="Arial"/>
              </a:rPr>
              <a:t>Fig D. Co-</a:t>
            </a:r>
            <a:r>
              <a:rPr sz="1200" b="0" i="1" dirty="0" err="1">
                <a:solidFill>
                  <a:srgbClr val="666666"/>
                </a:solidFill>
                <a:latin typeface="Arial"/>
              </a:rPr>
              <a:t>localisation</a:t>
            </a:r>
            <a:r>
              <a:rPr sz="1200" b="0" i="1" dirty="0">
                <a:solidFill>
                  <a:srgbClr val="666666"/>
                </a:solidFill>
                <a:latin typeface="Arial"/>
              </a:rPr>
              <a:t> network per tissue strip. Nodes = genes; edges = significant L-R pairs weighted by peak L(r). Community structure identifies infection-specific </a:t>
            </a:r>
            <a:r>
              <a:rPr sz="1200" b="0" i="1" dirty="0" err="1">
                <a:solidFill>
                  <a:srgbClr val="666666"/>
                </a:solidFill>
                <a:latin typeface="Arial"/>
              </a:rPr>
              <a:t>signalling</a:t>
            </a:r>
            <a:r>
              <a:rPr sz="1200" b="0" i="1" dirty="0">
                <a:solidFill>
                  <a:srgbClr val="666666"/>
                </a:solidFill>
                <a:latin typeface="Arial"/>
              </a:rPr>
              <a:t> </a:t>
            </a:r>
            <a:r>
              <a:rPr sz="1200" b="0" i="1" dirty="0" err="1">
                <a:solidFill>
                  <a:srgbClr val="666666"/>
                </a:solidFill>
                <a:latin typeface="Arial"/>
              </a:rPr>
              <a:t>programmes</a:t>
            </a:r>
            <a:r>
              <a:rPr sz="1200" b="0" i="1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43" name="s245"/>
          <p:cNvSpPr/>
          <p:nvPr/>
        </p:nvSpPr>
        <p:spPr>
          <a:xfrm>
            <a:off x="0" y="24300000"/>
            <a:ext cx="21384000" cy="5976000"/>
          </a:xfrm>
          <a:prstGeom prst="rect">
            <a:avLst/>
          </a:prstGeom>
          <a:solidFill>
            <a:srgbClr val="F3EE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s246"/>
          <p:cNvSpPr/>
          <p:nvPr/>
        </p:nvSpPr>
        <p:spPr>
          <a:xfrm>
            <a:off x="0" y="24300000"/>
            <a:ext cx="21384000" cy="90000"/>
          </a:xfrm>
          <a:prstGeom prst="rect">
            <a:avLst/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360000" y="2455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500778"/>
                </a:solidFill>
                <a:latin typeface="Arial"/>
              </a:rPr>
              <a:t>Conclusions &amp; Next Steps</a:t>
            </a:r>
            <a:r>
              <a:rPr lang="en-GB" sz="1700" b="1" i="0" dirty="0">
                <a:solidFill>
                  <a:srgbClr val="500778"/>
                </a:solidFill>
                <a:latin typeface="Arial"/>
              </a:rPr>
              <a:t> [WIP]</a:t>
            </a:r>
            <a:endParaRPr sz="1700" b="1" i="0" dirty="0">
              <a:solidFill>
                <a:srgbClr val="500778"/>
              </a:solidFill>
              <a:latin typeface="Arial"/>
            </a:endParaRPr>
          </a:p>
        </p:txBody>
      </p:sp>
      <p:sp>
        <p:nvSpPr>
          <p:cNvPr id="258" name="TextBox 257"/>
          <p:cNvSpPr txBox="1"/>
          <p:nvPr/>
        </p:nvSpPr>
        <p:spPr>
          <a:xfrm>
            <a:off x="360000" y="25020000"/>
            <a:ext cx="7920000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 dirty="0">
                <a:solidFill>
                  <a:srgbClr val="2C2C2C"/>
                </a:solidFill>
                <a:latin typeface="Arial"/>
              </a:rPr>
              <a:t>• </a:t>
            </a:r>
            <a:r>
              <a:rPr sz="1350" b="0" i="0" dirty="0" err="1">
                <a:solidFill>
                  <a:srgbClr val="2C2C2C"/>
                </a:solidFill>
                <a:latin typeface="Arial"/>
              </a:rPr>
              <a:t>NoSeggs</a:t>
            </a:r>
            <a:r>
              <a:rPr sz="1350" b="0" i="0" dirty="0">
                <a:solidFill>
                  <a:srgbClr val="2C2C2C"/>
                </a:solidFill>
                <a:latin typeface="Arial"/>
              </a:rPr>
              <a:t> successfully detects transcript-level co-</a:t>
            </a:r>
            <a:r>
              <a:rPr sz="1350" b="0" i="0" dirty="0" err="1">
                <a:solidFill>
                  <a:srgbClr val="2C2C2C"/>
                </a:solidFill>
                <a:latin typeface="Arial"/>
              </a:rPr>
              <a:t>localisation</a:t>
            </a:r>
            <a:r>
              <a:rPr sz="1350" b="0" i="0" dirty="0">
                <a:solidFill>
                  <a:srgbClr val="2C2C2C"/>
                </a:solidFill>
                <a:latin typeface="Arial"/>
              </a:rPr>
              <a:t> without cell segmentation </a:t>
            </a:r>
            <a:r>
              <a:rPr lang="en-GB" sz="1350" b="0" i="0" dirty="0">
                <a:solidFill>
                  <a:srgbClr val="2C2C2C"/>
                </a:solidFill>
                <a:latin typeface="Arial"/>
              </a:rPr>
              <a:t>-</a:t>
            </a:r>
            <a:r>
              <a:rPr sz="1350" b="0" i="0" dirty="0">
                <a:solidFill>
                  <a:srgbClr val="2C2C2C"/>
                </a:solidFill>
                <a:latin typeface="Arial"/>
              </a:rPr>
              <a:t> validated across positive and negative controls in all three tissue strips.
• Convex hull observation windows with Shapely-based edge correction reduce artefactual intensity inflation from empty slide space.
</a:t>
            </a:r>
            <a:r>
              <a:rPr sz="1350" b="0" i="0" dirty="0">
                <a:solidFill>
                  <a:srgbClr val="2C2C2C"/>
                </a:solidFill>
                <a:highlight>
                  <a:srgbClr val="FFFF00"/>
                </a:highlight>
                <a:latin typeface="Arial"/>
              </a:rPr>
              <a:t>• HPC screening of 146 </a:t>
            </a:r>
            <a:r>
              <a:rPr sz="1350" b="0" i="0" dirty="0" err="1">
                <a:solidFill>
                  <a:srgbClr val="2C2C2C"/>
                </a:solidFill>
                <a:highlight>
                  <a:srgbClr val="FFFF00"/>
                </a:highlight>
                <a:latin typeface="Arial"/>
              </a:rPr>
              <a:t>CellChatDB</a:t>
            </a:r>
            <a:r>
              <a:rPr sz="1350" b="0" i="0" dirty="0">
                <a:solidFill>
                  <a:srgbClr val="2C2C2C"/>
                </a:solidFill>
                <a:highlight>
                  <a:srgbClr val="FFFF00"/>
                </a:highlight>
                <a:latin typeface="Arial"/>
              </a:rPr>
              <a:t> L-R pairs is complete </a:t>
            </a:r>
            <a:r>
              <a:rPr lang="en-GB" sz="1350" b="0" i="0" dirty="0">
                <a:solidFill>
                  <a:srgbClr val="2C2C2C"/>
                </a:solidFill>
                <a:highlight>
                  <a:srgbClr val="FFFF00"/>
                </a:highlight>
                <a:latin typeface="Arial"/>
              </a:rPr>
              <a:t>-</a:t>
            </a:r>
            <a:r>
              <a:rPr sz="1350" b="0" i="0" dirty="0">
                <a:solidFill>
                  <a:srgbClr val="2C2C2C"/>
                </a:solidFill>
                <a:highlight>
                  <a:srgbClr val="FFFF00"/>
                </a:highlight>
                <a:latin typeface="Arial"/>
              </a:rPr>
              <a:t> network construction and figure generation in progress.
• Next: network community structure, infected vs control differential edges, external dataset validation, and packaging as a reusable Python tool (</a:t>
            </a:r>
            <a:r>
              <a:rPr sz="1350" b="0" i="0" dirty="0" err="1">
                <a:solidFill>
                  <a:srgbClr val="2C2C2C"/>
                </a:solidFill>
                <a:highlight>
                  <a:srgbClr val="FFFF00"/>
                </a:highlight>
                <a:latin typeface="Arial"/>
              </a:rPr>
              <a:t>src</a:t>
            </a:r>
            <a:r>
              <a:rPr sz="1350" b="0" i="0" dirty="0">
                <a:solidFill>
                  <a:srgbClr val="2C2C2C"/>
                </a:solidFill>
                <a:highlight>
                  <a:srgbClr val="FFFF00"/>
                </a:highlight>
                <a:latin typeface="Arial"/>
              </a:rPr>
              <a:t>/</a:t>
            </a:r>
            <a:r>
              <a:rPr sz="1350" b="0" i="0" dirty="0" err="1">
                <a:solidFill>
                  <a:srgbClr val="2C2C2C"/>
                </a:solidFill>
                <a:highlight>
                  <a:srgbClr val="FFFF00"/>
                </a:highlight>
                <a:latin typeface="Arial"/>
              </a:rPr>
              <a:t>nosegs</a:t>
            </a:r>
            <a:r>
              <a:rPr sz="1350" b="0" i="0" dirty="0">
                <a:solidFill>
                  <a:srgbClr val="2C2C2C"/>
                </a:solidFill>
                <a:highlight>
                  <a:srgbClr val="FFFF00"/>
                </a:highlight>
                <a:latin typeface="Arial"/>
              </a:rPr>
              <a:t>/).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9000000" y="24552000"/>
            <a:ext cx="68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0778"/>
                </a:solidFill>
                <a:latin typeface="Arial"/>
              </a:rPr>
              <a:t>Key References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9000000" y="25020000"/>
            <a:ext cx="6840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50" b="0" i="0" dirty="0">
                <a:solidFill>
                  <a:srgbClr val="2C2C2C"/>
                </a:solidFill>
                <a:latin typeface="Arial"/>
              </a:rPr>
              <a:t>XXXXXXXXXXXXXXXXXXX</a:t>
            </a:r>
          </a:p>
          <a:p>
            <a:pPr algn="l"/>
            <a:r>
              <a:rPr lang="en-GB" sz="1250" dirty="0">
                <a:solidFill>
                  <a:srgbClr val="2C2C2C"/>
                </a:solidFill>
                <a:latin typeface="Arial"/>
              </a:rPr>
              <a:t>XXXXXXXXXXXXXXXXXXX</a:t>
            </a:r>
            <a:endParaRPr sz="1250" b="0" i="0" dirty="0">
              <a:solidFill>
                <a:srgbClr val="2C2C2C"/>
              </a:solidFill>
              <a:latin typeface="Arial"/>
            </a:endParaRPr>
          </a:p>
        </p:txBody>
      </p:sp>
      <p:sp>
        <p:nvSpPr>
          <p:cNvPr id="261" name="TextBox 260"/>
          <p:cNvSpPr txBox="1"/>
          <p:nvPr/>
        </p:nvSpPr>
        <p:spPr>
          <a:xfrm>
            <a:off x="16380000" y="24552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0778"/>
                </a:solidFill>
                <a:latin typeface="Arial"/>
              </a:rPr>
              <a:t>Acknowledgements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6380000" y="25020000"/>
            <a:ext cx="46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2C2C2C"/>
                </a:solidFill>
                <a:latin typeface="Arial"/>
              </a:rPr>
              <a:t>Dataset: King's College London.
L-R annotations: </a:t>
            </a:r>
            <a:r>
              <a:rPr sz="1250" b="0" i="0" dirty="0" err="1">
                <a:solidFill>
                  <a:srgbClr val="2C2C2C"/>
                </a:solidFill>
                <a:latin typeface="Arial"/>
              </a:rPr>
              <a:t>CellChatDB</a:t>
            </a:r>
            <a:r>
              <a:rPr sz="1250" b="0" i="0" dirty="0">
                <a:solidFill>
                  <a:srgbClr val="2C2C2C"/>
                </a:solidFill>
                <a:latin typeface="Arial"/>
              </a:rPr>
              <a:t> (Jin et al. 2021),
accessed via LIANA (Dimitrov et al. 2022).
HPC: KCL CREATE cluster.</a:t>
            </a:r>
          </a:p>
        </p:txBody>
      </p:sp>
      <p:sp>
        <p:nvSpPr>
          <p:cNvPr id="46" name="s248"/>
          <p:cNvSpPr/>
          <p:nvPr/>
        </p:nvSpPr>
        <p:spPr>
          <a:xfrm>
            <a:off x="0" y="29664000"/>
            <a:ext cx="21384000" cy="612000"/>
          </a:xfrm>
          <a:prstGeom prst="rect">
            <a:avLst/>
          </a:prstGeom>
          <a:solidFill>
            <a:srgbClr val="5007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360000" y="29700000"/>
            <a:ext cx="2066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Arial"/>
              </a:rPr>
              <a:t>github.com/</a:t>
            </a:r>
            <a:r>
              <a:rPr lang="en-GB" sz="1300" b="0" i="0" dirty="0" err="1">
                <a:solidFill>
                  <a:srgbClr val="FFFFFF"/>
                </a:solidFill>
                <a:latin typeface="Arial"/>
              </a:rPr>
              <a:t>harrydaw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/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cosmx-pointpattern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 |  </a:t>
            </a:r>
            <a:r>
              <a:rPr lang="en-GB" sz="1300" dirty="0">
                <a:solidFill>
                  <a:srgbClr val="FFFFFF"/>
                </a:solidFill>
                <a:latin typeface="Arial"/>
              </a:rPr>
              <a:t>harrywoodward99@gmail.com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 |  MSc Bioinformatics, King's College London, 2026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FC12CB3B-3ED5-ACB5-DF60-E562FAD6E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5146" y="206773"/>
            <a:ext cx="2384854" cy="181845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08570A9-03E6-DEBC-8B5D-EF0F4A00B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7823" y="26460000"/>
            <a:ext cx="2866176" cy="2866176"/>
          </a:xfrm>
          <a:prstGeom prst="rect">
            <a:avLst/>
          </a:prstGeom>
          <a:ln w="25400">
            <a:solidFill>
              <a:srgbClr val="500778"/>
            </a:solidFill>
          </a:ln>
        </p:spPr>
      </p:pic>
      <p:pic>
        <p:nvPicPr>
          <p:cNvPr id="52" name="Graphic 51" descr="Badge Cross outline">
            <a:extLst>
              <a:ext uri="{FF2B5EF4-FFF2-40B4-BE49-F238E27FC236}">
                <a16:creationId xmlns:a16="http://schemas.microsoft.com/office/drawing/2014/main" id="{DD9B3480-0577-471C-478F-5F80C2E42C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000" y="16966801"/>
            <a:ext cx="745199" cy="745199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E131F66E-3A05-8E77-16B9-03A95B597895}"/>
              </a:ext>
            </a:extLst>
          </p:cNvPr>
          <p:cNvGrpSpPr/>
          <p:nvPr/>
        </p:nvGrpSpPr>
        <p:grpSpPr>
          <a:xfrm>
            <a:off x="751560" y="16374001"/>
            <a:ext cx="575744" cy="524401"/>
            <a:chOff x="1991360" y="18000000"/>
            <a:chExt cx="1178560" cy="1170000"/>
          </a:xfrm>
        </p:grpSpPr>
        <p:pic>
          <p:nvPicPr>
            <p:cNvPr id="56" name="Graphic 55" descr="Checkmark outline">
              <a:extLst>
                <a:ext uri="{FF2B5EF4-FFF2-40B4-BE49-F238E27FC236}">
                  <a16:creationId xmlns:a16="http://schemas.microsoft.com/office/drawing/2014/main" id="{674C0EC1-224C-43D4-B4BF-C3BA81D550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4159" y="18141275"/>
              <a:ext cx="914400" cy="914400"/>
            </a:xfrm>
            <a:prstGeom prst="rect">
              <a:avLst/>
            </a:prstGeom>
          </p:spPr>
        </p:pic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1E72A6E-3F01-C552-079A-6E4C8A8AFC3E}"/>
                </a:ext>
              </a:extLst>
            </p:cNvPr>
            <p:cNvSpPr/>
            <p:nvPr/>
          </p:nvSpPr>
          <p:spPr>
            <a:xfrm>
              <a:off x="1991360" y="18000000"/>
              <a:ext cx="1178560" cy="117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736503C9-B080-5178-4199-A1DFD5BD5B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68701" y="5615160"/>
            <a:ext cx="5931418" cy="324987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7436780-853B-7633-3730-439E8FFD85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04581" y="10972867"/>
            <a:ext cx="5895418" cy="1842318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16D41109-6F0B-B812-8970-FF4D01F528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66218" y="15023064"/>
            <a:ext cx="5491801" cy="18306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955</Words>
  <Application>Microsoft Office PowerPoint</Application>
  <PresentationFormat>Custom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Harry Woodward</cp:lastModifiedBy>
  <cp:revision>2</cp:revision>
  <dcterms:created xsi:type="dcterms:W3CDTF">2013-01-27T09:14:16Z</dcterms:created>
  <dcterms:modified xsi:type="dcterms:W3CDTF">2026-05-08T11:40:28Z</dcterms:modified>
  <cp:category/>
</cp:coreProperties>
</file>