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256" r:id="rId2"/>
    <p:sldId id="286" r:id="rId3"/>
    <p:sldId id="287" r:id="rId4"/>
    <p:sldId id="257" r:id="rId5"/>
    <p:sldId id="258" r:id="rId6"/>
    <p:sldId id="259" r:id="rId7"/>
    <p:sldId id="260" r:id="rId8"/>
    <p:sldId id="282" r:id="rId9"/>
    <p:sldId id="283" r:id="rId10"/>
    <p:sldId id="284" r:id="rId11"/>
    <p:sldId id="285" r:id="rId12"/>
    <p:sldId id="261" r:id="rId13"/>
    <p:sldId id="262" r:id="rId14"/>
    <p:sldId id="263" r:id="rId15"/>
    <p:sldId id="288" r:id="rId16"/>
    <p:sldId id="289" r:id="rId17"/>
    <p:sldId id="264" r:id="rId18"/>
    <p:sldId id="265" r:id="rId19"/>
    <p:sldId id="266" r:id="rId20"/>
    <p:sldId id="290" r:id="rId21"/>
    <p:sldId id="291" r:id="rId22"/>
    <p:sldId id="292" r:id="rId23"/>
    <p:sldId id="293" r:id="rId24"/>
    <p:sldId id="294" r:id="rId25"/>
    <p:sldId id="295" r:id="rId26"/>
    <p:sldId id="296" r:id="rId27"/>
    <p:sldId id="267" r:id="rId28"/>
    <p:sldId id="268" r:id="rId29"/>
    <p:sldId id="269" r:id="rId30"/>
    <p:sldId id="297" r:id="rId31"/>
    <p:sldId id="298" r:id="rId32"/>
    <p:sldId id="299" r:id="rId33"/>
    <p:sldId id="270" r:id="rId34"/>
    <p:sldId id="271" r:id="rId35"/>
    <p:sldId id="272" r:id="rId36"/>
    <p:sldId id="300" r:id="rId37"/>
    <p:sldId id="301" r:id="rId38"/>
    <p:sldId id="302" r:id="rId39"/>
    <p:sldId id="303" r:id="rId40"/>
    <p:sldId id="304" r:id="rId41"/>
    <p:sldId id="305" r:id="rId42"/>
    <p:sldId id="273" r:id="rId43"/>
    <p:sldId id="274" r:id="rId44"/>
    <p:sldId id="306" r:id="rId45"/>
    <p:sldId id="307" r:id="rId46"/>
    <p:sldId id="308" r:id="rId47"/>
    <p:sldId id="309" r:id="rId48"/>
    <p:sldId id="310" r:id="rId49"/>
    <p:sldId id="311" r:id="rId50"/>
    <p:sldId id="312" r:id="rId51"/>
    <p:sldId id="313" r:id="rId52"/>
    <p:sldId id="314" r:id="rId53"/>
    <p:sldId id="315" r:id="rId54"/>
    <p:sldId id="276" r:id="rId55"/>
    <p:sldId id="277" r:id="rId56"/>
    <p:sldId id="278" r:id="rId57"/>
    <p:sldId id="316" r:id="rId58"/>
    <p:sldId id="317" r:id="rId59"/>
    <p:sldId id="318" r:id="rId60"/>
    <p:sldId id="319" r:id="rId61"/>
    <p:sldId id="321" r:id="rId62"/>
    <p:sldId id="322" r:id="rId63"/>
    <p:sldId id="279" r:id="rId64"/>
    <p:sldId id="280" r:id="rId65"/>
    <p:sldId id="281" r:id="rId6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EA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38" y="7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0727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9AC0E-C63D-6B56-B03C-C298836A71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3E7796-5564-CF92-447A-A95ABEAF690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0439033-EC29-6365-F06B-E2C9579A7C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7FBC44-E907-BD11-D99F-C8130962CE4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052511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A2681-67C1-004C-4D04-7FF8DE31C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9D1EE-F475-DACD-1895-F9DD849717B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EF4BEFF-2AC7-9016-E5D3-F6569A22E7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05C396-BCD1-D244-6FC7-9FE4AB57E70D}"/>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739277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3E782-B26E-E32B-B064-DCE235B37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10C2F-CBE0-8819-0BEE-E707FD62CE3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372A10B-9B5C-631A-E6C1-DD06961792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A1200B-6737-B534-1793-ACD07C427DC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191887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E75C8-71D6-D9CA-1A2A-96032466A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505CBC-ADE7-7263-58DF-534BFB8CCDB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D44569E-5529-A014-A0DD-E115CC98E2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E96D1D-4F02-7058-991F-ECDE73BD4BB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678500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1FA13-3664-3AE6-C6E7-74AE5D20B6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F5412-B37F-0224-C642-FE3F15BF298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BF675DF-DC0B-87D6-CCE6-7FA11E48EF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1090F4-5CB7-A988-1E07-CCEADFDD3407}"/>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8034385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CDDDF-1257-1316-12B1-70213768CE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A5EFD-AD27-2D8D-7CD8-D7EBB3321CE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544BCEA-5B09-9835-AEE4-427F07E6B7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646075-9868-EB75-1560-811CA58E5B3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628655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6DE1D-1F34-A3DA-307D-EB1F4A4CB2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EF0B74-4E8B-0A5B-858D-07DD11C4F44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EC734EA-4125-52B1-EDC5-DA885169A1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662FC5-6B91-81D3-5E9A-C03BBBF006D2}"/>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6608484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6536F-8018-A478-01E9-B69088C3B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F3DCF-835A-1215-E1AD-D800263CC0C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06305B1-B87C-4301-E02C-20E26567D2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3EEA2A-AA30-6B08-37D0-EA7C7D4E526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185106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D043F-76D5-43BD-6214-F0820BBDAB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11299-87FA-62A2-E887-84B1552890D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8336292-812E-3E5B-3A04-03440391F9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B2409F-50B3-8DA0-5D72-5146982149C7}"/>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6530477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0BDE5-F279-E59D-0E26-DA4B4A671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356E0-17F4-B9CE-D1D5-9E0C4C367DA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B4F04BE-6C43-7464-CEBB-A04E233696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7CC6B0-0D4E-FB5F-E1AB-1DC4DF408B79}"/>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1712458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0B1A8-C5D6-2768-2EF8-D37F2E0AD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80090A-674B-4B5E-FD4E-CFA2326891E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C29A99B-43E6-AD9E-85B0-A5DAB19DD5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2ADAA1-4894-0E39-5AD0-37C500F83D47}"/>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8163561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5C7A4-AF48-069A-DD5A-25E3FDEE9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5DF1F-B3A6-A42D-2416-B7AFCDE84A1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BABA3A5-E814-99B1-0872-7B85C47A80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87C0C6-ACD4-48D1-4CB2-0DB39279582F}"/>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5531997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BBE7C-2030-0C2D-8DDA-E1FF7296CD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ECFDC3-119E-176B-8C31-05A8AB92714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C237C62-6DCC-047D-AD91-05E385A544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13C636-31DD-3217-1A22-1D2556EAA356}"/>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7433877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90D18-39E3-9E06-8E9E-7129F42BC5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04EB3A-DB63-76D1-02B3-F27479404BE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BE4189D-6CCD-7EF0-516D-6432910B9C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6EF1A7-2C00-4D5C-AF88-7709922EDB76}"/>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8388423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9A63B-07CE-59BC-1B69-2C30FB2D0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2840C-CCF3-BB77-B168-59F43DA43B8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F262DF7-0740-8640-421F-4FECD362A5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EC2092-DFCA-1B64-BD9A-3FC795277581}"/>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9475565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54616-6153-FABB-EDEA-F2B787075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43AA8-F89F-8CD2-5364-FC2D50032A8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BEF49BE-06F9-8446-3CC5-F88DA1CE47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241C85-3B0D-1EA6-CDBB-DAB7F86994CD}"/>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4833579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F12FA-38B3-F4D4-7EFF-31417DF4F6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29836F-02B6-8B5A-8D2D-DF74A66C5F7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AEE7585-904B-00BD-CC66-A91BD9C600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42C8EB-49E0-AE80-0055-41FF9C5AD767}"/>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9021893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120E3-CCCC-C4A1-080F-82B15941F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41F52-E152-F2BB-D758-3CCDE0E80E8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0DF1C79-6DBF-EB57-CDB7-4F632E57DA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749367-2B11-8E5E-2AC7-296FBD165043}"/>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9405370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FBCB-9C5A-3819-2D1F-8BA6ABD9D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F078E8-8440-FA77-1721-33B5F2174AC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5629F5C-BACC-0465-7C34-404DFBD574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D483B1-E139-0FD7-8EAF-88F9991106FC}"/>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0622208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A8BDA-8F22-44B7-B521-4C09F73E11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A03435-8C45-C41C-7B1A-98DDD25DB75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FB9B7D3-2017-27CB-EEC7-C882273DD5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9A5DBD-825B-3BFD-0CF4-4A3E357B20F9}"/>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39300586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0E24F-77A8-31BD-468F-52E914624E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F143B7-CEBE-6578-57A2-852649AE014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9B2850A-2750-E572-EFE1-E3C66125D1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330F55-0AA7-ACC7-1464-20D52D0A0BE8}"/>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6993276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E5B51-B993-A20D-B616-E430D146E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4B569-3D8A-0479-9268-69AF31C0FE5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1EF5919-E207-DA19-5C39-DA50835B41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6B5178-02F5-0471-A7A2-0B3A2F60B2FB}"/>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8771148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43C4F-8070-8404-3B52-E48674271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E7516D-0CD4-CD4E-ADDB-D05D1FFC4E2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393B868-4BBF-08F6-7167-FF778FFA1D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D4418B-0931-64B5-8043-F3AE11E341D7}"/>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9846519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895EB-412A-9E7A-5B80-8DCE4E6BF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950C1-9824-1274-470F-24120C8BED2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4CAE7D2-A55B-1ED5-3315-5B8B670D1A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A29609-D93B-F9A9-3190-F4C46BBF60C6}"/>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33834881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5F9F4-CA7A-FFEC-44C9-197A2D74E4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B1C302-13E3-52E4-BDD9-4076B8F5C02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A2CE26F-C4CD-3B0B-7623-4EF1CA3BF9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D4FBA4-2481-2369-AE37-C97F81B7DE9D}"/>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21054096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711D3-0C78-F5D3-34F7-EF635F6E5E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D669B-ED68-D00C-78E8-02B2B58376C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B7ECB69-A86D-E05B-3176-570F1D92C6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58EEBE-A53F-FC83-7A23-20ED55B3648A}"/>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2332589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CE18F-CE03-83F5-D7EB-7ACE688F68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7985AF-80B3-2571-9FA8-FD71C27A4C3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2A3781F-36F4-139A-697C-3C505F0F01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3F70F6-E2EA-6D41-C96D-0321F8001F35}"/>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30672129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8A376-840F-70CF-578E-859F2C7CE7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9473E8-C797-575F-A4BA-CBD98F4933E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AC7E1F9-DF17-3539-F2DE-15C58D5EBD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59A5D7-8140-B37F-782D-1B6AA5F16A84}"/>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510424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0BBCE-263A-141D-95B6-78394B1B0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E5ECEB-1C50-BA03-2021-DEE1559CFD5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7DCA7C8-ED3D-0EE5-F315-7F335063ED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CACE11-F890-3DAE-474B-260142B92778}"/>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3976736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35752-A7C7-3E61-CC6D-545A30CB6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F49A11-A240-0751-284A-6F896BD460B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094A739-A110-6FA1-076A-7C432A7B1E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625FC6-9FCE-E29C-C109-C6EC0C2130E4}"/>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3065212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13132-52F8-2852-69F7-72AA9A22F5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C84918-500B-A693-73FE-67BA82F8A3A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DDE2D6A-A26D-0686-F893-0A0EEDFD6C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07682C-5367-19B1-06E3-C2AB60F090B6}"/>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21167007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8C89C-39DE-CD52-4EC7-2889E75AB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B15F3-91B8-199F-5E86-04374AADAF4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6A28030-7A8B-F7E3-87CD-212C6B5FB3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1F3F7B-0F54-40A3-205A-3FCD1AEA2D5E}"/>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29564712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71A29-5E37-CCD6-045E-BA5A38277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FD6B7-9150-08A8-CA73-78D89BB47DF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C93049B-4893-8020-CAAB-35120DE4E8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02ED7B-DED9-DFD1-5B39-1BA44783F14D}"/>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25102102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EA247-E921-2C2B-CB19-3CBCE8C31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12D94-73DF-FE5E-E20B-04A2969AEB0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ACE4FE5-41E2-671D-F8FE-66C5906B90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56BEB7-621C-C71C-8889-63D02CBAF87C}"/>
              </a:ext>
            </a:extLst>
          </p:cNvPr>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32212959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7FB5C-70B2-03B4-2B5F-8BB9829B0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DA1592-C102-DF9A-E7B6-71107CCF63F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F8BB092-9793-A37E-983A-C31D13E76E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654033-56ED-0151-30EF-BF1603C3BB3C}"/>
              </a:ext>
            </a:extLst>
          </p:cNvPr>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23728525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FAE9F-4CCA-406E-4C18-9B93FDF212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FA1A4E-DB84-D189-1763-28EEF959A66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0137432-1058-9083-CBD8-63912C647C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BEF30C-04A8-FFAF-ECA7-0829F7B2C06A}"/>
              </a:ext>
            </a:extLst>
          </p:cNvPr>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41103586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7460F-EB91-17ED-54B9-E231819CAB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E7F56F-A70D-8803-6FB9-9BA68BF1580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0005727-9DB1-A0F1-04C2-67ECE1100C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4B669C-941A-7224-FCFF-ECB5AB5010A2}"/>
              </a:ext>
            </a:extLst>
          </p:cNvPr>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409704882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D4DEE-9BA1-BD4B-B900-83DC43B45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24A9E-1EDD-F16E-EDA7-8FC45113FFE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1E737E0-9EBD-D59F-053C-93F7599804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1F0C72-819F-B9F6-1E7D-2D652CDF09E4}"/>
              </a:ext>
            </a:extLst>
          </p:cNvPr>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2070115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885F4-7BDF-AFFA-FDDE-992F75606C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83505F-055B-B3C6-DAE6-BF17C1177EB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1D33819-A8CE-77E2-D537-C94193D79B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FA0EEF-526F-FC1B-47C1-496DB5336480}"/>
              </a:ext>
            </a:extLst>
          </p:cNvPr>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2781178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6BD12-634F-3464-9379-5173947D88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BC2B7-BA61-3B9E-076D-8C01F5C8AE0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0DF34D9-41E5-BA86-251C-4CD02A3746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7DA311-CC3A-03FF-4AC0-12A107C743D7}"/>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4877789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5.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6217920" y="-1371600"/>
            <a:ext cx="4572000" cy="4572000"/>
          </a:xfrm>
          <a:prstGeom prst="ellipse">
            <a:avLst/>
          </a:prstGeom>
          <a:solidFill>
            <a:srgbClr val="1E3A5F">
              <a:alpha val="40000"/>
            </a:srgbClr>
          </a:solidFill>
          <a:ln/>
        </p:spPr>
        <p:txBody>
          <a:bodyPr/>
          <a:lstStyle/>
          <a:p>
            <a:endParaRPr lang="en-GB"/>
          </a:p>
        </p:txBody>
      </p:sp>
      <p:sp>
        <p:nvSpPr>
          <p:cNvPr id="3" name="Shape 1"/>
          <p:cNvSpPr/>
          <p:nvPr/>
        </p:nvSpPr>
        <p:spPr>
          <a:xfrm>
            <a:off x="7498080" y="2286000"/>
            <a:ext cx="2743200" cy="2743200"/>
          </a:xfrm>
          <a:prstGeom prst="ellipse">
            <a:avLst/>
          </a:prstGeom>
          <a:solidFill>
            <a:srgbClr val="0D9488">
              <a:alpha val="25000"/>
            </a:srgbClr>
          </a:solidFill>
          <a:ln/>
        </p:spPr>
        <p:txBody>
          <a:bodyPr/>
          <a:lstStyle/>
          <a:p>
            <a:endParaRPr lang="en-GB"/>
          </a:p>
        </p:txBody>
      </p:sp>
      <p:pic>
        <p:nvPicPr>
          <p:cNvPr id="4" name="Image 0" descr="preencoded.png"/>
          <p:cNvPicPr>
            <a:picLocks noChangeAspect="1"/>
          </p:cNvPicPr>
          <p:nvPr/>
        </p:nvPicPr>
        <p:blipFill>
          <a:blip r:embed="rId3"/>
          <a:stretch>
            <a:fillRect/>
          </a:stretch>
        </p:blipFill>
        <p:spPr>
          <a:xfrm>
            <a:off x="7772400" y="365760"/>
            <a:ext cx="914400" cy="914400"/>
          </a:xfrm>
          <a:prstGeom prst="rect">
            <a:avLst/>
          </a:prstGeom>
        </p:spPr>
      </p:pic>
      <p:sp>
        <p:nvSpPr>
          <p:cNvPr id="5" name="Shape 2"/>
          <p:cNvSpPr/>
          <p:nvPr/>
        </p:nvSpPr>
        <p:spPr>
          <a:xfrm>
            <a:off x="548640" y="1463040"/>
            <a:ext cx="54864" cy="2011680"/>
          </a:xfrm>
          <a:prstGeom prst="rect">
            <a:avLst/>
          </a:prstGeom>
          <a:solidFill>
            <a:srgbClr val="0D9488"/>
          </a:solidFill>
          <a:ln/>
        </p:spPr>
        <p:txBody>
          <a:bodyPr/>
          <a:lstStyle/>
          <a:p>
            <a:endParaRPr lang="en-GB"/>
          </a:p>
        </p:txBody>
      </p:sp>
      <p:sp>
        <p:nvSpPr>
          <p:cNvPr id="6" name="Text 3"/>
          <p:cNvSpPr/>
          <p:nvPr/>
        </p:nvSpPr>
        <p:spPr>
          <a:xfrm>
            <a:off x="822960" y="1188720"/>
            <a:ext cx="6400800" cy="1463040"/>
          </a:xfrm>
          <a:prstGeom prst="rect">
            <a:avLst/>
          </a:prstGeom>
          <a:noFill/>
          <a:ln/>
        </p:spPr>
        <p:txBody>
          <a:bodyPr wrap="square" lIns="0" tIns="0" rIns="0" bIns="0" rtlCol="0" anchor="ctr"/>
          <a:lstStyle/>
          <a:p>
            <a:pPr marL="0" indent="0">
              <a:lnSpc>
                <a:spcPct val="110000"/>
              </a:lnSpc>
              <a:buNone/>
            </a:pPr>
            <a:r>
              <a:rPr lang="en-US" sz="5400" b="1" dirty="0" err="1">
                <a:solidFill>
                  <a:srgbClr val="FFFFFF"/>
                </a:solidFill>
                <a:latin typeface="Georgia" pitchFamily="34" charset="0"/>
              </a:rPr>
              <a:t>NoSegs</a:t>
            </a:r>
            <a:endParaRPr lang="en-US" sz="5400" dirty="0"/>
          </a:p>
        </p:txBody>
      </p:sp>
      <p:sp>
        <p:nvSpPr>
          <p:cNvPr id="7" name="Text 4"/>
          <p:cNvSpPr/>
          <p:nvPr/>
        </p:nvSpPr>
        <p:spPr>
          <a:xfrm>
            <a:off x="822960" y="2743200"/>
            <a:ext cx="5943600" cy="640080"/>
          </a:xfrm>
          <a:prstGeom prst="rect">
            <a:avLst/>
          </a:prstGeom>
          <a:noFill/>
          <a:ln/>
        </p:spPr>
        <p:txBody>
          <a:bodyPr wrap="square" lIns="0" tIns="0" rIns="0" bIns="0" rtlCol="0" anchor="ctr"/>
          <a:lstStyle/>
          <a:p>
            <a:pPr marL="0" indent="0">
              <a:buNone/>
            </a:pPr>
            <a:r>
              <a:rPr lang="en-US" sz="1600" dirty="0">
                <a:solidFill>
                  <a:srgbClr val="5EEAD4"/>
                </a:solidFill>
                <a:latin typeface="Calibri" pitchFamily="34" charset="0"/>
                <a:ea typeface="Calibri" pitchFamily="34" charset="-122"/>
                <a:cs typeface="Calibri" pitchFamily="34" charset="-120"/>
              </a:rPr>
              <a:t>Segmentation-Free Point Pattern Statistics</a:t>
            </a:r>
            <a:endParaRPr lang="en-US" sz="1600" dirty="0"/>
          </a:p>
          <a:p>
            <a:pPr marL="0" indent="0">
              <a:buNone/>
            </a:pPr>
            <a:r>
              <a:rPr lang="en-US" sz="1600" dirty="0">
                <a:solidFill>
                  <a:srgbClr val="5EEAD4"/>
                </a:solidFill>
                <a:latin typeface="Calibri" pitchFamily="34" charset="0"/>
                <a:ea typeface="Calibri" pitchFamily="34" charset="-122"/>
                <a:cs typeface="Calibri" pitchFamily="34" charset="-120"/>
              </a:rPr>
              <a:t>for </a:t>
            </a:r>
            <a:r>
              <a:rPr lang="en-US" sz="1600" dirty="0" err="1">
                <a:solidFill>
                  <a:srgbClr val="5EEAD4"/>
                </a:solidFill>
                <a:latin typeface="Calibri" pitchFamily="34" charset="0"/>
                <a:ea typeface="Calibri" pitchFamily="34" charset="-122"/>
                <a:cs typeface="Calibri" pitchFamily="34" charset="-120"/>
              </a:rPr>
              <a:t>CosMx</a:t>
            </a:r>
            <a:r>
              <a:rPr lang="en-US" sz="1600" dirty="0">
                <a:solidFill>
                  <a:srgbClr val="5EEAD4"/>
                </a:solidFill>
                <a:latin typeface="Calibri" pitchFamily="34" charset="0"/>
                <a:ea typeface="Calibri" pitchFamily="34" charset="-122"/>
                <a:cs typeface="Calibri" pitchFamily="34" charset="-120"/>
              </a:rPr>
              <a:t> Spatial Transcriptomics Data</a:t>
            </a:r>
            <a:endParaRPr lang="en-US" sz="1600" dirty="0"/>
          </a:p>
        </p:txBody>
      </p:sp>
      <p:sp>
        <p:nvSpPr>
          <p:cNvPr id="8" name="Text 5"/>
          <p:cNvSpPr/>
          <p:nvPr/>
        </p:nvSpPr>
        <p:spPr>
          <a:xfrm>
            <a:off x="822960" y="4206240"/>
            <a:ext cx="5486400" cy="36576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Harry  |  MSc Bioinformatics  |  King's College London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4DBAA-E205-1CC4-64EC-0A30B17B8F2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7C9F326-61DB-0577-742D-4080CB6AFCB3}"/>
              </a:ext>
            </a:extLst>
          </p:cNvPr>
          <p:cNvSpPr/>
          <p:nvPr/>
        </p:nvSpPr>
        <p:spPr>
          <a:xfrm>
            <a:off x="0" y="0"/>
            <a:ext cx="9144000" cy="731520"/>
          </a:xfrm>
          <a:prstGeom prst="rect">
            <a:avLst/>
          </a:prstGeom>
          <a:solidFill>
            <a:srgbClr val="0B1D3A"/>
          </a:solidFill>
          <a:ln/>
        </p:spPr>
        <p:txBody>
          <a:bodyPr/>
          <a:lstStyle/>
          <a:p>
            <a:endParaRPr lang="en-GB" dirty="0"/>
          </a:p>
        </p:txBody>
      </p:sp>
      <p:sp>
        <p:nvSpPr>
          <p:cNvPr id="3" name="Text 1">
            <a:extLst>
              <a:ext uri="{FF2B5EF4-FFF2-40B4-BE49-F238E27FC236}">
                <a16:creationId xmlns:a16="http://schemas.microsoft.com/office/drawing/2014/main" id="{D6A5CD1B-7897-3F94-A0D3-27D2A68A11BC}"/>
              </a:ext>
            </a:extLst>
          </p:cNvPr>
          <p:cNvSpPr/>
          <p:nvPr/>
        </p:nvSpPr>
        <p:spPr>
          <a:xfrm>
            <a:off x="560832"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Overview</a:t>
            </a:r>
            <a:endParaRPr lang="en-US" sz="1400" dirty="0"/>
          </a:p>
        </p:txBody>
      </p:sp>
      <p:sp>
        <p:nvSpPr>
          <p:cNvPr id="6" name="Shape 4">
            <a:extLst>
              <a:ext uri="{FF2B5EF4-FFF2-40B4-BE49-F238E27FC236}">
                <a16:creationId xmlns:a16="http://schemas.microsoft.com/office/drawing/2014/main" id="{187B09F4-18EC-7463-CB5E-B8A3C0F0D98A}"/>
              </a:ext>
            </a:extLst>
          </p:cNvPr>
          <p:cNvSpPr/>
          <p:nvPr/>
        </p:nvSpPr>
        <p:spPr>
          <a:xfrm>
            <a:off x="560832" y="841248"/>
            <a:ext cx="8046720" cy="38221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p:txBody>
      </p:sp>
      <p:sp>
        <p:nvSpPr>
          <p:cNvPr id="7" name="Text 5">
            <a:extLst>
              <a:ext uri="{FF2B5EF4-FFF2-40B4-BE49-F238E27FC236}">
                <a16:creationId xmlns:a16="http://schemas.microsoft.com/office/drawing/2014/main" id="{B04EE47C-2343-3A94-8495-0E49A3FFD9F7}"/>
              </a:ext>
            </a:extLst>
          </p:cNvPr>
          <p:cNvSpPr/>
          <p:nvPr/>
        </p:nvSpPr>
        <p:spPr>
          <a:xfrm>
            <a:off x="937260" y="2083308"/>
            <a:ext cx="7315200" cy="2365248"/>
          </a:xfrm>
          <a:prstGeom prst="rect">
            <a:avLst/>
          </a:prstGeom>
          <a:noFill/>
          <a:ln/>
        </p:spPr>
        <p:txBody>
          <a:bodyPr wrap="square" lIns="0" tIns="0" rIns="0" bIns="0" rtlCol="0" anchor="ctr"/>
          <a:lstStyle/>
          <a:p>
            <a:endParaRPr lang="en-US" sz="2800" b="1" i="1" dirty="0">
              <a:latin typeface="Calibri" pitchFamily="34" charset="0"/>
              <a:ea typeface="Calibri" pitchFamily="34" charset="-122"/>
              <a:cs typeface="Calibri" pitchFamily="34" charset="-120"/>
            </a:endParaRPr>
          </a:p>
          <a:p>
            <a:r>
              <a:rPr lang="en-US" sz="2800" b="1" i="1" dirty="0">
                <a:latin typeface="Calibri" pitchFamily="34" charset="0"/>
                <a:ea typeface="Calibri" pitchFamily="34" charset="-122"/>
                <a:cs typeface="Calibri" pitchFamily="34" charset="-120"/>
              </a:rPr>
              <a:t>Ripley’s K Function</a:t>
            </a:r>
          </a:p>
          <a:p>
            <a:pPr algn="ctr"/>
            <a:r>
              <a:rPr lang="en-US" sz="3600" b="1" i="1" dirty="0">
                <a:solidFill>
                  <a:schemeClr val="accent5"/>
                </a:solidFill>
                <a:latin typeface="Calibri" pitchFamily="34" charset="0"/>
                <a:ea typeface="Calibri" pitchFamily="34" charset="-122"/>
                <a:cs typeface="Calibri" pitchFamily="34" charset="-120"/>
              </a:rPr>
              <a:t>K(r) = </a:t>
            </a:r>
            <a:r>
              <a:rPr lang="el-GR" sz="3200" b="1" dirty="0">
                <a:solidFill>
                  <a:schemeClr val="accent5"/>
                </a:solidFill>
              </a:rPr>
              <a:t>λ</a:t>
            </a:r>
            <a:r>
              <a:rPr lang="en-GB" sz="3200" b="1" baseline="-25000" dirty="0">
                <a:solidFill>
                  <a:schemeClr val="accent5"/>
                </a:solidFill>
              </a:rPr>
              <a:t>B</a:t>
            </a:r>
            <a:r>
              <a:rPr lang="en-GB" sz="3200" b="1" baseline="30000" dirty="0">
                <a:solidFill>
                  <a:schemeClr val="accent5"/>
                </a:solidFill>
              </a:rPr>
              <a:t>-1</a:t>
            </a:r>
            <a:r>
              <a:rPr lang="en-GB" sz="3200" b="1" dirty="0">
                <a:solidFill>
                  <a:schemeClr val="accent5"/>
                </a:solidFill>
              </a:rPr>
              <a:t> </a:t>
            </a:r>
            <a:r>
              <a:rPr lang="el-GR" sz="3600" b="1" dirty="0">
                <a:solidFill>
                  <a:schemeClr val="accent5"/>
                </a:solidFill>
              </a:rPr>
              <a:t>Σ</a:t>
            </a:r>
            <a:r>
              <a:rPr lang="en-GB" sz="3600" b="1" dirty="0">
                <a:solidFill>
                  <a:schemeClr val="accent5"/>
                </a:solidFill>
              </a:rPr>
              <a:t> I </a:t>
            </a:r>
            <a:r>
              <a:rPr lang="en-GB" sz="3200" b="1" dirty="0">
                <a:solidFill>
                  <a:schemeClr val="accent5"/>
                </a:solidFill>
              </a:rPr>
              <a:t>(</a:t>
            </a:r>
            <a:r>
              <a:rPr lang="en-GB" sz="3200" b="1" dirty="0" err="1">
                <a:solidFill>
                  <a:schemeClr val="accent5"/>
                </a:solidFill>
              </a:rPr>
              <a:t>d</a:t>
            </a:r>
            <a:r>
              <a:rPr lang="en-GB" sz="3200" b="1" baseline="-25000" dirty="0" err="1">
                <a:solidFill>
                  <a:schemeClr val="accent5"/>
                </a:solidFill>
              </a:rPr>
              <a:t>AB</a:t>
            </a:r>
            <a:r>
              <a:rPr lang="en-GB" sz="3200" b="1" dirty="0">
                <a:solidFill>
                  <a:schemeClr val="accent5"/>
                </a:solidFill>
              </a:rPr>
              <a:t> &lt; r)</a:t>
            </a:r>
          </a:p>
          <a:p>
            <a:r>
              <a:rPr lang="en-GB" sz="3200" b="1" dirty="0"/>
              <a:t> </a:t>
            </a:r>
            <a:r>
              <a:rPr lang="en-GB" sz="2400" b="1" dirty="0"/>
              <a:t>Where:</a:t>
            </a:r>
          </a:p>
          <a:p>
            <a:r>
              <a:rPr lang="en-GB" sz="2400" b="1" dirty="0"/>
              <a:t>	</a:t>
            </a:r>
            <a:r>
              <a:rPr lang="en-GB" sz="3200" b="1" i="1" dirty="0">
                <a:latin typeface="Calibri" pitchFamily="34" charset="0"/>
                <a:ea typeface="Calibri" pitchFamily="34" charset="-122"/>
                <a:cs typeface="Calibri" pitchFamily="34" charset="-120"/>
              </a:rPr>
              <a:t>I    </a:t>
            </a:r>
            <a:r>
              <a:rPr lang="en-GB" sz="2400" b="1" dirty="0">
                <a:latin typeface="Calibri" pitchFamily="34" charset="0"/>
                <a:ea typeface="Calibri" pitchFamily="34" charset="-122"/>
                <a:cs typeface="Calibri" pitchFamily="34" charset="-120"/>
              </a:rPr>
              <a:t>=</a:t>
            </a:r>
            <a:r>
              <a:rPr lang="en-GB" sz="2400" b="1" dirty="0"/>
              <a:t>  Indicator function (True [1] / False [0])</a:t>
            </a:r>
            <a:r>
              <a:rPr lang="en-GB" sz="3200" b="1" i="1" dirty="0">
                <a:latin typeface="Calibri" pitchFamily="34" charset="0"/>
                <a:ea typeface="Calibri" pitchFamily="34" charset="-122"/>
                <a:cs typeface="Calibri" pitchFamily="34" charset="-120"/>
              </a:rPr>
              <a:t>	r    </a:t>
            </a:r>
            <a:r>
              <a:rPr lang="en-GB" sz="2400" b="1" dirty="0">
                <a:latin typeface="Calibri" pitchFamily="34" charset="0"/>
                <a:ea typeface="Calibri" pitchFamily="34" charset="-122"/>
                <a:cs typeface="Calibri" pitchFamily="34" charset="-120"/>
              </a:rPr>
              <a:t>=</a:t>
            </a:r>
            <a:r>
              <a:rPr lang="en-GB" sz="2400" b="1" i="1" dirty="0">
                <a:latin typeface="Calibri" pitchFamily="34" charset="0"/>
                <a:ea typeface="Calibri" pitchFamily="34" charset="-122"/>
                <a:cs typeface="Calibri" pitchFamily="34" charset="-120"/>
              </a:rPr>
              <a:t>  Search radius</a:t>
            </a:r>
          </a:p>
          <a:p>
            <a:r>
              <a:rPr lang="en-GB" sz="3200" b="1" dirty="0"/>
              <a:t>	</a:t>
            </a:r>
            <a:r>
              <a:rPr lang="el-GR" sz="3200" b="1" i="1" dirty="0"/>
              <a:t>λ</a:t>
            </a:r>
            <a:r>
              <a:rPr lang="en-GB" sz="3200" b="1" i="1" baseline="-25000" dirty="0"/>
              <a:t>B   </a:t>
            </a:r>
            <a:r>
              <a:rPr lang="en-GB" sz="2400" b="1" dirty="0"/>
              <a:t>= </a:t>
            </a:r>
            <a:r>
              <a:rPr lang="en-GB" sz="2400" b="1" i="1" dirty="0">
                <a:latin typeface="Calibri" pitchFamily="34" charset="0"/>
                <a:ea typeface="Calibri" pitchFamily="34" charset="-122"/>
                <a:cs typeface="Calibri" pitchFamily="34" charset="-120"/>
              </a:rPr>
              <a:t>Overall density of B points</a:t>
            </a:r>
          </a:p>
          <a:p>
            <a:r>
              <a:rPr lang="en-GB" sz="2400" b="1" i="1" dirty="0">
                <a:latin typeface="Calibri" pitchFamily="34" charset="0"/>
                <a:ea typeface="Calibri" pitchFamily="34" charset="-122"/>
                <a:cs typeface="Calibri" pitchFamily="34" charset="-120"/>
              </a:rPr>
              <a:t>	</a:t>
            </a:r>
            <a:r>
              <a:rPr lang="en-GB" sz="3200" b="1" i="1" dirty="0"/>
              <a:t>d</a:t>
            </a:r>
            <a:r>
              <a:rPr lang="en-GB" sz="3200" b="1" dirty="0"/>
              <a:t>   </a:t>
            </a:r>
            <a:r>
              <a:rPr lang="en-GB" sz="2400" b="1" dirty="0"/>
              <a:t>= Euclidian Distance from point A to B</a:t>
            </a:r>
            <a:endParaRPr lang="en-GB" sz="3200" b="1" dirty="0"/>
          </a:p>
          <a:p>
            <a:endParaRPr lang="en-GB" sz="3200" b="1" i="1" dirty="0">
              <a:latin typeface="Calibri" pitchFamily="34" charset="0"/>
              <a:ea typeface="Calibri" pitchFamily="34" charset="-122"/>
              <a:cs typeface="Calibri" pitchFamily="34" charset="-120"/>
            </a:endParaRPr>
          </a:p>
          <a:p>
            <a:endParaRPr lang="en-US" sz="3600" b="1" i="1" dirty="0">
              <a:latin typeface="Calibri" pitchFamily="34" charset="0"/>
              <a:ea typeface="Calibri" pitchFamily="34" charset="-122"/>
              <a:cs typeface="Calibri" pitchFamily="34" charset="-120"/>
            </a:endParaRPr>
          </a:p>
          <a:p>
            <a:pPr marL="457200" indent="-457200">
              <a:buAutoNum type="arabicPeriod"/>
            </a:pPr>
            <a:endParaRPr lang="en-US" sz="2000" i="1" dirty="0">
              <a:latin typeface="Calibri" pitchFamily="34" charset="0"/>
              <a:ea typeface="Calibri" pitchFamily="34" charset="-122"/>
              <a:cs typeface="Calibri" pitchFamily="34" charset="-120"/>
            </a:endParaRPr>
          </a:p>
          <a:p>
            <a:pPr marL="0" indent="0">
              <a:buNone/>
            </a:pPr>
            <a:endParaRPr lang="en-US" sz="1600" dirty="0"/>
          </a:p>
        </p:txBody>
      </p:sp>
    </p:spTree>
    <p:extLst>
      <p:ext uri="{BB962C8B-B14F-4D97-AF65-F5344CB8AC3E}">
        <p14:creationId xmlns:p14="http://schemas.microsoft.com/office/powerpoint/2010/main" val="4028967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43C03-9030-73D5-F0ED-E9308CCD009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A5FA94D-4E04-E6E1-9040-0CC72FA56444}"/>
              </a:ext>
            </a:extLst>
          </p:cNvPr>
          <p:cNvSpPr/>
          <p:nvPr/>
        </p:nvSpPr>
        <p:spPr>
          <a:xfrm>
            <a:off x="0" y="0"/>
            <a:ext cx="9144000" cy="731520"/>
          </a:xfrm>
          <a:prstGeom prst="rect">
            <a:avLst/>
          </a:prstGeom>
          <a:solidFill>
            <a:srgbClr val="0B1D3A"/>
          </a:solidFill>
          <a:ln/>
        </p:spPr>
        <p:txBody>
          <a:bodyPr/>
          <a:lstStyle/>
          <a:p>
            <a:endParaRPr lang="en-GB" dirty="0"/>
          </a:p>
        </p:txBody>
      </p:sp>
      <p:sp>
        <p:nvSpPr>
          <p:cNvPr id="3" name="Text 1">
            <a:extLst>
              <a:ext uri="{FF2B5EF4-FFF2-40B4-BE49-F238E27FC236}">
                <a16:creationId xmlns:a16="http://schemas.microsoft.com/office/drawing/2014/main" id="{A719B1EE-292D-9D41-4947-40AA5F8344D6}"/>
              </a:ext>
            </a:extLst>
          </p:cNvPr>
          <p:cNvSpPr/>
          <p:nvPr/>
        </p:nvSpPr>
        <p:spPr>
          <a:xfrm>
            <a:off x="560832"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Overview</a:t>
            </a:r>
            <a:endParaRPr lang="en-US" sz="1400" dirty="0"/>
          </a:p>
        </p:txBody>
      </p:sp>
      <p:sp>
        <p:nvSpPr>
          <p:cNvPr id="6" name="Shape 4">
            <a:extLst>
              <a:ext uri="{FF2B5EF4-FFF2-40B4-BE49-F238E27FC236}">
                <a16:creationId xmlns:a16="http://schemas.microsoft.com/office/drawing/2014/main" id="{C0FBE88F-5159-E149-C2E7-EAFA189EFFC3}"/>
              </a:ext>
            </a:extLst>
          </p:cNvPr>
          <p:cNvSpPr/>
          <p:nvPr/>
        </p:nvSpPr>
        <p:spPr>
          <a:xfrm>
            <a:off x="560832" y="1024128"/>
            <a:ext cx="8046720" cy="363931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p:txBody>
      </p:sp>
      <p:sp>
        <p:nvSpPr>
          <p:cNvPr id="7" name="Text 5">
            <a:extLst>
              <a:ext uri="{FF2B5EF4-FFF2-40B4-BE49-F238E27FC236}">
                <a16:creationId xmlns:a16="http://schemas.microsoft.com/office/drawing/2014/main" id="{8C533981-92D5-D311-9717-10EB86043FDD}"/>
              </a:ext>
            </a:extLst>
          </p:cNvPr>
          <p:cNvSpPr/>
          <p:nvPr/>
        </p:nvSpPr>
        <p:spPr>
          <a:xfrm>
            <a:off x="1267968" y="1446276"/>
            <a:ext cx="7315200" cy="3217164"/>
          </a:xfrm>
          <a:prstGeom prst="rect">
            <a:avLst/>
          </a:prstGeom>
          <a:noFill/>
          <a:ln/>
        </p:spPr>
        <p:txBody>
          <a:bodyPr wrap="square" lIns="0" tIns="0" rIns="0" bIns="0" rtlCol="0" anchor="ctr"/>
          <a:lstStyle/>
          <a:p>
            <a:endParaRPr lang="en-US" sz="2800" b="1" i="1" dirty="0">
              <a:latin typeface="Calibri" pitchFamily="34" charset="0"/>
              <a:ea typeface="Calibri" pitchFamily="34" charset="-122"/>
              <a:cs typeface="Calibri" pitchFamily="34" charset="-120"/>
            </a:endParaRPr>
          </a:p>
          <a:p>
            <a:endParaRPr lang="en-US" sz="2800" b="1" i="1" dirty="0">
              <a:latin typeface="Calibri" pitchFamily="34" charset="0"/>
              <a:ea typeface="Calibri" pitchFamily="34" charset="-122"/>
              <a:cs typeface="Calibri" pitchFamily="34" charset="-120"/>
            </a:endParaRPr>
          </a:p>
          <a:p>
            <a:r>
              <a:rPr lang="en-US" sz="3200" b="1" i="1" dirty="0">
                <a:latin typeface="Calibri" pitchFamily="34" charset="0"/>
                <a:ea typeface="Calibri" pitchFamily="34" charset="-122"/>
                <a:cs typeface="Calibri" pitchFamily="34" charset="-120"/>
              </a:rPr>
              <a:t>Under CSR:</a:t>
            </a:r>
          </a:p>
          <a:p>
            <a:pPr algn="ctr"/>
            <a:r>
              <a:rPr lang="en-US" sz="3600" b="1" i="1" dirty="0">
                <a:solidFill>
                  <a:srgbClr val="FF0000"/>
                </a:solidFill>
                <a:latin typeface="Calibri" pitchFamily="34" charset="0"/>
                <a:ea typeface="Calibri" pitchFamily="34" charset="-122"/>
                <a:cs typeface="Calibri" pitchFamily="34" charset="-120"/>
              </a:rPr>
              <a:t>K(r) = </a:t>
            </a:r>
            <a:r>
              <a:rPr lang="el-GR" sz="3600" b="1" dirty="0">
                <a:solidFill>
                  <a:srgbClr val="FF0000"/>
                </a:solidFill>
              </a:rPr>
              <a:t>π</a:t>
            </a:r>
            <a:r>
              <a:rPr lang="en-GB" sz="3600" b="1" dirty="0">
                <a:solidFill>
                  <a:srgbClr val="FF0000"/>
                </a:solidFill>
              </a:rPr>
              <a:t>r</a:t>
            </a:r>
            <a:r>
              <a:rPr lang="en-GB" sz="3600" b="1" baseline="30000" dirty="0">
                <a:solidFill>
                  <a:srgbClr val="FF0000"/>
                </a:solidFill>
              </a:rPr>
              <a:t>2</a:t>
            </a:r>
            <a:endParaRPr lang="en-US" sz="2800" b="1" i="1" dirty="0">
              <a:solidFill>
                <a:srgbClr val="FF0000"/>
              </a:solidFill>
              <a:latin typeface="Calibri" pitchFamily="34" charset="0"/>
              <a:ea typeface="Calibri" pitchFamily="34" charset="-122"/>
              <a:cs typeface="Calibri" pitchFamily="34" charset="-120"/>
            </a:endParaRPr>
          </a:p>
          <a:p>
            <a:r>
              <a:rPr lang="en-US" sz="3200" b="1" i="1" u="sng" dirty="0">
                <a:latin typeface="Calibri" pitchFamily="34" charset="0"/>
                <a:ea typeface="Calibri" pitchFamily="34" charset="-122"/>
                <a:cs typeface="Calibri" pitchFamily="34" charset="-120"/>
              </a:rPr>
              <a:t>L Function (stabilised K)</a:t>
            </a:r>
          </a:p>
          <a:p>
            <a:pPr algn="ctr"/>
            <a:r>
              <a:rPr lang="en-GB" sz="3600" b="1" i="1" dirty="0">
                <a:latin typeface="Calibri" pitchFamily="34" charset="0"/>
                <a:ea typeface="Calibri" pitchFamily="34" charset="-122"/>
                <a:cs typeface="Calibri" pitchFamily="34" charset="-120"/>
              </a:rPr>
              <a:t>L(r) = √(K(r)/</a:t>
            </a:r>
            <a:r>
              <a:rPr lang="el-GR" sz="3600" b="1" i="1" dirty="0">
                <a:latin typeface="Calibri" pitchFamily="34" charset="0"/>
                <a:ea typeface="Calibri" pitchFamily="34" charset="-122"/>
                <a:cs typeface="Calibri" pitchFamily="34" charset="-120"/>
              </a:rPr>
              <a:t>π) – </a:t>
            </a:r>
            <a:r>
              <a:rPr lang="en-GB" sz="3600" b="1" i="1" dirty="0">
                <a:latin typeface="Calibri" pitchFamily="34" charset="0"/>
                <a:ea typeface="Calibri" pitchFamily="34" charset="-122"/>
                <a:cs typeface="Calibri" pitchFamily="34" charset="-120"/>
              </a:rPr>
              <a:t>r</a:t>
            </a:r>
          </a:p>
          <a:p>
            <a:r>
              <a:rPr lang="en-GB" sz="3600" b="1" i="1" dirty="0">
                <a:latin typeface="Calibri" pitchFamily="34" charset="0"/>
                <a:ea typeface="Calibri" pitchFamily="34" charset="-122"/>
                <a:cs typeface="Calibri" pitchFamily="34" charset="-120"/>
              </a:rPr>
              <a:t>		 </a:t>
            </a:r>
            <a:r>
              <a:rPr lang="en-GB" sz="3600" b="1" i="1" dirty="0">
                <a:solidFill>
                  <a:srgbClr val="FF0000"/>
                </a:solidFill>
                <a:latin typeface="Calibri" pitchFamily="34" charset="0"/>
                <a:ea typeface="Calibri" pitchFamily="34" charset="-122"/>
                <a:cs typeface="Calibri" pitchFamily="34" charset="-120"/>
              </a:rPr>
              <a:t>L(r) = 0</a:t>
            </a:r>
          </a:p>
          <a:p>
            <a:r>
              <a:rPr lang="en-GB" sz="3200" b="1" dirty="0"/>
              <a:t> </a:t>
            </a:r>
            <a:endParaRPr lang="en-GB" sz="3200" b="1" i="1" dirty="0">
              <a:latin typeface="Calibri" pitchFamily="34" charset="0"/>
              <a:ea typeface="Calibri" pitchFamily="34" charset="-122"/>
              <a:cs typeface="Calibri" pitchFamily="34" charset="-120"/>
            </a:endParaRPr>
          </a:p>
          <a:p>
            <a:endParaRPr lang="en-US" sz="3600" b="1" i="1" dirty="0">
              <a:latin typeface="Calibri" pitchFamily="34" charset="0"/>
              <a:ea typeface="Calibri" pitchFamily="34" charset="-122"/>
              <a:cs typeface="Calibri" pitchFamily="34" charset="-120"/>
            </a:endParaRPr>
          </a:p>
          <a:p>
            <a:pPr marL="457200" indent="-457200">
              <a:buAutoNum type="arabicPeriod"/>
            </a:pPr>
            <a:endParaRPr lang="en-US" sz="2000" i="1" dirty="0">
              <a:latin typeface="Calibri" pitchFamily="34" charset="0"/>
              <a:ea typeface="Calibri" pitchFamily="34" charset="-122"/>
              <a:cs typeface="Calibri" pitchFamily="34" charset="-120"/>
            </a:endParaRPr>
          </a:p>
          <a:p>
            <a:pPr marL="0" indent="0">
              <a:buNone/>
            </a:pPr>
            <a:endParaRPr lang="en-US" sz="1600" dirty="0"/>
          </a:p>
        </p:txBody>
      </p:sp>
    </p:spTree>
    <p:extLst>
      <p:ext uri="{BB962C8B-B14F-4D97-AF65-F5344CB8AC3E}">
        <p14:creationId xmlns:p14="http://schemas.microsoft.com/office/powerpoint/2010/main" val="3743424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D3A"/>
          </a:solidFill>
          <a:ln/>
        </p:spPr>
        <p:txBody>
          <a:bodyPr/>
          <a:lstStyle/>
          <a:p>
            <a:endParaRPr lang="en-GB"/>
          </a:p>
        </p:txBody>
      </p:sp>
      <p:sp>
        <p:nvSpPr>
          <p:cNvPr id="3" name="Text 1"/>
          <p:cNvSpPr/>
          <p:nvPr/>
        </p:nvSpPr>
        <p:spPr>
          <a:xfrm>
            <a:off x="548640" y="137160"/>
            <a:ext cx="54864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Notebook Overview</a:t>
            </a:r>
            <a:endParaRPr lang="en-US" sz="2600" dirty="0"/>
          </a:p>
        </p:txBody>
      </p:sp>
      <p:pic>
        <p:nvPicPr>
          <p:cNvPr id="4" name="Image 0" descr="preencoded.png"/>
          <p:cNvPicPr>
            <a:picLocks noChangeAspect="1"/>
          </p:cNvPicPr>
          <p:nvPr/>
        </p:nvPicPr>
        <p:blipFill>
          <a:blip r:embed="rId3"/>
          <a:stretch>
            <a:fillRect/>
          </a:stretch>
        </p:blipFill>
        <p:spPr>
          <a:xfrm>
            <a:off x="8229600" y="137160"/>
            <a:ext cx="502920" cy="502920"/>
          </a:xfrm>
          <a:prstGeom prst="rect">
            <a:avLst/>
          </a:prstGeom>
        </p:spPr>
      </p:pic>
      <p:sp>
        <p:nvSpPr>
          <p:cNvPr id="5" name="Shape 2"/>
          <p:cNvSpPr/>
          <p:nvPr/>
        </p:nvSpPr>
        <p:spPr>
          <a:xfrm>
            <a:off x="548640" y="1234440"/>
            <a:ext cx="502920" cy="502920"/>
          </a:xfrm>
          <a:prstGeom prst="ellipse">
            <a:avLst/>
          </a:prstGeom>
          <a:solidFill>
            <a:srgbClr val="0D9488"/>
          </a:solidFill>
          <a:ln/>
        </p:spPr>
        <p:txBody>
          <a:bodyPr/>
          <a:lstStyle/>
          <a:p>
            <a:endParaRPr lang="en-GB"/>
          </a:p>
        </p:txBody>
      </p:sp>
      <p:sp>
        <p:nvSpPr>
          <p:cNvPr id="6" name="Text 3"/>
          <p:cNvSpPr/>
          <p:nvPr/>
        </p:nvSpPr>
        <p:spPr>
          <a:xfrm>
            <a:off x="548640" y="12344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7" name="Text 4"/>
          <p:cNvSpPr/>
          <p:nvPr/>
        </p:nvSpPr>
        <p:spPr>
          <a:xfrm>
            <a:off x="1188720" y="1234440"/>
            <a:ext cx="3383280" cy="50292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Data Loading &amp; Inspection</a:t>
            </a:r>
            <a:endParaRPr lang="en-US" sz="1400" dirty="0"/>
          </a:p>
        </p:txBody>
      </p:sp>
      <p:sp>
        <p:nvSpPr>
          <p:cNvPr id="8" name="Shape 5"/>
          <p:cNvSpPr/>
          <p:nvPr/>
        </p:nvSpPr>
        <p:spPr>
          <a:xfrm>
            <a:off x="548640" y="2148840"/>
            <a:ext cx="502920" cy="502920"/>
          </a:xfrm>
          <a:prstGeom prst="ellipse">
            <a:avLst/>
          </a:prstGeom>
          <a:solidFill>
            <a:srgbClr val="0D9488"/>
          </a:solidFill>
          <a:ln/>
        </p:spPr>
        <p:txBody>
          <a:bodyPr/>
          <a:lstStyle/>
          <a:p>
            <a:endParaRPr lang="en-GB"/>
          </a:p>
        </p:txBody>
      </p:sp>
      <p:sp>
        <p:nvSpPr>
          <p:cNvPr id="9" name="Text 6"/>
          <p:cNvSpPr/>
          <p:nvPr/>
        </p:nvSpPr>
        <p:spPr>
          <a:xfrm>
            <a:off x="548640" y="21488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0" name="Text 7"/>
          <p:cNvSpPr/>
          <p:nvPr/>
        </p:nvSpPr>
        <p:spPr>
          <a:xfrm>
            <a:off x="1188720" y="2148840"/>
            <a:ext cx="3383280" cy="50292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Closer Inspection</a:t>
            </a:r>
            <a:endParaRPr lang="en-US" sz="1400" dirty="0"/>
          </a:p>
        </p:txBody>
      </p:sp>
      <p:sp>
        <p:nvSpPr>
          <p:cNvPr id="11" name="Shape 8"/>
          <p:cNvSpPr/>
          <p:nvPr/>
        </p:nvSpPr>
        <p:spPr>
          <a:xfrm>
            <a:off x="548640" y="3063240"/>
            <a:ext cx="502920" cy="502920"/>
          </a:xfrm>
          <a:prstGeom prst="ellipse">
            <a:avLst/>
          </a:prstGeom>
          <a:solidFill>
            <a:srgbClr val="0D9488"/>
          </a:solidFill>
          <a:ln/>
        </p:spPr>
        <p:txBody>
          <a:bodyPr/>
          <a:lstStyle/>
          <a:p>
            <a:endParaRPr lang="en-GB"/>
          </a:p>
        </p:txBody>
      </p:sp>
      <p:sp>
        <p:nvSpPr>
          <p:cNvPr id="12" name="Text 9"/>
          <p:cNvSpPr/>
          <p:nvPr/>
        </p:nvSpPr>
        <p:spPr>
          <a:xfrm>
            <a:off x="548640" y="30632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3" name="Text 10"/>
          <p:cNvSpPr/>
          <p:nvPr/>
        </p:nvSpPr>
        <p:spPr>
          <a:xfrm>
            <a:off x="1188720" y="3063240"/>
            <a:ext cx="3383280" cy="50292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Core Stats Functions</a:t>
            </a:r>
            <a:endParaRPr lang="en-US" sz="1400" dirty="0"/>
          </a:p>
        </p:txBody>
      </p:sp>
      <p:sp>
        <p:nvSpPr>
          <p:cNvPr id="14" name="Shape 11"/>
          <p:cNvSpPr/>
          <p:nvPr/>
        </p:nvSpPr>
        <p:spPr>
          <a:xfrm>
            <a:off x="548640" y="3977640"/>
            <a:ext cx="502920" cy="502920"/>
          </a:xfrm>
          <a:prstGeom prst="ellipse">
            <a:avLst/>
          </a:prstGeom>
          <a:solidFill>
            <a:srgbClr val="0D9488"/>
          </a:solidFill>
          <a:ln/>
        </p:spPr>
        <p:txBody>
          <a:bodyPr/>
          <a:lstStyle/>
          <a:p>
            <a:endParaRPr lang="en-GB"/>
          </a:p>
        </p:txBody>
      </p:sp>
      <p:sp>
        <p:nvSpPr>
          <p:cNvPr id="15" name="Text 12"/>
          <p:cNvSpPr/>
          <p:nvPr/>
        </p:nvSpPr>
        <p:spPr>
          <a:xfrm>
            <a:off x="548640" y="39776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16" name="Text 13"/>
          <p:cNvSpPr/>
          <p:nvPr/>
        </p:nvSpPr>
        <p:spPr>
          <a:xfrm>
            <a:off x="1188720" y="3977640"/>
            <a:ext cx="3383280" cy="50292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First positive control (KRT8 x KRT18)</a:t>
            </a:r>
            <a:endParaRPr lang="en-US" sz="1400" dirty="0"/>
          </a:p>
        </p:txBody>
      </p:sp>
      <p:sp>
        <p:nvSpPr>
          <p:cNvPr id="17" name="Shape 14"/>
          <p:cNvSpPr/>
          <p:nvPr/>
        </p:nvSpPr>
        <p:spPr>
          <a:xfrm>
            <a:off x="4754880" y="1234440"/>
            <a:ext cx="502920" cy="502920"/>
          </a:xfrm>
          <a:prstGeom prst="ellipse">
            <a:avLst/>
          </a:prstGeom>
          <a:solidFill>
            <a:srgbClr val="0D9488"/>
          </a:solidFill>
          <a:ln/>
        </p:spPr>
        <p:txBody>
          <a:bodyPr/>
          <a:lstStyle/>
          <a:p>
            <a:endParaRPr lang="en-GB"/>
          </a:p>
        </p:txBody>
      </p:sp>
      <p:sp>
        <p:nvSpPr>
          <p:cNvPr id="18" name="Text 15"/>
          <p:cNvSpPr/>
          <p:nvPr/>
        </p:nvSpPr>
        <p:spPr>
          <a:xfrm>
            <a:off x="4754880" y="12344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19" name="Text 16"/>
          <p:cNvSpPr/>
          <p:nvPr/>
        </p:nvSpPr>
        <p:spPr>
          <a:xfrm>
            <a:off x="5394960" y="1234440"/>
            <a:ext cx="3383280" cy="50292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Negative Control (MALAT1 x KRT18)</a:t>
            </a:r>
            <a:endParaRPr lang="en-US" sz="1400" dirty="0"/>
          </a:p>
        </p:txBody>
      </p:sp>
      <p:sp>
        <p:nvSpPr>
          <p:cNvPr id="20" name="Shape 17"/>
          <p:cNvSpPr/>
          <p:nvPr/>
        </p:nvSpPr>
        <p:spPr>
          <a:xfrm>
            <a:off x="4754880" y="2148840"/>
            <a:ext cx="502920" cy="502920"/>
          </a:xfrm>
          <a:prstGeom prst="ellipse">
            <a:avLst/>
          </a:prstGeom>
          <a:solidFill>
            <a:srgbClr val="0D9488"/>
          </a:solidFill>
          <a:ln/>
        </p:spPr>
        <p:txBody>
          <a:bodyPr/>
          <a:lstStyle/>
          <a:p>
            <a:endParaRPr lang="en-GB"/>
          </a:p>
        </p:txBody>
      </p:sp>
      <p:sp>
        <p:nvSpPr>
          <p:cNvPr id="21" name="Text 18"/>
          <p:cNvSpPr/>
          <p:nvPr/>
        </p:nvSpPr>
        <p:spPr>
          <a:xfrm>
            <a:off x="4754880" y="21488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22" name="Text 19"/>
          <p:cNvSpPr/>
          <p:nvPr/>
        </p:nvSpPr>
        <p:spPr>
          <a:xfrm>
            <a:off x="5394960" y="2148840"/>
            <a:ext cx="3383280" cy="50292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Ligand-Receptor Pairs</a:t>
            </a:r>
            <a:endParaRPr lang="en-US" sz="1400" dirty="0"/>
          </a:p>
        </p:txBody>
      </p:sp>
      <p:sp>
        <p:nvSpPr>
          <p:cNvPr id="23" name="Shape 20"/>
          <p:cNvSpPr/>
          <p:nvPr/>
        </p:nvSpPr>
        <p:spPr>
          <a:xfrm>
            <a:off x="4754880" y="3063240"/>
            <a:ext cx="502920" cy="502920"/>
          </a:xfrm>
          <a:prstGeom prst="ellipse">
            <a:avLst/>
          </a:prstGeom>
          <a:solidFill>
            <a:srgbClr val="0D9488"/>
          </a:solidFill>
          <a:ln/>
        </p:spPr>
        <p:txBody>
          <a:bodyPr/>
          <a:lstStyle/>
          <a:p>
            <a:endParaRPr lang="en-GB"/>
          </a:p>
        </p:txBody>
      </p:sp>
      <p:sp>
        <p:nvSpPr>
          <p:cNvPr id="24" name="Text 21"/>
          <p:cNvSpPr/>
          <p:nvPr/>
        </p:nvSpPr>
        <p:spPr>
          <a:xfrm>
            <a:off x="4754880" y="30632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25" name="Text 22"/>
          <p:cNvSpPr/>
          <p:nvPr/>
        </p:nvSpPr>
        <p:spPr>
          <a:xfrm>
            <a:off x="5394960" y="3063240"/>
            <a:ext cx="3383280" cy="50292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Multi-FOV Pipeline</a:t>
            </a:r>
            <a:endParaRPr lang="en-US" sz="1400" dirty="0"/>
          </a:p>
        </p:txBody>
      </p:sp>
      <p:sp>
        <p:nvSpPr>
          <p:cNvPr id="26" name="Shape 23"/>
          <p:cNvSpPr/>
          <p:nvPr/>
        </p:nvSpPr>
        <p:spPr>
          <a:xfrm>
            <a:off x="4754880" y="3977640"/>
            <a:ext cx="502920" cy="502920"/>
          </a:xfrm>
          <a:prstGeom prst="ellipse">
            <a:avLst/>
          </a:prstGeom>
          <a:solidFill>
            <a:srgbClr val="0D9488"/>
          </a:solidFill>
          <a:ln/>
        </p:spPr>
        <p:txBody>
          <a:bodyPr/>
          <a:lstStyle/>
          <a:p>
            <a:endParaRPr lang="en-GB"/>
          </a:p>
        </p:txBody>
      </p:sp>
      <p:sp>
        <p:nvSpPr>
          <p:cNvPr id="27" name="Text 24"/>
          <p:cNvSpPr/>
          <p:nvPr/>
        </p:nvSpPr>
        <p:spPr>
          <a:xfrm>
            <a:off x="4754880" y="39776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08</a:t>
            </a:r>
            <a:endParaRPr lang="en-US" sz="1400" dirty="0"/>
          </a:p>
        </p:txBody>
      </p:sp>
      <p:sp>
        <p:nvSpPr>
          <p:cNvPr id="28" name="Text 25"/>
          <p:cNvSpPr/>
          <p:nvPr/>
        </p:nvSpPr>
        <p:spPr>
          <a:xfrm>
            <a:off x="5394960" y="3977640"/>
            <a:ext cx="3383280" cy="50292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Network &amp; Module Discovery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6858000" y="-731520"/>
            <a:ext cx="3657600" cy="3657600"/>
          </a:xfrm>
          <a:prstGeom prst="ellipse">
            <a:avLst/>
          </a:prstGeom>
          <a:solidFill>
            <a:srgbClr val="1E3A5F">
              <a:alpha val="45000"/>
            </a:srgbClr>
          </a:solidFill>
          <a:ln/>
        </p:spPr>
        <p:txBody>
          <a:bodyPr/>
          <a:lstStyle/>
          <a:p>
            <a:endParaRPr lang="en-GB"/>
          </a:p>
        </p:txBody>
      </p:sp>
      <p:sp>
        <p:nvSpPr>
          <p:cNvPr id="3" name="Shape 1"/>
          <p:cNvSpPr/>
          <p:nvPr/>
        </p:nvSpPr>
        <p:spPr>
          <a:xfrm>
            <a:off x="7772400" y="2743200"/>
            <a:ext cx="2286000" cy="2286000"/>
          </a:xfrm>
          <a:prstGeom prst="ellipse">
            <a:avLst/>
          </a:prstGeom>
          <a:solidFill>
            <a:srgbClr val="0D9488">
              <a:alpha val="30000"/>
            </a:srgbClr>
          </a:solidFill>
          <a:ln/>
        </p:spPr>
        <p:txBody>
          <a:bodyPr/>
          <a:lstStyle/>
          <a:p>
            <a:endParaRPr lang="en-GB"/>
          </a:p>
        </p:txBody>
      </p:sp>
      <p:sp>
        <p:nvSpPr>
          <p:cNvPr id="4" name="Text 2"/>
          <p:cNvSpPr/>
          <p:nvPr/>
        </p:nvSpPr>
        <p:spPr>
          <a:xfrm>
            <a:off x="548640" y="457200"/>
            <a:ext cx="1828800" cy="1645920"/>
          </a:xfrm>
          <a:prstGeom prst="rect">
            <a:avLst/>
          </a:prstGeom>
          <a:noFill/>
          <a:ln/>
        </p:spPr>
        <p:txBody>
          <a:bodyPr wrap="square" lIns="0" tIns="0" rIns="0" bIns="0" rtlCol="0" anchor="ctr"/>
          <a:lstStyle/>
          <a:p>
            <a:pPr marL="0" indent="0">
              <a:buNone/>
            </a:pPr>
            <a:r>
              <a:rPr lang="en-US" sz="7200" b="1" dirty="0">
                <a:solidFill>
                  <a:srgbClr val="0D9488"/>
                </a:solidFill>
                <a:latin typeface="Georgia" pitchFamily="34" charset="0"/>
                <a:ea typeface="Georgia" pitchFamily="34" charset="-122"/>
                <a:cs typeface="Georgia" pitchFamily="34" charset="-120"/>
              </a:rPr>
              <a:t>01</a:t>
            </a:r>
            <a:endParaRPr lang="en-US" sz="7200" dirty="0"/>
          </a:p>
        </p:txBody>
      </p:sp>
      <p:sp>
        <p:nvSpPr>
          <p:cNvPr id="5" name="Shape 3"/>
          <p:cNvSpPr/>
          <p:nvPr/>
        </p:nvSpPr>
        <p:spPr>
          <a:xfrm>
            <a:off x="548640" y="2194560"/>
            <a:ext cx="3200400" cy="36576"/>
          </a:xfrm>
          <a:prstGeom prst="rect">
            <a:avLst/>
          </a:prstGeom>
          <a:solidFill>
            <a:srgbClr val="0D9488"/>
          </a:solidFill>
          <a:ln/>
        </p:spPr>
        <p:txBody>
          <a:bodyPr/>
          <a:lstStyle/>
          <a:p>
            <a:endParaRPr lang="en-GB"/>
          </a:p>
        </p:txBody>
      </p:sp>
      <p:sp>
        <p:nvSpPr>
          <p:cNvPr id="6" name="Text 4"/>
          <p:cNvSpPr/>
          <p:nvPr/>
        </p:nvSpPr>
        <p:spPr>
          <a:xfrm>
            <a:off x="548640" y="2468880"/>
            <a:ext cx="6400800" cy="91440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Data Loading &amp; Inspection</a:t>
            </a:r>
            <a:endParaRPr lang="en-US" sz="3200" dirty="0"/>
          </a:p>
        </p:txBody>
      </p:sp>
      <p:pic>
        <p:nvPicPr>
          <p:cNvPr id="8" name="Image 0" descr="preencoded.png"/>
          <p:cNvPicPr>
            <a:picLocks noChangeAspect="1"/>
          </p:cNvPicPr>
          <p:nvPr/>
        </p:nvPicPr>
        <p:blipFill>
          <a:blip r:embed="rId3"/>
          <a:stretch>
            <a:fillRect/>
          </a:stretch>
        </p:blipFill>
        <p:spPr>
          <a:xfrm>
            <a:off x="8046720" y="4114800"/>
            <a:ext cx="640080" cy="6400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D3A"/>
          </a:solidFill>
          <a:ln/>
        </p:spPr>
        <p:txBody>
          <a:bodyPr/>
          <a:lstStyle/>
          <a:p>
            <a:endParaRPr lang="en-GB"/>
          </a:p>
        </p:txBody>
      </p:sp>
      <p:sp>
        <p:nvSpPr>
          <p:cNvPr id="3" name="Text 1"/>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01  —  Data Loading &amp; Inspection</a:t>
            </a:r>
            <a:endParaRPr lang="en-US" sz="1400" dirty="0"/>
          </a:p>
        </p:txBody>
      </p:sp>
      <p:sp>
        <p:nvSpPr>
          <p:cNvPr id="4" name="Shape 2"/>
          <p:cNvSpPr/>
          <p:nvPr/>
        </p:nvSpPr>
        <p:spPr>
          <a:xfrm>
            <a:off x="548640" y="1051560"/>
            <a:ext cx="54864" cy="457200"/>
          </a:xfrm>
          <a:prstGeom prst="rect">
            <a:avLst/>
          </a:prstGeom>
          <a:solidFill>
            <a:srgbClr val="0D9488"/>
          </a:solidFill>
          <a:ln/>
        </p:spPr>
        <p:txBody>
          <a:bodyPr/>
          <a:lstStyle/>
          <a:p>
            <a:endParaRPr lang="en-GB"/>
          </a:p>
        </p:txBody>
      </p:sp>
      <p:sp>
        <p:nvSpPr>
          <p:cNvPr id="5" name="Text 3"/>
          <p:cNvSpPr/>
          <p:nvPr/>
        </p:nvSpPr>
        <p:spPr>
          <a:xfrm>
            <a:off x="777240" y="1051560"/>
            <a:ext cx="2743200" cy="45720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Method</a:t>
            </a:r>
            <a:endParaRPr lang="en-US" sz="2600" dirty="0"/>
          </a:p>
        </p:txBody>
      </p:sp>
      <p:sp>
        <p:nvSpPr>
          <p:cNvPr id="6" name="Shape 4"/>
          <p:cNvSpPr/>
          <p:nvPr/>
        </p:nvSpPr>
        <p:spPr>
          <a:xfrm>
            <a:off x="548640" y="1621536"/>
            <a:ext cx="8046720" cy="30419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p:txBody>
      </p:sp>
      <p:sp>
        <p:nvSpPr>
          <p:cNvPr id="7" name="Text 5"/>
          <p:cNvSpPr/>
          <p:nvPr/>
        </p:nvSpPr>
        <p:spPr>
          <a:xfrm>
            <a:off x="937260" y="2083308"/>
            <a:ext cx="7315200" cy="2365248"/>
          </a:xfrm>
          <a:prstGeom prst="rect">
            <a:avLst/>
          </a:prstGeom>
          <a:noFill/>
          <a:ln/>
        </p:spPr>
        <p:txBody>
          <a:bodyPr wrap="square" lIns="0" tIns="0" rIns="0" bIns="0" rtlCol="0" anchor="ctr"/>
          <a:lstStyle/>
          <a:p>
            <a:r>
              <a:rPr lang="en-US" sz="2000" b="1" i="1" dirty="0">
                <a:latin typeface="Calibri" pitchFamily="34" charset="0"/>
                <a:ea typeface="Calibri" pitchFamily="34" charset="-122"/>
                <a:cs typeface="Calibri" pitchFamily="34" charset="-120"/>
              </a:rPr>
              <a:t>1</a:t>
            </a:r>
            <a:r>
              <a:rPr lang="en-US" sz="2000" i="1" dirty="0">
                <a:latin typeface="Calibri" pitchFamily="34" charset="0"/>
                <a:ea typeface="Calibri" pitchFamily="34" charset="-122"/>
                <a:cs typeface="Calibri" pitchFamily="34" charset="-120"/>
              </a:rPr>
              <a:t>. Load the Varsha_1234.zarr spatial object</a:t>
            </a:r>
          </a:p>
          <a:p>
            <a:pPr marL="457200" indent="-457200">
              <a:buAutoNum type="arabicPeriod"/>
            </a:pPr>
            <a:endParaRPr lang="en-US" sz="2000" i="1" dirty="0">
              <a:latin typeface="Calibri" pitchFamily="34" charset="0"/>
              <a:ea typeface="Calibri" pitchFamily="34" charset="-122"/>
              <a:cs typeface="Calibri" pitchFamily="34" charset="-120"/>
            </a:endParaRPr>
          </a:p>
          <a:p>
            <a:pPr marL="0" indent="0">
              <a:buNone/>
            </a:pPr>
            <a:r>
              <a:rPr lang="en-US" sz="2000" b="1" i="1" dirty="0">
                <a:latin typeface="Calibri" pitchFamily="34" charset="0"/>
                <a:ea typeface="Calibri" pitchFamily="34" charset="-122"/>
                <a:cs typeface="Calibri" pitchFamily="34" charset="-120"/>
              </a:rPr>
              <a:t>2</a:t>
            </a:r>
            <a:r>
              <a:rPr lang="en-US" sz="2000" i="1" dirty="0">
                <a:latin typeface="Calibri" pitchFamily="34" charset="0"/>
                <a:ea typeface="Calibri" pitchFamily="34" charset="-122"/>
                <a:cs typeface="Calibri" pitchFamily="34" charset="-120"/>
              </a:rPr>
              <a:t>. Inspect the general structure, number of transcripts and FOVs etc.</a:t>
            </a:r>
          </a:p>
          <a:p>
            <a:pPr marL="0" indent="0">
              <a:buNone/>
            </a:pPr>
            <a:endParaRPr lang="en-US" sz="2000" i="1" dirty="0">
              <a:latin typeface="Calibri" pitchFamily="34" charset="0"/>
              <a:ea typeface="Calibri" pitchFamily="34" charset="-122"/>
              <a:cs typeface="Calibri" pitchFamily="34" charset="-120"/>
            </a:endParaRPr>
          </a:p>
          <a:p>
            <a:pPr marL="0" indent="0">
              <a:buNone/>
            </a:pPr>
            <a:r>
              <a:rPr lang="en-US" sz="2000" b="1" i="1" dirty="0">
                <a:latin typeface="Calibri" pitchFamily="34" charset="0"/>
                <a:ea typeface="Calibri" pitchFamily="34" charset="-122"/>
                <a:cs typeface="Calibri" pitchFamily="34" charset="-120"/>
              </a:rPr>
              <a:t>3. </a:t>
            </a:r>
            <a:r>
              <a:rPr lang="en-US" sz="2000" i="1" dirty="0">
                <a:latin typeface="Calibri" pitchFamily="34" charset="0"/>
                <a:ea typeface="Calibri" pitchFamily="34" charset="-122"/>
                <a:cs typeface="Calibri" pitchFamily="34" charset="-120"/>
              </a:rPr>
              <a:t>Broadly understand the data I am working with</a:t>
            </a:r>
          </a:p>
          <a:p>
            <a:pPr marL="0" indent="0">
              <a:buNone/>
            </a:pPr>
            <a:r>
              <a:rPr lang="en-US" sz="2000" i="1" dirty="0">
                <a:latin typeface="Calibri" pitchFamily="34" charset="0"/>
                <a:ea typeface="Calibri" pitchFamily="34" charset="-122"/>
                <a:cs typeface="Calibri" pitchFamily="34" charset="-120"/>
              </a:rPr>
              <a:t>	- Global vs. local coordinates</a:t>
            </a:r>
          </a:p>
          <a:p>
            <a:pPr marL="0" indent="0">
              <a:buNone/>
            </a:pPr>
            <a:r>
              <a:rPr lang="en-US" sz="2000" i="1" dirty="0">
                <a:latin typeface="Calibri" pitchFamily="34" charset="0"/>
                <a:ea typeface="Calibri" pitchFamily="34" charset="-122"/>
                <a:cs typeface="Calibri" pitchFamily="34" charset="-120"/>
              </a:rPr>
              <a:t>	- Gene abundancies</a:t>
            </a:r>
          </a:p>
          <a:p>
            <a:pPr marL="0" indent="0">
              <a:buNone/>
            </a:pPr>
            <a:endParaRPr lang="en-US" sz="2000" i="1" dirty="0">
              <a:latin typeface="Calibri" pitchFamily="34" charset="0"/>
              <a:ea typeface="Calibri" pitchFamily="34" charset="-122"/>
              <a:cs typeface="Calibri" pitchFamily="34" charset="-120"/>
            </a:endParaRPr>
          </a:p>
          <a:p>
            <a:pPr marL="0" indent="0">
              <a:buNone/>
            </a:pPr>
            <a:r>
              <a:rPr lang="en-US" sz="2000" b="1" i="1" dirty="0">
                <a:latin typeface="Calibri" pitchFamily="34" charset="0"/>
                <a:ea typeface="Calibri" pitchFamily="34" charset="-122"/>
                <a:cs typeface="Calibri" pitchFamily="34" charset="-120"/>
              </a:rPr>
              <a:t>4. </a:t>
            </a:r>
            <a:r>
              <a:rPr lang="en-US" sz="2000" i="1" dirty="0">
                <a:latin typeface="Calibri" pitchFamily="34" charset="0"/>
                <a:ea typeface="Calibri" pitchFamily="34" charset="-122"/>
                <a:cs typeface="Calibri" pitchFamily="34" charset="-120"/>
              </a:rPr>
              <a:t>FOV of interest selection</a:t>
            </a:r>
          </a:p>
          <a:p>
            <a:pPr marL="0" indent="0">
              <a:buNone/>
            </a:pPr>
            <a:endParaRPr lang="en-US" sz="1600" dirty="0"/>
          </a:p>
        </p:txBody>
      </p:sp>
      <p:pic>
        <p:nvPicPr>
          <p:cNvPr id="8" name="Image 0" descr="preencoded.png"/>
          <p:cNvPicPr>
            <a:picLocks noChangeAspect="1"/>
          </p:cNvPicPr>
          <p:nvPr/>
        </p:nvPicPr>
        <p:blipFill>
          <a:blip r:embed="rId3"/>
          <a:stretch>
            <a:fillRect/>
          </a:stretch>
        </p:blipFill>
        <p:spPr>
          <a:xfrm>
            <a:off x="8046720" y="4206240"/>
            <a:ext cx="411480" cy="4114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D3A"/>
          </a:solidFill>
          <a:ln/>
        </p:spPr>
        <p:txBody>
          <a:bodyPr/>
          <a:lstStyle/>
          <a:p>
            <a:endParaRPr lang="en-GB"/>
          </a:p>
        </p:txBody>
      </p:sp>
      <p:sp>
        <p:nvSpPr>
          <p:cNvPr id="3" name="Text 1"/>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01  —  Data Loading &amp; Inspection</a:t>
            </a:r>
            <a:endParaRPr lang="en-US" sz="1400" dirty="0"/>
          </a:p>
        </p:txBody>
      </p:sp>
      <p:sp>
        <p:nvSpPr>
          <p:cNvPr id="4" name="Shape 2"/>
          <p:cNvSpPr/>
          <p:nvPr/>
        </p:nvSpPr>
        <p:spPr>
          <a:xfrm>
            <a:off x="548640" y="1051560"/>
            <a:ext cx="54864" cy="457200"/>
          </a:xfrm>
          <a:prstGeom prst="rect">
            <a:avLst/>
          </a:prstGeom>
          <a:solidFill>
            <a:srgbClr val="F59E0B"/>
          </a:solidFill>
          <a:ln/>
        </p:spPr>
        <p:txBody>
          <a:bodyPr/>
          <a:lstStyle/>
          <a:p>
            <a:endParaRPr lang="en-GB"/>
          </a:p>
        </p:txBody>
      </p:sp>
      <p:sp>
        <p:nvSpPr>
          <p:cNvPr id="5" name="Text 3"/>
          <p:cNvSpPr/>
          <p:nvPr/>
        </p:nvSpPr>
        <p:spPr>
          <a:xfrm>
            <a:off x="777240" y="1051560"/>
            <a:ext cx="2743200" cy="45720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rPr>
              <a:t>Findings</a:t>
            </a:r>
            <a:endParaRPr lang="en-US" sz="2600" dirty="0"/>
          </a:p>
        </p:txBody>
      </p:sp>
      <p:sp>
        <p:nvSpPr>
          <p:cNvPr id="8" name="Shape 6"/>
          <p:cNvSpPr/>
          <p:nvPr/>
        </p:nvSpPr>
        <p:spPr>
          <a:xfrm>
            <a:off x="548640" y="1737360"/>
            <a:ext cx="804672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p:txBody>
      </p:sp>
      <p:pic>
        <p:nvPicPr>
          <p:cNvPr id="10" name="Image 0" descr="preencoded.png"/>
          <p:cNvPicPr>
            <a:picLocks noChangeAspect="1"/>
          </p:cNvPicPr>
          <p:nvPr/>
        </p:nvPicPr>
        <p:blipFill>
          <a:blip r:embed="rId3"/>
          <a:stretch>
            <a:fillRect/>
          </a:stretch>
        </p:blipFill>
        <p:spPr>
          <a:xfrm>
            <a:off x="8046720" y="4206240"/>
            <a:ext cx="411480" cy="411480"/>
          </a:xfrm>
          <a:prstGeom prst="rect">
            <a:avLst/>
          </a:prstGeom>
        </p:spPr>
      </p:pic>
      <p:pic>
        <p:nvPicPr>
          <p:cNvPr id="12" name="Picture 11">
            <a:extLst>
              <a:ext uri="{FF2B5EF4-FFF2-40B4-BE49-F238E27FC236}">
                <a16:creationId xmlns:a16="http://schemas.microsoft.com/office/drawing/2014/main" id="{F3C28F69-DA6F-7B6A-7674-CEBE88A5EFFA}"/>
              </a:ext>
            </a:extLst>
          </p:cNvPr>
          <p:cNvPicPr>
            <a:picLocks noChangeAspect="1"/>
          </p:cNvPicPr>
          <p:nvPr/>
        </p:nvPicPr>
        <p:blipFill>
          <a:blip r:embed="rId4"/>
          <a:stretch>
            <a:fillRect/>
          </a:stretch>
        </p:blipFill>
        <p:spPr>
          <a:xfrm>
            <a:off x="5011674" y="1819656"/>
            <a:ext cx="2693670" cy="2693670"/>
          </a:xfrm>
          <a:prstGeom prst="rect">
            <a:avLst/>
          </a:prstGeom>
        </p:spPr>
      </p:pic>
      <p:sp>
        <p:nvSpPr>
          <p:cNvPr id="13" name="Text 5">
            <a:extLst>
              <a:ext uri="{FF2B5EF4-FFF2-40B4-BE49-F238E27FC236}">
                <a16:creationId xmlns:a16="http://schemas.microsoft.com/office/drawing/2014/main" id="{3E8C90BB-099C-30CC-0721-A9B8B87DFC4B}"/>
              </a:ext>
            </a:extLst>
          </p:cNvPr>
          <p:cNvSpPr/>
          <p:nvPr/>
        </p:nvSpPr>
        <p:spPr>
          <a:xfrm>
            <a:off x="937260" y="2083308"/>
            <a:ext cx="4074414" cy="2365248"/>
          </a:xfrm>
          <a:prstGeom prst="rect">
            <a:avLst/>
          </a:prstGeom>
          <a:noFill/>
          <a:ln/>
        </p:spPr>
        <p:txBody>
          <a:bodyPr wrap="square" lIns="0" tIns="0" rIns="0" bIns="0" rtlCol="0" anchor="ctr"/>
          <a:lstStyle/>
          <a:p>
            <a:r>
              <a:rPr lang="en-US" sz="2000" b="1" i="1" dirty="0">
                <a:latin typeface="Calibri" pitchFamily="34" charset="0"/>
                <a:ea typeface="Calibri" pitchFamily="34" charset="-122"/>
                <a:cs typeface="Calibri" pitchFamily="34" charset="-120"/>
              </a:rPr>
              <a:t>2.7 million transcripts total</a:t>
            </a:r>
          </a:p>
          <a:p>
            <a:endParaRPr lang="en-US" sz="2000" b="1" i="1" dirty="0">
              <a:latin typeface="Calibri" pitchFamily="34" charset="0"/>
              <a:ea typeface="Calibri" pitchFamily="34" charset="-122"/>
              <a:cs typeface="Calibri" pitchFamily="34" charset="-120"/>
            </a:endParaRPr>
          </a:p>
          <a:p>
            <a:r>
              <a:rPr lang="en-US" sz="2000" b="1" i="1" dirty="0">
                <a:latin typeface="Calibri" pitchFamily="34" charset="0"/>
                <a:ea typeface="Calibri" pitchFamily="34" charset="-122"/>
                <a:cs typeface="Calibri" pitchFamily="34" charset="-120"/>
              </a:rPr>
              <a:t>63 (of 67 initial) FOVs</a:t>
            </a:r>
          </a:p>
          <a:p>
            <a:endParaRPr lang="en-US" sz="2000" b="1" i="1" dirty="0">
              <a:latin typeface="Calibri" pitchFamily="34" charset="0"/>
              <a:ea typeface="Calibri" pitchFamily="34" charset="-122"/>
              <a:cs typeface="Calibri" pitchFamily="34" charset="-120"/>
            </a:endParaRPr>
          </a:p>
          <a:p>
            <a:r>
              <a:rPr lang="en-US" sz="2000" b="1" i="1" dirty="0">
                <a:latin typeface="Calibri" pitchFamily="34" charset="0"/>
                <a:ea typeface="Calibri" pitchFamily="34" charset="-122"/>
                <a:cs typeface="Calibri" pitchFamily="34" charset="-120"/>
              </a:rPr>
              <a:t>4 slides:</a:t>
            </a:r>
          </a:p>
          <a:p>
            <a:pPr lvl="1"/>
            <a:r>
              <a:rPr lang="en-US" sz="2000" b="1" i="1" dirty="0">
                <a:latin typeface="Calibri" pitchFamily="34" charset="0"/>
                <a:ea typeface="Calibri" pitchFamily="34" charset="-122"/>
                <a:cs typeface="Calibri" pitchFamily="34" charset="-120"/>
              </a:rPr>
              <a:t>S1 is the densest and clusters</a:t>
            </a:r>
          </a:p>
          <a:p>
            <a:pPr lvl="1"/>
            <a:endParaRPr lang="en-US" sz="2000" b="1" i="1" dirty="0">
              <a:latin typeface="Calibri" pitchFamily="34" charset="0"/>
              <a:ea typeface="Calibri" pitchFamily="34" charset="-122"/>
              <a:cs typeface="Calibri" pitchFamily="34" charset="-120"/>
            </a:endParaRPr>
          </a:p>
          <a:p>
            <a:r>
              <a:rPr lang="en-US" sz="2000" b="1" i="1" dirty="0">
                <a:latin typeface="Calibri" pitchFamily="34" charset="0"/>
                <a:ea typeface="Calibri" pitchFamily="34" charset="-122"/>
                <a:cs typeface="Calibri" pitchFamily="34" charset="-120"/>
              </a:rPr>
              <a:t>Very poor native cell type mapping</a:t>
            </a:r>
          </a:p>
          <a:p>
            <a:pPr marL="285750" indent="-285750">
              <a:buFontTx/>
              <a:buChar char="-"/>
            </a:pP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8DD8F0EB-3595-23AB-794B-26C95B35723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0D7D770-C0C5-21A1-1DDE-0E36ACAB02A5}"/>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469F8F5E-B1F3-B4F4-3864-34B6F4C8B654}"/>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01  —  Data Loading &amp; Inspection</a:t>
            </a:r>
            <a:endParaRPr lang="en-US" sz="1400" dirty="0"/>
          </a:p>
        </p:txBody>
      </p:sp>
      <p:sp>
        <p:nvSpPr>
          <p:cNvPr id="8" name="Shape 6">
            <a:extLst>
              <a:ext uri="{FF2B5EF4-FFF2-40B4-BE49-F238E27FC236}">
                <a16:creationId xmlns:a16="http://schemas.microsoft.com/office/drawing/2014/main" id="{83CE1F77-FEA3-D1AF-343E-96A9BDFC8E92}"/>
              </a:ext>
            </a:extLst>
          </p:cNvPr>
          <p:cNvSpPr/>
          <p:nvPr/>
        </p:nvSpPr>
        <p:spPr>
          <a:xfrm>
            <a:off x="548640" y="1207008"/>
            <a:ext cx="8046720" cy="345643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p:txBody>
      </p:sp>
      <p:pic>
        <p:nvPicPr>
          <p:cNvPr id="10" name="Image 0" descr="preencoded.png">
            <a:extLst>
              <a:ext uri="{FF2B5EF4-FFF2-40B4-BE49-F238E27FC236}">
                <a16:creationId xmlns:a16="http://schemas.microsoft.com/office/drawing/2014/main" id="{9263DE2C-38DB-C116-5915-541E24746D2D}"/>
              </a:ext>
            </a:extLst>
          </p:cNvPr>
          <p:cNvPicPr>
            <a:picLocks noChangeAspect="1"/>
          </p:cNvPicPr>
          <p:nvPr/>
        </p:nvPicPr>
        <p:blipFill>
          <a:blip r:embed="rId3"/>
          <a:stretch>
            <a:fillRect/>
          </a:stretch>
        </p:blipFill>
        <p:spPr>
          <a:xfrm>
            <a:off x="8046720" y="4206240"/>
            <a:ext cx="411480" cy="411480"/>
          </a:xfrm>
          <a:prstGeom prst="rect">
            <a:avLst/>
          </a:prstGeom>
        </p:spPr>
      </p:pic>
      <p:pic>
        <p:nvPicPr>
          <p:cNvPr id="7" name="Picture 6">
            <a:extLst>
              <a:ext uri="{FF2B5EF4-FFF2-40B4-BE49-F238E27FC236}">
                <a16:creationId xmlns:a16="http://schemas.microsoft.com/office/drawing/2014/main" id="{F796D5AC-2670-916F-CE84-89383C57E9B7}"/>
              </a:ext>
            </a:extLst>
          </p:cNvPr>
          <p:cNvPicPr>
            <a:picLocks noChangeAspect="1"/>
          </p:cNvPicPr>
          <p:nvPr/>
        </p:nvPicPr>
        <p:blipFill>
          <a:blip r:embed="rId4"/>
          <a:stretch>
            <a:fillRect/>
          </a:stretch>
        </p:blipFill>
        <p:spPr>
          <a:xfrm rot="5400000">
            <a:off x="3164337" y="-1074934"/>
            <a:ext cx="2788921" cy="8020315"/>
          </a:xfrm>
          <a:prstGeom prst="rect">
            <a:avLst/>
          </a:prstGeom>
        </p:spPr>
      </p:pic>
    </p:spTree>
    <p:extLst>
      <p:ext uri="{BB962C8B-B14F-4D97-AF65-F5344CB8AC3E}">
        <p14:creationId xmlns:p14="http://schemas.microsoft.com/office/powerpoint/2010/main" val="863926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C79D8A9C-0D40-97DD-4214-AAE20F1A606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F10729F-416A-A76B-8A59-0C32EAC24CBB}"/>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87A6BD86-BBFF-D942-ECF2-0FC48FC83F22}"/>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01  —  Data Loading &amp; Inspection</a:t>
            </a:r>
            <a:endParaRPr lang="en-US" sz="1400" dirty="0"/>
          </a:p>
        </p:txBody>
      </p:sp>
      <p:sp>
        <p:nvSpPr>
          <p:cNvPr id="8" name="Shape 6">
            <a:extLst>
              <a:ext uri="{FF2B5EF4-FFF2-40B4-BE49-F238E27FC236}">
                <a16:creationId xmlns:a16="http://schemas.microsoft.com/office/drawing/2014/main" id="{BBC89895-279F-A547-6099-A9FCDC64C749}"/>
              </a:ext>
            </a:extLst>
          </p:cNvPr>
          <p:cNvSpPr/>
          <p:nvPr/>
        </p:nvSpPr>
        <p:spPr>
          <a:xfrm>
            <a:off x="548640" y="1097280"/>
            <a:ext cx="8046720" cy="3566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p:txBody>
      </p:sp>
      <p:pic>
        <p:nvPicPr>
          <p:cNvPr id="9" name="Picture 8">
            <a:extLst>
              <a:ext uri="{FF2B5EF4-FFF2-40B4-BE49-F238E27FC236}">
                <a16:creationId xmlns:a16="http://schemas.microsoft.com/office/drawing/2014/main" id="{F4B78F7C-2D00-C68E-9589-6F1F8220E16E}"/>
              </a:ext>
            </a:extLst>
          </p:cNvPr>
          <p:cNvPicPr>
            <a:picLocks noChangeAspect="1"/>
          </p:cNvPicPr>
          <p:nvPr/>
        </p:nvPicPr>
        <p:blipFill>
          <a:blip r:embed="rId3"/>
          <a:stretch>
            <a:fillRect/>
          </a:stretch>
        </p:blipFill>
        <p:spPr>
          <a:xfrm>
            <a:off x="548640" y="1572768"/>
            <a:ext cx="7972956" cy="2615184"/>
          </a:xfrm>
          <a:prstGeom prst="rect">
            <a:avLst/>
          </a:prstGeom>
        </p:spPr>
      </p:pic>
    </p:spTree>
    <p:extLst>
      <p:ext uri="{BB962C8B-B14F-4D97-AF65-F5344CB8AC3E}">
        <p14:creationId xmlns:p14="http://schemas.microsoft.com/office/powerpoint/2010/main" val="996605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919D3549-71EF-2EE6-F725-669FE8029F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C3EF4E1-98F8-A734-8B80-D17872D014D3}"/>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3CC2F01C-7D61-2C9A-3160-7825A8E01E01}"/>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01  —  Data Loading &amp; Inspection</a:t>
            </a:r>
            <a:endParaRPr lang="en-US" sz="1400" dirty="0"/>
          </a:p>
        </p:txBody>
      </p:sp>
      <p:sp>
        <p:nvSpPr>
          <p:cNvPr id="8" name="Shape 6">
            <a:extLst>
              <a:ext uri="{FF2B5EF4-FFF2-40B4-BE49-F238E27FC236}">
                <a16:creationId xmlns:a16="http://schemas.microsoft.com/office/drawing/2014/main" id="{7FC2CD09-6B5E-0833-CA68-E95C8C0E9647}"/>
              </a:ext>
            </a:extLst>
          </p:cNvPr>
          <p:cNvSpPr/>
          <p:nvPr/>
        </p:nvSpPr>
        <p:spPr>
          <a:xfrm>
            <a:off x="548640" y="1121664"/>
            <a:ext cx="8046720" cy="3541776"/>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p:txBody>
      </p:sp>
      <p:pic>
        <p:nvPicPr>
          <p:cNvPr id="7" name="Picture 6">
            <a:extLst>
              <a:ext uri="{FF2B5EF4-FFF2-40B4-BE49-F238E27FC236}">
                <a16:creationId xmlns:a16="http://schemas.microsoft.com/office/drawing/2014/main" id="{E34DC9F3-B1AF-21DB-455D-672B3406DE56}"/>
              </a:ext>
            </a:extLst>
          </p:cNvPr>
          <p:cNvPicPr>
            <a:picLocks noChangeAspect="1"/>
          </p:cNvPicPr>
          <p:nvPr/>
        </p:nvPicPr>
        <p:blipFill>
          <a:blip r:embed="rId3"/>
          <a:stretch>
            <a:fillRect/>
          </a:stretch>
        </p:blipFill>
        <p:spPr>
          <a:xfrm>
            <a:off x="548640" y="1572862"/>
            <a:ext cx="8046720" cy="2639379"/>
          </a:xfrm>
          <a:prstGeom prst="rect">
            <a:avLst/>
          </a:prstGeom>
        </p:spPr>
      </p:pic>
    </p:spTree>
    <p:extLst>
      <p:ext uri="{BB962C8B-B14F-4D97-AF65-F5344CB8AC3E}">
        <p14:creationId xmlns:p14="http://schemas.microsoft.com/office/powerpoint/2010/main" val="3199811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70C74492-D4BA-004A-E81B-4CC328286DC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41143BC-70D4-8CA2-14D6-6E3CEDB39777}"/>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E6C1E09D-1F5F-D3F2-C537-BCE1BFF1336C}"/>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01  —  Data Loading &amp; Inspection</a:t>
            </a:r>
            <a:endParaRPr lang="en-US" sz="1400" dirty="0"/>
          </a:p>
        </p:txBody>
      </p:sp>
      <p:sp>
        <p:nvSpPr>
          <p:cNvPr id="8" name="Shape 6">
            <a:extLst>
              <a:ext uri="{FF2B5EF4-FFF2-40B4-BE49-F238E27FC236}">
                <a16:creationId xmlns:a16="http://schemas.microsoft.com/office/drawing/2014/main" id="{F4E750F8-A0D0-B65C-5FC3-1AA884CBAC27}"/>
              </a:ext>
            </a:extLst>
          </p:cNvPr>
          <p:cNvSpPr/>
          <p:nvPr/>
        </p:nvSpPr>
        <p:spPr>
          <a:xfrm>
            <a:off x="548640" y="1011936"/>
            <a:ext cx="4742688" cy="36515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sz="1600" dirty="0">
              <a:solidFill>
                <a:schemeClr val="accent5">
                  <a:lumMod val="75000"/>
                </a:schemeClr>
              </a:solidFill>
              <a:latin typeface="Consolas" panose="020B0609020204030204" pitchFamily="49" charset="0"/>
            </a:endParaRPr>
          </a:p>
          <a:p>
            <a:endParaRPr lang="en-GB" dirty="0">
              <a:latin typeface="Consolas" panose="020B0609020204030204" pitchFamily="49" charset="0"/>
            </a:endParaRPr>
          </a:p>
          <a:p>
            <a:endParaRPr lang="en-GB" dirty="0">
              <a:latin typeface="Consolas" panose="020B0609020204030204" pitchFamily="49" charset="0"/>
            </a:endParaRPr>
          </a:p>
          <a:p>
            <a:endParaRPr lang="en-GB" dirty="0"/>
          </a:p>
          <a:p>
            <a:endParaRPr lang="en-GB" dirty="0"/>
          </a:p>
          <a:p>
            <a:pPr marL="285750" indent="-285750">
              <a:buFontTx/>
              <a:buChar char="-"/>
            </a:pPr>
            <a:r>
              <a:rPr lang="en-GB" dirty="0"/>
              <a:t>Strip-assigned column-oriented data saved for subsequent analysis</a:t>
            </a:r>
          </a:p>
          <a:p>
            <a:endParaRPr lang="en-GB" dirty="0"/>
          </a:p>
          <a:p>
            <a:pPr marL="285750" indent="-285750">
              <a:buFontTx/>
              <a:buChar char="-"/>
            </a:pPr>
            <a:r>
              <a:rPr lang="en-GB" dirty="0"/>
              <a:t>Moving forward with FO3 / S1</a:t>
            </a:r>
          </a:p>
          <a:p>
            <a:endParaRPr lang="en-GB" dirty="0"/>
          </a:p>
          <a:p>
            <a:pPr marL="285750" indent="-285750">
              <a:buFontTx/>
              <a:buChar char="-"/>
            </a:pPr>
            <a:r>
              <a:rPr lang="en-GB" dirty="0"/>
              <a:t>Most transcripts, good strip assignment</a:t>
            </a:r>
          </a:p>
        </p:txBody>
      </p:sp>
      <p:pic>
        <p:nvPicPr>
          <p:cNvPr id="9" name="Picture 8">
            <a:extLst>
              <a:ext uri="{FF2B5EF4-FFF2-40B4-BE49-F238E27FC236}">
                <a16:creationId xmlns:a16="http://schemas.microsoft.com/office/drawing/2014/main" id="{967EBB3E-6ECC-8CC6-8E4D-65A2B433474A}"/>
              </a:ext>
            </a:extLst>
          </p:cNvPr>
          <p:cNvPicPr>
            <a:picLocks noChangeAspect="1"/>
          </p:cNvPicPr>
          <p:nvPr/>
        </p:nvPicPr>
        <p:blipFill>
          <a:blip r:embed="rId3"/>
          <a:stretch>
            <a:fillRect/>
          </a:stretch>
        </p:blipFill>
        <p:spPr>
          <a:xfrm>
            <a:off x="5474208" y="841248"/>
            <a:ext cx="3218688" cy="4029471"/>
          </a:xfrm>
          <a:prstGeom prst="rect">
            <a:avLst/>
          </a:prstGeom>
        </p:spPr>
      </p:pic>
      <p:sp>
        <p:nvSpPr>
          <p:cNvPr id="10" name="Shape 6">
            <a:extLst>
              <a:ext uri="{FF2B5EF4-FFF2-40B4-BE49-F238E27FC236}">
                <a16:creationId xmlns:a16="http://schemas.microsoft.com/office/drawing/2014/main" id="{4F87F7F8-E3FF-EA11-BF95-90E862B22192}"/>
              </a:ext>
            </a:extLst>
          </p:cNvPr>
          <p:cNvSpPr/>
          <p:nvPr/>
        </p:nvSpPr>
        <p:spPr>
          <a:xfrm>
            <a:off x="548640" y="1011936"/>
            <a:ext cx="4742688" cy="1168908"/>
          </a:xfrm>
          <a:prstGeom prst="rect">
            <a:avLst/>
          </a:prstGeom>
          <a:solidFill>
            <a:schemeClr val="tx1"/>
          </a:solidFill>
          <a:ln/>
          <a:effectLst>
            <a:outerShdw blurRad="76200" dist="25400" dir="8100000" algn="bl" rotWithShape="0">
              <a:srgbClr val="000000">
                <a:alpha val="12000"/>
              </a:srgbClr>
            </a:outerShdw>
          </a:effectLst>
        </p:spPr>
        <p:txBody>
          <a:bodyPr/>
          <a:lstStyle/>
          <a:p>
            <a:endParaRPr lang="en-GB" sz="1600" b="1" dirty="0">
              <a:solidFill>
                <a:schemeClr val="accent5">
                  <a:lumMod val="75000"/>
                </a:schemeClr>
              </a:solidFill>
              <a:latin typeface="Consolas" panose="020B0609020204030204" pitchFamily="49" charset="0"/>
            </a:endParaRPr>
          </a:p>
          <a:p>
            <a:r>
              <a:rPr lang="en-GB" sz="1600" b="1" dirty="0" err="1">
                <a:solidFill>
                  <a:srgbClr val="00B0F0"/>
                </a:solidFill>
                <a:latin typeface="Consolas" panose="020B0609020204030204" pitchFamily="49" charset="0"/>
              </a:rPr>
              <a:t>working_fov</a:t>
            </a:r>
            <a:r>
              <a:rPr lang="en-GB" sz="1600" b="1" dirty="0" err="1">
                <a:solidFill>
                  <a:schemeClr val="bg1"/>
                </a:solidFill>
                <a:latin typeface="Consolas" panose="020B0609020204030204" pitchFamily="49" charset="0"/>
              </a:rPr>
              <a:t>.to_parquet</a:t>
            </a:r>
            <a:r>
              <a:rPr lang="en-GB" sz="1600" b="1" dirty="0">
                <a:solidFill>
                  <a:srgbClr val="FFC000"/>
                </a:solidFill>
                <a:latin typeface="Consolas" panose="020B0609020204030204" pitchFamily="49" charset="0"/>
              </a:rPr>
              <a:t>(</a:t>
            </a:r>
          </a:p>
          <a:p>
            <a:r>
              <a:rPr lang="en-GB" sz="1600" b="1" dirty="0">
                <a:solidFill>
                  <a:schemeClr val="accent2">
                    <a:lumMod val="75000"/>
                  </a:schemeClr>
                </a:solidFill>
                <a:latin typeface="Consolas" panose="020B0609020204030204" pitchFamily="49" charset="0"/>
              </a:rPr>
              <a:t>"../data/processed/fov3_strips.parquet“</a:t>
            </a:r>
          </a:p>
          <a:p>
            <a:r>
              <a:rPr lang="en-GB" sz="1600" b="1" dirty="0">
                <a:solidFill>
                  <a:srgbClr val="FFC000"/>
                </a:solidFill>
                <a:latin typeface="Consolas" panose="020B0609020204030204" pitchFamily="49" charset="0"/>
              </a:rPr>
              <a:t>)</a:t>
            </a:r>
            <a:r>
              <a:rPr lang="en-GB" sz="1600" b="1" dirty="0">
                <a:latin typeface="Consolas" panose="020B0609020204030204" pitchFamily="49" charset="0"/>
              </a:rPr>
              <a:t> </a:t>
            </a:r>
          </a:p>
        </p:txBody>
      </p:sp>
    </p:spTree>
    <p:extLst>
      <p:ext uri="{BB962C8B-B14F-4D97-AF65-F5344CB8AC3E}">
        <p14:creationId xmlns:p14="http://schemas.microsoft.com/office/powerpoint/2010/main" val="811877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1371600" y="2743200"/>
            <a:ext cx="3657600" cy="3657600"/>
          </a:xfrm>
          <a:prstGeom prst="ellipse">
            <a:avLst/>
          </a:prstGeom>
          <a:solidFill>
            <a:srgbClr val="1E3A5F">
              <a:alpha val="45000"/>
            </a:srgbClr>
          </a:solidFill>
          <a:ln/>
        </p:spPr>
        <p:txBody>
          <a:bodyPr/>
          <a:lstStyle/>
          <a:p>
            <a:endParaRPr lang="en-GB"/>
          </a:p>
        </p:txBody>
      </p:sp>
      <p:sp>
        <p:nvSpPr>
          <p:cNvPr id="3" name="Shape 1"/>
          <p:cNvSpPr/>
          <p:nvPr/>
        </p:nvSpPr>
        <p:spPr>
          <a:xfrm>
            <a:off x="7315200" y="-914400"/>
            <a:ext cx="3200400" cy="3200400"/>
          </a:xfrm>
          <a:prstGeom prst="ellipse">
            <a:avLst/>
          </a:prstGeom>
          <a:solidFill>
            <a:srgbClr val="0D9488">
              <a:alpha val="25000"/>
            </a:srgbClr>
          </a:solidFill>
          <a:ln/>
        </p:spPr>
        <p:txBody>
          <a:bodyPr/>
          <a:lstStyle/>
          <a:p>
            <a:endParaRPr lang="en-GB"/>
          </a:p>
        </p:txBody>
      </p:sp>
      <p:sp>
        <p:nvSpPr>
          <p:cNvPr id="4" name="Text 2"/>
          <p:cNvSpPr/>
          <p:nvPr/>
        </p:nvSpPr>
        <p:spPr>
          <a:xfrm>
            <a:off x="548640" y="457200"/>
            <a:ext cx="1828800" cy="1645920"/>
          </a:xfrm>
          <a:prstGeom prst="rect">
            <a:avLst/>
          </a:prstGeom>
          <a:noFill/>
          <a:ln/>
        </p:spPr>
        <p:txBody>
          <a:bodyPr wrap="square" lIns="0" tIns="0" rIns="0" bIns="0" rtlCol="0" anchor="ctr"/>
          <a:lstStyle/>
          <a:p>
            <a:pPr marL="0" indent="0">
              <a:buNone/>
            </a:pPr>
            <a:r>
              <a:rPr lang="en-US" sz="7200" b="1" dirty="0">
                <a:solidFill>
                  <a:srgbClr val="0D9488"/>
                </a:solidFill>
                <a:latin typeface="Georgia" pitchFamily="34" charset="0"/>
                <a:ea typeface="Georgia" pitchFamily="34" charset="-122"/>
                <a:cs typeface="Georgia" pitchFamily="34" charset="-120"/>
              </a:rPr>
              <a:t>02</a:t>
            </a:r>
            <a:endParaRPr lang="en-US" sz="7200" dirty="0"/>
          </a:p>
        </p:txBody>
      </p:sp>
      <p:sp>
        <p:nvSpPr>
          <p:cNvPr id="5" name="Shape 3"/>
          <p:cNvSpPr/>
          <p:nvPr/>
        </p:nvSpPr>
        <p:spPr>
          <a:xfrm>
            <a:off x="548640" y="2194560"/>
            <a:ext cx="3200400" cy="36576"/>
          </a:xfrm>
          <a:prstGeom prst="rect">
            <a:avLst/>
          </a:prstGeom>
          <a:solidFill>
            <a:srgbClr val="0D9488"/>
          </a:solidFill>
          <a:ln/>
        </p:spPr>
        <p:txBody>
          <a:bodyPr/>
          <a:lstStyle/>
          <a:p>
            <a:endParaRPr lang="en-GB"/>
          </a:p>
        </p:txBody>
      </p:sp>
      <p:sp>
        <p:nvSpPr>
          <p:cNvPr id="6" name="Text 4"/>
          <p:cNvSpPr/>
          <p:nvPr/>
        </p:nvSpPr>
        <p:spPr>
          <a:xfrm>
            <a:off x="548640" y="2468880"/>
            <a:ext cx="6400800" cy="91440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Closer Inspection</a:t>
            </a:r>
            <a:endParaRPr lang="en-US" sz="3200" dirty="0"/>
          </a:p>
        </p:txBody>
      </p:sp>
      <p:pic>
        <p:nvPicPr>
          <p:cNvPr id="8" name="Image 0" descr="preencoded.png"/>
          <p:cNvPicPr>
            <a:picLocks noChangeAspect="1"/>
          </p:cNvPicPr>
          <p:nvPr/>
        </p:nvPicPr>
        <p:blipFill>
          <a:blip r:embed="rId3"/>
          <a:stretch>
            <a:fillRect/>
          </a:stretch>
        </p:blipFill>
        <p:spPr>
          <a:xfrm>
            <a:off x="8046720" y="4114800"/>
            <a:ext cx="640080" cy="640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D3A"/>
          </a:solidFill>
          <a:ln/>
        </p:spPr>
        <p:txBody>
          <a:bodyPr/>
          <a:lstStyle/>
          <a:p>
            <a:endParaRPr lang="en-GB"/>
          </a:p>
        </p:txBody>
      </p:sp>
      <p:sp>
        <p:nvSpPr>
          <p:cNvPr id="3" name="Text 1"/>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02  —  Closer </a:t>
            </a:r>
            <a:r>
              <a:rPr lang="en-US" sz="1400" dirty="0" err="1">
                <a:solidFill>
                  <a:srgbClr val="94A3B8"/>
                </a:solidFill>
                <a:latin typeface="Calibri" pitchFamily="34" charset="0"/>
                <a:ea typeface="Calibri" pitchFamily="34" charset="-122"/>
                <a:cs typeface="Calibri" pitchFamily="34" charset="-120"/>
              </a:rPr>
              <a:t>Insepction</a:t>
            </a:r>
            <a:endParaRPr lang="en-US" sz="1400" dirty="0"/>
          </a:p>
        </p:txBody>
      </p:sp>
      <p:sp>
        <p:nvSpPr>
          <p:cNvPr id="4" name="Shape 2"/>
          <p:cNvSpPr/>
          <p:nvPr/>
        </p:nvSpPr>
        <p:spPr>
          <a:xfrm>
            <a:off x="548640" y="1051560"/>
            <a:ext cx="54864" cy="457200"/>
          </a:xfrm>
          <a:prstGeom prst="rect">
            <a:avLst/>
          </a:prstGeom>
          <a:solidFill>
            <a:srgbClr val="0D9488"/>
          </a:solidFill>
          <a:ln/>
        </p:spPr>
        <p:txBody>
          <a:bodyPr/>
          <a:lstStyle/>
          <a:p>
            <a:endParaRPr lang="en-GB"/>
          </a:p>
        </p:txBody>
      </p:sp>
      <p:sp>
        <p:nvSpPr>
          <p:cNvPr id="5" name="Text 3"/>
          <p:cNvSpPr/>
          <p:nvPr/>
        </p:nvSpPr>
        <p:spPr>
          <a:xfrm>
            <a:off x="777240" y="1051560"/>
            <a:ext cx="2743200" cy="45720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Method</a:t>
            </a:r>
            <a:endParaRPr lang="en-US" sz="2600" dirty="0"/>
          </a:p>
        </p:txBody>
      </p:sp>
      <p:sp>
        <p:nvSpPr>
          <p:cNvPr id="6" name="Shape 4"/>
          <p:cNvSpPr/>
          <p:nvPr/>
        </p:nvSpPr>
        <p:spPr>
          <a:xfrm>
            <a:off x="548640" y="1737360"/>
            <a:ext cx="804672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p:txBody>
      </p:sp>
      <p:sp>
        <p:nvSpPr>
          <p:cNvPr id="7" name="Text 5"/>
          <p:cNvSpPr/>
          <p:nvPr/>
        </p:nvSpPr>
        <p:spPr>
          <a:xfrm>
            <a:off x="914400" y="2107692"/>
            <a:ext cx="7315200" cy="2304288"/>
          </a:xfrm>
          <a:prstGeom prst="rect">
            <a:avLst/>
          </a:prstGeom>
          <a:noFill/>
          <a:ln/>
        </p:spPr>
        <p:txBody>
          <a:bodyPr wrap="square" lIns="0" tIns="0" rIns="0" bIns="0" rtlCol="0" anchor="ctr"/>
          <a:lstStyle/>
          <a:p>
            <a:r>
              <a:rPr lang="en-US" sz="2000" b="1" i="1" dirty="0">
                <a:latin typeface="Calibri" pitchFamily="34" charset="0"/>
                <a:ea typeface="Calibri" pitchFamily="34" charset="-122"/>
                <a:cs typeface="Calibri" pitchFamily="34" charset="-120"/>
              </a:rPr>
              <a:t>1. </a:t>
            </a:r>
            <a:r>
              <a:rPr lang="en-US" sz="2000" i="1" dirty="0">
                <a:latin typeface="Calibri" pitchFamily="34" charset="0"/>
                <a:ea typeface="Calibri" pitchFamily="34" charset="-122"/>
                <a:cs typeface="Calibri" pitchFamily="34" charset="-120"/>
              </a:rPr>
              <a:t>Load the fov3_strip.parquet</a:t>
            </a:r>
          </a:p>
          <a:p>
            <a:pPr marL="457200" indent="-457200">
              <a:buAutoNum type="arabicPeriod"/>
            </a:pPr>
            <a:endParaRPr lang="en-US" sz="2000" i="1" dirty="0">
              <a:latin typeface="Calibri" pitchFamily="34" charset="0"/>
              <a:ea typeface="Calibri" pitchFamily="34" charset="-122"/>
              <a:cs typeface="Calibri" pitchFamily="34" charset="-120"/>
            </a:endParaRPr>
          </a:p>
          <a:p>
            <a:r>
              <a:rPr lang="en-US" sz="2000" b="1" i="1" dirty="0">
                <a:latin typeface="Calibri" pitchFamily="34" charset="0"/>
                <a:ea typeface="Calibri" pitchFamily="34" charset="-122"/>
                <a:cs typeface="Calibri" pitchFamily="34" charset="-120"/>
              </a:rPr>
              <a:t>2. </a:t>
            </a:r>
            <a:r>
              <a:rPr lang="en-US" sz="2000" i="1" dirty="0">
                <a:latin typeface="Calibri" pitchFamily="34" charset="0"/>
                <a:ea typeface="Calibri" pitchFamily="34" charset="-122"/>
                <a:cs typeface="Calibri" pitchFamily="34" charset="-120"/>
              </a:rPr>
              <a:t>Per strip gene sparsity check</a:t>
            </a:r>
          </a:p>
          <a:p>
            <a:pPr lvl="1"/>
            <a:r>
              <a:rPr lang="en-US" sz="2000" i="1" dirty="0">
                <a:latin typeface="Calibri" pitchFamily="34" charset="0"/>
                <a:ea typeface="Calibri" pitchFamily="34" charset="-122"/>
                <a:cs typeface="Calibri" pitchFamily="34" charset="-120"/>
              </a:rPr>
              <a:t>(Need N &gt; 50 for reliable </a:t>
            </a:r>
            <a:r>
              <a:rPr lang="en-US" sz="2000" i="1" dirty="0" err="1">
                <a:latin typeface="Calibri" pitchFamily="34" charset="0"/>
                <a:ea typeface="Calibri" pitchFamily="34" charset="-122"/>
                <a:cs typeface="Calibri" pitchFamily="34" charset="-120"/>
              </a:rPr>
              <a:t>ripley</a:t>
            </a:r>
            <a:r>
              <a:rPr lang="en-US" sz="2000" i="1" dirty="0">
                <a:latin typeface="Calibri" pitchFamily="34" charset="0"/>
                <a:ea typeface="Calibri" pitchFamily="34" charset="-122"/>
                <a:cs typeface="Calibri" pitchFamily="34" charset="-120"/>
              </a:rPr>
              <a:t> K function)</a:t>
            </a:r>
          </a:p>
          <a:p>
            <a:pPr lvl="1"/>
            <a:endParaRPr lang="en-US" sz="2000" i="1" dirty="0">
              <a:latin typeface="Calibri" pitchFamily="34" charset="0"/>
              <a:ea typeface="Calibri" pitchFamily="34" charset="-122"/>
              <a:cs typeface="Calibri" pitchFamily="34" charset="-120"/>
            </a:endParaRPr>
          </a:p>
          <a:p>
            <a:r>
              <a:rPr lang="en-US" sz="2000" b="1" i="1" dirty="0">
                <a:latin typeface="Calibri" pitchFamily="34" charset="0"/>
                <a:ea typeface="Calibri" pitchFamily="34" charset="-122"/>
                <a:cs typeface="Calibri" pitchFamily="34" charset="-120"/>
              </a:rPr>
              <a:t>3. </a:t>
            </a:r>
            <a:r>
              <a:rPr lang="en-US" sz="2000" i="1" dirty="0">
                <a:latin typeface="Calibri" pitchFamily="34" charset="0"/>
                <a:ea typeface="Calibri" pitchFamily="34" charset="-122"/>
                <a:cs typeface="Calibri" pitchFamily="34" charset="-120"/>
              </a:rPr>
              <a:t>Pick a positive control and scatter plot	</a:t>
            </a:r>
          </a:p>
          <a:p>
            <a:pPr marL="457200" indent="-457200">
              <a:buAutoNum type="arabicPeriod"/>
            </a:pPr>
            <a:endParaRPr lang="en-US" sz="2000" dirty="0"/>
          </a:p>
        </p:txBody>
      </p:sp>
      <p:pic>
        <p:nvPicPr>
          <p:cNvPr id="8" name="Image 0" descr="preencoded.png"/>
          <p:cNvPicPr>
            <a:picLocks noChangeAspect="1"/>
          </p:cNvPicPr>
          <p:nvPr/>
        </p:nvPicPr>
        <p:blipFill>
          <a:blip r:embed="rId3"/>
          <a:stretch>
            <a:fillRect/>
          </a:stretch>
        </p:blipFill>
        <p:spPr>
          <a:xfrm>
            <a:off x="8046720" y="4206240"/>
            <a:ext cx="411480" cy="4114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D3A"/>
          </a:solidFill>
          <a:ln/>
        </p:spPr>
        <p:txBody>
          <a:bodyPr/>
          <a:lstStyle/>
          <a:p>
            <a:endParaRPr lang="en-GB"/>
          </a:p>
        </p:txBody>
      </p:sp>
      <p:sp>
        <p:nvSpPr>
          <p:cNvPr id="3" name="Text 1"/>
          <p:cNvSpPr/>
          <p:nvPr/>
        </p:nvSpPr>
        <p:spPr>
          <a:xfrm>
            <a:off x="548640" y="109728"/>
            <a:ext cx="6400800" cy="502920"/>
          </a:xfrm>
          <a:prstGeom prst="rect">
            <a:avLst/>
          </a:prstGeom>
          <a:noFill/>
          <a:ln/>
        </p:spPr>
        <p:txBody>
          <a:bodyPr wrap="square" lIns="0" tIns="0" rIns="0" bIns="0" rtlCol="0" anchor="ctr"/>
          <a:lstStyle/>
          <a:p>
            <a:r>
              <a:rPr lang="en-US" sz="1400" dirty="0">
                <a:solidFill>
                  <a:srgbClr val="94A3B8"/>
                </a:solidFill>
                <a:latin typeface="Calibri" pitchFamily="34" charset="0"/>
                <a:ea typeface="Calibri" pitchFamily="34" charset="-122"/>
                <a:cs typeface="Calibri" pitchFamily="34" charset="-120"/>
              </a:rPr>
              <a:t>02  —  Closer </a:t>
            </a:r>
            <a:r>
              <a:rPr lang="en-US" sz="1400" dirty="0" err="1">
                <a:solidFill>
                  <a:srgbClr val="94A3B8"/>
                </a:solidFill>
                <a:latin typeface="Calibri" pitchFamily="34" charset="0"/>
                <a:ea typeface="Calibri" pitchFamily="34" charset="-122"/>
                <a:cs typeface="Calibri" pitchFamily="34" charset="-120"/>
              </a:rPr>
              <a:t>Insepction</a:t>
            </a:r>
            <a:endParaRPr lang="en-US" sz="1400" dirty="0"/>
          </a:p>
        </p:txBody>
      </p:sp>
      <p:sp>
        <p:nvSpPr>
          <p:cNvPr id="6" name="Shape 4"/>
          <p:cNvSpPr/>
          <p:nvPr/>
        </p:nvSpPr>
        <p:spPr>
          <a:xfrm>
            <a:off x="548640" y="938784"/>
            <a:ext cx="4690872" cy="3724656"/>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sz="2400" dirty="0"/>
          </a:p>
          <a:p>
            <a:r>
              <a:rPr lang="en-GB" sz="2400" dirty="0"/>
              <a:t>~72,000 Transcripts</a:t>
            </a:r>
          </a:p>
          <a:p>
            <a:endParaRPr lang="en-GB" sz="2400" dirty="0"/>
          </a:p>
          <a:p>
            <a:r>
              <a:rPr lang="en-GB" sz="2400" dirty="0"/>
              <a:t>15 columns</a:t>
            </a:r>
          </a:p>
          <a:p>
            <a:r>
              <a:rPr lang="en-GB" sz="2400" dirty="0"/>
              <a:t>	 (13 + 2 transformed coords)</a:t>
            </a:r>
          </a:p>
          <a:p>
            <a:endParaRPr lang="en-GB" sz="2400" dirty="0"/>
          </a:p>
          <a:p>
            <a:r>
              <a:rPr lang="en-GB" sz="2400" dirty="0"/>
              <a:t>1206 genes</a:t>
            </a:r>
          </a:p>
          <a:p>
            <a:r>
              <a:rPr lang="en-GB" sz="2400" dirty="0"/>
              <a:t>	(1000 gene panel + 	“SystemControl00”s)</a:t>
            </a:r>
          </a:p>
          <a:p>
            <a:endParaRPr lang="en-GB" sz="2400" dirty="0"/>
          </a:p>
          <a:p>
            <a:endParaRPr lang="en-GB" sz="2400" dirty="0"/>
          </a:p>
          <a:p>
            <a:endParaRPr lang="en-GB" sz="2400" dirty="0"/>
          </a:p>
          <a:p>
            <a:endParaRPr lang="en-GB" sz="2400" dirty="0"/>
          </a:p>
        </p:txBody>
      </p:sp>
      <p:pic>
        <p:nvPicPr>
          <p:cNvPr id="10" name="Image 0" descr="preencoded.png"/>
          <p:cNvPicPr>
            <a:picLocks noChangeAspect="1"/>
          </p:cNvPicPr>
          <p:nvPr/>
        </p:nvPicPr>
        <p:blipFill>
          <a:blip r:embed="rId3"/>
          <a:stretch>
            <a:fillRect/>
          </a:stretch>
        </p:blipFill>
        <p:spPr>
          <a:xfrm>
            <a:off x="8046720" y="4206240"/>
            <a:ext cx="411480" cy="411480"/>
          </a:xfrm>
          <a:prstGeom prst="rect">
            <a:avLst/>
          </a:prstGeom>
        </p:spPr>
      </p:pic>
      <p:pic>
        <p:nvPicPr>
          <p:cNvPr id="11" name="Picture 10">
            <a:extLst>
              <a:ext uri="{FF2B5EF4-FFF2-40B4-BE49-F238E27FC236}">
                <a16:creationId xmlns:a16="http://schemas.microsoft.com/office/drawing/2014/main" id="{BC64DE92-7F55-590D-E56B-241D28218EA4}"/>
              </a:ext>
            </a:extLst>
          </p:cNvPr>
          <p:cNvPicPr>
            <a:picLocks noChangeAspect="1"/>
          </p:cNvPicPr>
          <p:nvPr/>
        </p:nvPicPr>
        <p:blipFill>
          <a:blip r:embed="rId4"/>
          <a:stretch>
            <a:fillRect/>
          </a:stretch>
        </p:blipFill>
        <p:spPr>
          <a:xfrm>
            <a:off x="5474208" y="841248"/>
            <a:ext cx="3218688" cy="402947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6EF8A7E1-A1C0-0E5B-0975-EC4205BC6F1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12DE40E-0282-032D-DFCD-9D3B7DF2D314}"/>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446F975B-B20C-4466-27B4-EF06F5700C4F}"/>
              </a:ext>
            </a:extLst>
          </p:cNvPr>
          <p:cNvSpPr/>
          <p:nvPr/>
        </p:nvSpPr>
        <p:spPr>
          <a:xfrm>
            <a:off x="548640" y="109728"/>
            <a:ext cx="6400800" cy="502920"/>
          </a:xfrm>
          <a:prstGeom prst="rect">
            <a:avLst/>
          </a:prstGeom>
          <a:noFill/>
          <a:ln/>
        </p:spPr>
        <p:txBody>
          <a:bodyPr wrap="square" lIns="0" tIns="0" rIns="0" bIns="0" rtlCol="0" anchor="ctr"/>
          <a:lstStyle/>
          <a:p>
            <a:r>
              <a:rPr lang="en-US" sz="1400" dirty="0">
                <a:solidFill>
                  <a:srgbClr val="94A3B8"/>
                </a:solidFill>
                <a:latin typeface="Calibri" pitchFamily="34" charset="0"/>
                <a:ea typeface="Calibri" pitchFamily="34" charset="-122"/>
                <a:cs typeface="Calibri" pitchFamily="34" charset="-120"/>
              </a:rPr>
              <a:t>02  —  Closer </a:t>
            </a:r>
            <a:r>
              <a:rPr lang="en-US" sz="1400" dirty="0" err="1">
                <a:solidFill>
                  <a:srgbClr val="94A3B8"/>
                </a:solidFill>
                <a:latin typeface="Calibri" pitchFamily="34" charset="0"/>
                <a:ea typeface="Calibri" pitchFamily="34" charset="-122"/>
                <a:cs typeface="Calibri" pitchFamily="34" charset="-120"/>
              </a:rPr>
              <a:t>Insepction</a:t>
            </a:r>
            <a:endParaRPr lang="en-US" sz="1400" dirty="0"/>
          </a:p>
        </p:txBody>
      </p:sp>
      <p:sp>
        <p:nvSpPr>
          <p:cNvPr id="6" name="Shape 4">
            <a:extLst>
              <a:ext uri="{FF2B5EF4-FFF2-40B4-BE49-F238E27FC236}">
                <a16:creationId xmlns:a16="http://schemas.microsoft.com/office/drawing/2014/main" id="{64A987B0-7BA4-1076-EC7C-F7A7BBCE4F38}"/>
              </a:ext>
            </a:extLst>
          </p:cNvPr>
          <p:cNvSpPr/>
          <p:nvPr/>
        </p:nvSpPr>
        <p:spPr>
          <a:xfrm>
            <a:off x="548640" y="938784"/>
            <a:ext cx="4690872" cy="3724656"/>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sz="2400" dirty="0"/>
          </a:p>
          <a:p>
            <a:pPr marL="342900" indent="-342900">
              <a:buFont typeface="Arial" panose="020B0604020202020204" pitchFamily="34" charset="0"/>
              <a:buChar char="•"/>
            </a:pPr>
            <a:r>
              <a:rPr lang="en-GB" sz="2400" dirty="0"/>
              <a:t>Strip 2 vs. strip 3 comparison </a:t>
            </a:r>
          </a:p>
          <a:p>
            <a:r>
              <a:rPr lang="en-GB" sz="2400" dirty="0"/>
              <a:t>	(Infected vs. control)</a:t>
            </a:r>
          </a:p>
          <a:p>
            <a:endParaRPr lang="en-GB" sz="2400" dirty="0"/>
          </a:p>
          <a:p>
            <a:pPr marL="342900" indent="-342900">
              <a:buFont typeface="Arial" panose="020B0604020202020204" pitchFamily="34" charset="0"/>
              <a:buChar char="•"/>
            </a:pPr>
            <a:r>
              <a:rPr lang="en-GB" sz="2400" dirty="0"/>
              <a:t>Primarily housekeeping genes</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a:t>Positive control candidates are KRT18, KRT8 and KRT19</a:t>
            </a:r>
          </a:p>
          <a:p>
            <a:pPr lvl="1"/>
            <a:r>
              <a:rPr lang="en-GB" sz="2400" dirty="0">
                <a:solidFill>
                  <a:schemeClr val="accent3"/>
                </a:solidFill>
              </a:rPr>
              <a:t>(Epithelial keratins)</a:t>
            </a:r>
          </a:p>
          <a:p>
            <a:endParaRPr lang="en-GB" sz="2400" dirty="0"/>
          </a:p>
          <a:p>
            <a:endParaRPr lang="en-GB" sz="2400" dirty="0"/>
          </a:p>
        </p:txBody>
      </p:sp>
      <p:pic>
        <p:nvPicPr>
          <p:cNvPr id="10" name="Image 0" descr="preencoded.png">
            <a:extLst>
              <a:ext uri="{FF2B5EF4-FFF2-40B4-BE49-F238E27FC236}">
                <a16:creationId xmlns:a16="http://schemas.microsoft.com/office/drawing/2014/main" id="{039F2C90-B780-2635-3323-471C2C73201C}"/>
              </a:ext>
            </a:extLst>
          </p:cNvPr>
          <p:cNvPicPr>
            <a:picLocks noChangeAspect="1"/>
          </p:cNvPicPr>
          <p:nvPr/>
        </p:nvPicPr>
        <p:blipFill>
          <a:blip r:embed="rId3"/>
          <a:stretch>
            <a:fillRect/>
          </a:stretch>
        </p:blipFill>
        <p:spPr>
          <a:xfrm>
            <a:off x="8046720" y="4206240"/>
            <a:ext cx="411480" cy="411480"/>
          </a:xfrm>
          <a:prstGeom prst="rect">
            <a:avLst/>
          </a:prstGeom>
        </p:spPr>
      </p:pic>
      <p:pic>
        <p:nvPicPr>
          <p:cNvPr id="8" name="Picture 7">
            <a:extLst>
              <a:ext uri="{FF2B5EF4-FFF2-40B4-BE49-F238E27FC236}">
                <a16:creationId xmlns:a16="http://schemas.microsoft.com/office/drawing/2014/main" id="{2C2BB6E4-3D49-0EE9-7257-2AB8EEFD33A1}"/>
              </a:ext>
            </a:extLst>
          </p:cNvPr>
          <p:cNvPicPr>
            <a:picLocks noChangeAspect="1"/>
          </p:cNvPicPr>
          <p:nvPr/>
        </p:nvPicPr>
        <p:blipFill>
          <a:blip r:embed="rId4"/>
          <a:stretch>
            <a:fillRect/>
          </a:stretch>
        </p:blipFill>
        <p:spPr>
          <a:xfrm>
            <a:off x="5384021" y="938784"/>
            <a:ext cx="3357643" cy="3711513"/>
          </a:xfrm>
          <a:prstGeom prst="rect">
            <a:avLst/>
          </a:prstGeom>
        </p:spPr>
      </p:pic>
    </p:spTree>
    <p:extLst>
      <p:ext uri="{BB962C8B-B14F-4D97-AF65-F5344CB8AC3E}">
        <p14:creationId xmlns:p14="http://schemas.microsoft.com/office/powerpoint/2010/main" val="2333500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5D36F1E3-C17E-8941-2D6B-FE3B5AFD5D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F7E395F-64CB-AEA3-47B4-495F943452FA}"/>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25E7EC4D-7750-C08D-6EEF-1FA7937ECBC2}"/>
              </a:ext>
            </a:extLst>
          </p:cNvPr>
          <p:cNvSpPr/>
          <p:nvPr/>
        </p:nvSpPr>
        <p:spPr>
          <a:xfrm>
            <a:off x="548640" y="109728"/>
            <a:ext cx="6400800" cy="502920"/>
          </a:xfrm>
          <a:prstGeom prst="rect">
            <a:avLst/>
          </a:prstGeom>
          <a:noFill/>
          <a:ln/>
        </p:spPr>
        <p:txBody>
          <a:bodyPr wrap="square" lIns="0" tIns="0" rIns="0" bIns="0" rtlCol="0" anchor="ctr"/>
          <a:lstStyle/>
          <a:p>
            <a:r>
              <a:rPr lang="en-US" sz="1400" dirty="0">
                <a:solidFill>
                  <a:srgbClr val="94A3B8"/>
                </a:solidFill>
                <a:latin typeface="Calibri" pitchFamily="34" charset="0"/>
                <a:ea typeface="Calibri" pitchFamily="34" charset="-122"/>
                <a:cs typeface="Calibri" pitchFamily="34" charset="-120"/>
              </a:rPr>
              <a:t>02  —  Closer </a:t>
            </a:r>
            <a:r>
              <a:rPr lang="en-US" sz="1400" dirty="0" err="1">
                <a:solidFill>
                  <a:srgbClr val="94A3B8"/>
                </a:solidFill>
                <a:latin typeface="Calibri" pitchFamily="34" charset="0"/>
                <a:ea typeface="Calibri" pitchFamily="34" charset="-122"/>
                <a:cs typeface="Calibri" pitchFamily="34" charset="-120"/>
              </a:rPr>
              <a:t>Insepction</a:t>
            </a:r>
            <a:endParaRPr lang="en-US" sz="1400" dirty="0"/>
          </a:p>
        </p:txBody>
      </p:sp>
      <p:sp>
        <p:nvSpPr>
          <p:cNvPr id="6" name="Shape 4">
            <a:extLst>
              <a:ext uri="{FF2B5EF4-FFF2-40B4-BE49-F238E27FC236}">
                <a16:creationId xmlns:a16="http://schemas.microsoft.com/office/drawing/2014/main" id="{74F83515-77E1-4FC5-4831-1D8E00F85029}"/>
              </a:ext>
            </a:extLst>
          </p:cNvPr>
          <p:cNvSpPr/>
          <p:nvPr/>
        </p:nvSpPr>
        <p:spPr>
          <a:xfrm>
            <a:off x="548640" y="938784"/>
            <a:ext cx="8058912" cy="3724656"/>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pPr marL="342900" indent="-342900">
              <a:buFontTx/>
              <a:buChar char="-"/>
            </a:pPr>
            <a:r>
              <a:rPr lang="en-GB" sz="2400" dirty="0"/>
              <a:t>Clear co-localisation </a:t>
            </a:r>
          </a:p>
          <a:p>
            <a:pPr marL="342900" indent="-342900">
              <a:buFontTx/>
              <a:buChar char="-"/>
            </a:pPr>
            <a:r>
              <a:rPr lang="en-GB" sz="2400" dirty="0"/>
              <a:t>Elongated nature of the viewing window potentially confounding</a:t>
            </a:r>
          </a:p>
        </p:txBody>
      </p:sp>
      <p:pic>
        <p:nvPicPr>
          <p:cNvPr id="5" name="Picture 4">
            <a:extLst>
              <a:ext uri="{FF2B5EF4-FFF2-40B4-BE49-F238E27FC236}">
                <a16:creationId xmlns:a16="http://schemas.microsoft.com/office/drawing/2014/main" id="{7979C48C-5A05-8633-2A57-898B227A84CE}"/>
              </a:ext>
            </a:extLst>
          </p:cNvPr>
          <p:cNvPicPr>
            <a:picLocks noChangeAspect="1"/>
          </p:cNvPicPr>
          <p:nvPr/>
        </p:nvPicPr>
        <p:blipFill>
          <a:blip r:embed="rId3"/>
          <a:stretch>
            <a:fillRect/>
          </a:stretch>
        </p:blipFill>
        <p:spPr>
          <a:xfrm rot="5400000">
            <a:off x="3290989" y="-1815757"/>
            <a:ext cx="2515191" cy="8024273"/>
          </a:xfrm>
          <a:prstGeom prst="rect">
            <a:avLst/>
          </a:prstGeom>
        </p:spPr>
      </p:pic>
    </p:spTree>
    <p:extLst>
      <p:ext uri="{BB962C8B-B14F-4D97-AF65-F5344CB8AC3E}">
        <p14:creationId xmlns:p14="http://schemas.microsoft.com/office/powerpoint/2010/main" val="2552066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6858000" y="-731520"/>
            <a:ext cx="3657600" cy="3657600"/>
          </a:xfrm>
          <a:prstGeom prst="ellipse">
            <a:avLst/>
          </a:prstGeom>
          <a:solidFill>
            <a:srgbClr val="1E3A5F">
              <a:alpha val="45000"/>
            </a:srgbClr>
          </a:solidFill>
          <a:ln/>
        </p:spPr>
        <p:txBody>
          <a:bodyPr/>
          <a:lstStyle/>
          <a:p>
            <a:endParaRPr lang="en-GB"/>
          </a:p>
        </p:txBody>
      </p:sp>
      <p:sp>
        <p:nvSpPr>
          <p:cNvPr id="3" name="Shape 1"/>
          <p:cNvSpPr/>
          <p:nvPr/>
        </p:nvSpPr>
        <p:spPr>
          <a:xfrm>
            <a:off x="7772400" y="2743200"/>
            <a:ext cx="2286000" cy="2286000"/>
          </a:xfrm>
          <a:prstGeom prst="ellipse">
            <a:avLst/>
          </a:prstGeom>
          <a:solidFill>
            <a:srgbClr val="0D9488">
              <a:alpha val="30000"/>
            </a:srgbClr>
          </a:solidFill>
          <a:ln/>
        </p:spPr>
        <p:txBody>
          <a:bodyPr/>
          <a:lstStyle/>
          <a:p>
            <a:endParaRPr lang="en-GB"/>
          </a:p>
        </p:txBody>
      </p:sp>
      <p:sp>
        <p:nvSpPr>
          <p:cNvPr id="4" name="Text 2"/>
          <p:cNvSpPr/>
          <p:nvPr/>
        </p:nvSpPr>
        <p:spPr>
          <a:xfrm>
            <a:off x="548640" y="457200"/>
            <a:ext cx="1828800" cy="1645920"/>
          </a:xfrm>
          <a:prstGeom prst="rect">
            <a:avLst/>
          </a:prstGeom>
          <a:noFill/>
          <a:ln/>
        </p:spPr>
        <p:txBody>
          <a:bodyPr wrap="square" lIns="0" tIns="0" rIns="0" bIns="0" rtlCol="0" anchor="ctr"/>
          <a:lstStyle/>
          <a:p>
            <a:pPr marL="0" indent="0">
              <a:buNone/>
            </a:pPr>
            <a:r>
              <a:rPr lang="en-US" sz="7200" b="1" dirty="0">
                <a:solidFill>
                  <a:srgbClr val="0D9488"/>
                </a:solidFill>
                <a:latin typeface="Georgia" pitchFamily="34" charset="0"/>
                <a:ea typeface="Georgia" pitchFamily="34" charset="-122"/>
                <a:cs typeface="Georgia" pitchFamily="34" charset="-120"/>
              </a:rPr>
              <a:t>03</a:t>
            </a:r>
            <a:endParaRPr lang="en-US" sz="7200" dirty="0"/>
          </a:p>
        </p:txBody>
      </p:sp>
      <p:sp>
        <p:nvSpPr>
          <p:cNvPr id="5" name="Shape 3"/>
          <p:cNvSpPr/>
          <p:nvPr/>
        </p:nvSpPr>
        <p:spPr>
          <a:xfrm>
            <a:off x="548640" y="2194560"/>
            <a:ext cx="3200400" cy="36576"/>
          </a:xfrm>
          <a:prstGeom prst="rect">
            <a:avLst/>
          </a:prstGeom>
          <a:solidFill>
            <a:srgbClr val="0D9488"/>
          </a:solidFill>
          <a:ln/>
        </p:spPr>
        <p:txBody>
          <a:bodyPr/>
          <a:lstStyle/>
          <a:p>
            <a:endParaRPr lang="en-GB"/>
          </a:p>
        </p:txBody>
      </p:sp>
      <p:sp>
        <p:nvSpPr>
          <p:cNvPr id="6" name="Text 4"/>
          <p:cNvSpPr/>
          <p:nvPr/>
        </p:nvSpPr>
        <p:spPr>
          <a:xfrm>
            <a:off x="548640" y="2468880"/>
            <a:ext cx="6400800" cy="91440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Core stats functions</a:t>
            </a:r>
            <a:endParaRPr lang="en-US" sz="3200" dirty="0"/>
          </a:p>
        </p:txBody>
      </p:sp>
      <p:pic>
        <p:nvPicPr>
          <p:cNvPr id="10" name="Graphic 9" descr="Calculator with solid fill">
            <a:extLst>
              <a:ext uri="{FF2B5EF4-FFF2-40B4-BE49-F238E27FC236}">
                <a16:creationId xmlns:a16="http://schemas.microsoft.com/office/drawing/2014/main" id="{D1C47DE9-00F6-58B5-9680-7ADD8624268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1000" y="3886200"/>
            <a:ext cx="914400" cy="914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D3A"/>
          </a:solidFill>
          <a:ln/>
        </p:spPr>
        <p:txBody>
          <a:bodyPr/>
          <a:lstStyle/>
          <a:p>
            <a:endParaRPr lang="en-GB"/>
          </a:p>
        </p:txBody>
      </p:sp>
      <p:sp>
        <p:nvSpPr>
          <p:cNvPr id="3" name="Text 1"/>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03  —  Core stats functions</a:t>
            </a:r>
            <a:endParaRPr lang="en-US" sz="1400" dirty="0"/>
          </a:p>
        </p:txBody>
      </p:sp>
      <p:sp>
        <p:nvSpPr>
          <p:cNvPr id="4" name="Shape 2"/>
          <p:cNvSpPr/>
          <p:nvPr/>
        </p:nvSpPr>
        <p:spPr>
          <a:xfrm>
            <a:off x="548640" y="1051560"/>
            <a:ext cx="54864" cy="457200"/>
          </a:xfrm>
          <a:prstGeom prst="rect">
            <a:avLst/>
          </a:prstGeom>
          <a:solidFill>
            <a:srgbClr val="0D9488"/>
          </a:solidFill>
          <a:ln/>
        </p:spPr>
        <p:txBody>
          <a:bodyPr/>
          <a:lstStyle/>
          <a:p>
            <a:endParaRPr lang="en-GB"/>
          </a:p>
        </p:txBody>
      </p:sp>
      <p:sp>
        <p:nvSpPr>
          <p:cNvPr id="5" name="Text 3"/>
          <p:cNvSpPr/>
          <p:nvPr/>
        </p:nvSpPr>
        <p:spPr>
          <a:xfrm>
            <a:off x="777240" y="1051560"/>
            <a:ext cx="2743200" cy="45720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Method</a:t>
            </a:r>
            <a:endParaRPr lang="en-US" sz="2600" dirty="0"/>
          </a:p>
        </p:txBody>
      </p:sp>
      <p:sp>
        <p:nvSpPr>
          <p:cNvPr id="6" name="Shape 4"/>
          <p:cNvSpPr/>
          <p:nvPr/>
        </p:nvSpPr>
        <p:spPr>
          <a:xfrm>
            <a:off x="548640" y="1737360"/>
            <a:ext cx="8046720" cy="2926080"/>
          </a:xfrm>
          <a:prstGeom prst="rect">
            <a:avLst/>
          </a:prstGeom>
          <a:solidFill>
            <a:srgbClr val="FFFFFF"/>
          </a:solidFill>
          <a:ln/>
          <a:effectLst>
            <a:outerShdw blurRad="76200" dist="25400" dir="8100000" algn="bl" rotWithShape="0">
              <a:srgbClr val="000000">
                <a:alpha val="12000"/>
              </a:srgbClr>
            </a:outerShdw>
          </a:effectLst>
        </p:spPr>
        <p:txBody>
          <a:bodyPr/>
          <a:lstStyle/>
          <a:p>
            <a:r>
              <a:rPr lang="en-GB" sz="2000" b="1" i="1" dirty="0"/>
              <a:t>1. </a:t>
            </a:r>
            <a:r>
              <a:rPr lang="en-GB" sz="2000" i="1" dirty="0"/>
              <a:t>Implement </a:t>
            </a:r>
            <a:r>
              <a:rPr lang="en-GB" sz="2000" b="1" i="1" dirty="0" err="1">
                <a:solidFill>
                  <a:srgbClr val="FF0000"/>
                </a:solidFill>
              </a:rPr>
              <a:t>get_coords</a:t>
            </a:r>
            <a:r>
              <a:rPr lang="en-GB" sz="2000" b="1" i="1" dirty="0">
                <a:solidFill>
                  <a:srgbClr val="FF0000"/>
                </a:solidFill>
              </a:rPr>
              <a:t>() </a:t>
            </a:r>
            <a:r>
              <a:rPr lang="en-GB" sz="2000" i="1" dirty="0"/>
              <a:t>and </a:t>
            </a:r>
            <a:r>
              <a:rPr lang="en-GB" sz="2000" b="1" i="1" dirty="0" err="1">
                <a:solidFill>
                  <a:srgbClr val="FF0000"/>
                </a:solidFill>
              </a:rPr>
              <a:t>get_window</a:t>
            </a:r>
            <a:r>
              <a:rPr lang="en-GB" sz="2000" b="1" i="1" dirty="0">
                <a:solidFill>
                  <a:srgbClr val="FF0000"/>
                </a:solidFill>
              </a:rPr>
              <a:t>()</a:t>
            </a:r>
          </a:p>
          <a:p>
            <a:endParaRPr lang="en-GB" sz="2000" b="1" i="1" dirty="0"/>
          </a:p>
          <a:p>
            <a:r>
              <a:rPr lang="en-GB" sz="2000" b="1" i="1" dirty="0"/>
              <a:t>2. </a:t>
            </a:r>
            <a:r>
              <a:rPr lang="en-GB" sz="2000" i="1" dirty="0"/>
              <a:t>Implement </a:t>
            </a:r>
            <a:r>
              <a:rPr lang="en-GB" sz="2000" b="1" i="1" dirty="0"/>
              <a:t>K and L functions</a:t>
            </a:r>
            <a:r>
              <a:rPr lang="en-GB" sz="2000" i="1" dirty="0"/>
              <a:t> including parameters for:</a:t>
            </a:r>
          </a:p>
          <a:p>
            <a:pPr marL="800100" lvl="1" indent="-342900">
              <a:buFont typeface="Arial" panose="020B0604020202020204" pitchFamily="34" charset="0"/>
              <a:buChar char="•"/>
            </a:pPr>
            <a:r>
              <a:rPr lang="en-GB" sz="2000" i="1" dirty="0"/>
              <a:t>Point patterns A and B</a:t>
            </a:r>
          </a:p>
          <a:p>
            <a:pPr marL="800100" lvl="1" indent="-342900">
              <a:buFont typeface="Arial" panose="020B0604020202020204" pitchFamily="34" charset="0"/>
              <a:buChar char="•"/>
            </a:pPr>
            <a:r>
              <a:rPr lang="en-GB" sz="2000" i="1" dirty="0"/>
              <a:t>Window area (|W|)</a:t>
            </a:r>
          </a:p>
          <a:p>
            <a:pPr marL="800100" lvl="1" indent="-342900">
              <a:buFont typeface="Arial" panose="020B0604020202020204" pitchFamily="34" charset="0"/>
              <a:buChar char="•"/>
            </a:pPr>
            <a:r>
              <a:rPr lang="en-GB" sz="2000" i="1" dirty="0" err="1"/>
              <a:t>W</a:t>
            </a:r>
            <a:r>
              <a:rPr lang="en-GB" sz="2000" i="1" baseline="-25000" dirty="0" err="1"/>
              <a:t>ij</a:t>
            </a:r>
            <a:r>
              <a:rPr lang="en-GB" sz="2000" i="1" baseline="-25000" dirty="0"/>
              <a:t> </a:t>
            </a:r>
            <a:r>
              <a:rPr lang="en-GB" sz="2000" i="1" dirty="0"/>
              <a:t>(an edge correction weight)</a:t>
            </a:r>
          </a:p>
          <a:p>
            <a:pPr lvl="1"/>
            <a:endParaRPr lang="en-GB" sz="2000" i="1" dirty="0"/>
          </a:p>
          <a:p>
            <a:r>
              <a:rPr lang="en-GB" sz="2000" i="1" dirty="0"/>
              <a:t>3. Implement </a:t>
            </a:r>
            <a:r>
              <a:rPr lang="en-GB" sz="2000" b="1" i="1" dirty="0" err="1">
                <a:solidFill>
                  <a:srgbClr val="FF0000"/>
                </a:solidFill>
              </a:rPr>
              <a:t>compute_envelope</a:t>
            </a:r>
            <a:r>
              <a:rPr lang="en-GB" sz="2000" b="1" i="1" dirty="0">
                <a:solidFill>
                  <a:srgbClr val="FF0000"/>
                </a:solidFill>
              </a:rPr>
              <a:t>()</a:t>
            </a:r>
            <a:r>
              <a:rPr lang="en-GB" sz="2000" i="1" dirty="0"/>
              <a:t> and </a:t>
            </a:r>
            <a:r>
              <a:rPr lang="en-GB" sz="2000" b="1" i="1" dirty="0">
                <a:solidFill>
                  <a:srgbClr val="FF0000"/>
                </a:solidFill>
              </a:rPr>
              <a:t>plot diagnostics()</a:t>
            </a:r>
          </a:p>
          <a:p>
            <a:pPr lvl="1"/>
            <a:endParaRPr lang="en-GB" sz="2000" i="1" dirty="0"/>
          </a:p>
          <a:p>
            <a:endParaRPr lang="en-GB" sz="2000" b="1" i="1" dirty="0"/>
          </a:p>
          <a:p>
            <a:pPr marL="800100" lvl="1" indent="-342900">
              <a:buFont typeface="Arial" panose="020B0604020202020204" pitchFamily="34" charset="0"/>
              <a:buChar char="•"/>
            </a:pPr>
            <a:endParaRPr lang="en-GB" sz="2000" i="1" baseline="-25000" dirty="0"/>
          </a:p>
        </p:txBody>
      </p:sp>
      <p:sp>
        <p:nvSpPr>
          <p:cNvPr id="7" name="Text 5"/>
          <p:cNvSpPr/>
          <p:nvPr/>
        </p:nvSpPr>
        <p:spPr>
          <a:xfrm>
            <a:off x="914400" y="2011680"/>
            <a:ext cx="7315200" cy="2548128"/>
          </a:xfrm>
          <a:prstGeom prst="rect">
            <a:avLst/>
          </a:prstGeom>
          <a:noFill/>
          <a:ln/>
        </p:spPr>
        <p:txBody>
          <a:bodyPr wrap="square" lIns="0" tIns="0" rIns="0" bIns="0" rtlCol="0" anchor="ctr"/>
          <a:lstStyle/>
          <a:p>
            <a:pPr marL="0" indent="0">
              <a:buNone/>
            </a:pPr>
            <a:endParaRPr lang="en-US" sz="1300" dirty="0"/>
          </a:p>
        </p:txBody>
      </p:sp>
      <p:grpSp>
        <p:nvGrpSpPr>
          <p:cNvPr id="15" name="Group 14">
            <a:extLst>
              <a:ext uri="{FF2B5EF4-FFF2-40B4-BE49-F238E27FC236}">
                <a16:creationId xmlns:a16="http://schemas.microsoft.com/office/drawing/2014/main" id="{5811A526-E705-4A4D-9133-9641C17A8D92}"/>
              </a:ext>
            </a:extLst>
          </p:cNvPr>
          <p:cNvGrpSpPr/>
          <p:nvPr/>
        </p:nvGrpSpPr>
        <p:grpSpPr>
          <a:xfrm>
            <a:off x="6214871" y="2724912"/>
            <a:ext cx="2197608" cy="1513332"/>
            <a:chOff x="5766816" y="2415540"/>
            <a:chExt cx="2197608" cy="1513332"/>
          </a:xfrm>
        </p:grpSpPr>
        <p:sp>
          <p:nvSpPr>
            <p:cNvPr id="12" name="Oval 11">
              <a:extLst>
                <a:ext uri="{FF2B5EF4-FFF2-40B4-BE49-F238E27FC236}">
                  <a16:creationId xmlns:a16="http://schemas.microsoft.com/office/drawing/2014/main" id="{80D0F3CC-BB61-76B8-D8BA-85012E337BF5}"/>
                </a:ext>
              </a:extLst>
            </p:cNvPr>
            <p:cNvSpPr/>
            <p:nvPr/>
          </p:nvSpPr>
          <p:spPr>
            <a:xfrm>
              <a:off x="5766816" y="2513076"/>
              <a:ext cx="1109472" cy="1022604"/>
            </a:xfrm>
            <a:prstGeom prst="ellipse">
              <a:avLst/>
            </a:prstGeom>
            <a:solidFill>
              <a:schemeClr val="accent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ACD44A62-9AC5-1E65-32F4-6891BDB10859}"/>
                </a:ext>
              </a:extLst>
            </p:cNvPr>
            <p:cNvSpPr/>
            <p:nvPr/>
          </p:nvSpPr>
          <p:spPr>
            <a:xfrm>
              <a:off x="6321552" y="2415540"/>
              <a:ext cx="1642872" cy="151333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Partial Circle 13">
              <a:extLst>
                <a:ext uri="{FF2B5EF4-FFF2-40B4-BE49-F238E27FC236}">
                  <a16:creationId xmlns:a16="http://schemas.microsoft.com/office/drawing/2014/main" id="{31913CBF-B949-7327-BB4F-2033553937BE}"/>
                </a:ext>
              </a:extLst>
            </p:cNvPr>
            <p:cNvSpPr/>
            <p:nvPr/>
          </p:nvSpPr>
          <p:spPr>
            <a:xfrm rot="10800000">
              <a:off x="5766816" y="2500884"/>
              <a:ext cx="1109472" cy="1030224"/>
            </a:xfrm>
            <a:prstGeom prst="pie">
              <a:avLst>
                <a:gd name="adj1" fmla="val 5364922"/>
                <a:gd name="adj2" fmla="val 1620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Oval 10">
              <a:extLst>
                <a:ext uri="{FF2B5EF4-FFF2-40B4-BE49-F238E27FC236}">
                  <a16:creationId xmlns:a16="http://schemas.microsoft.com/office/drawing/2014/main" id="{FF2DC1CE-FF0C-3E92-3B5F-47414AE0921A}"/>
                </a:ext>
              </a:extLst>
            </p:cNvPr>
            <p:cNvSpPr/>
            <p:nvPr/>
          </p:nvSpPr>
          <p:spPr>
            <a:xfrm>
              <a:off x="6144768" y="2848356"/>
              <a:ext cx="353568" cy="3520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D3A"/>
          </a:solidFill>
          <a:ln/>
        </p:spPr>
        <p:txBody>
          <a:bodyPr/>
          <a:lstStyle/>
          <a:p>
            <a:endParaRPr lang="en-GB"/>
          </a:p>
        </p:txBody>
      </p:sp>
      <p:sp>
        <p:nvSpPr>
          <p:cNvPr id="3" name="Text 1"/>
          <p:cNvSpPr/>
          <p:nvPr/>
        </p:nvSpPr>
        <p:spPr>
          <a:xfrm>
            <a:off x="548640" y="109728"/>
            <a:ext cx="6400800" cy="502920"/>
          </a:xfrm>
          <a:prstGeom prst="rect">
            <a:avLst/>
          </a:prstGeom>
          <a:noFill/>
          <a:ln/>
        </p:spPr>
        <p:txBody>
          <a:bodyPr wrap="square" lIns="0" tIns="0" rIns="0" bIns="0" rtlCol="0" anchor="ctr"/>
          <a:lstStyle/>
          <a:p>
            <a:r>
              <a:rPr lang="en-US" sz="1400" dirty="0">
                <a:solidFill>
                  <a:srgbClr val="94A3B8"/>
                </a:solidFill>
                <a:latin typeface="Calibri" pitchFamily="34" charset="0"/>
                <a:ea typeface="Calibri" pitchFamily="34" charset="-122"/>
                <a:cs typeface="Calibri" pitchFamily="34" charset="-120"/>
              </a:rPr>
              <a:t>03  —  Core stats functions</a:t>
            </a:r>
            <a:endParaRPr lang="en-US" sz="1400" dirty="0"/>
          </a:p>
        </p:txBody>
      </p:sp>
      <p:sp>
        <p:nvSpPr>
          <p:cNvPr id="4" name="Shape 2"/>
          <p:cNvSpPr/>
          <p:nvPr/>
        </p:nvSpPr>
        <p:spPr>
          <a:xfrm>
            <a:off x="548640" y="1051560"/>
            <a:ext cx="54864" cy="457200"/>
          </a:xfrm>
          <a:prstGeom prst="rect">
            <a:avLst/>
          </a:prstGeom>
          <a:solidFill>
            <a:srgbClr val="F59E0B"/>
          </a:solidFill>
          <a:ln/>
        </p:spPr>
        <p:txBody>
          <a:bodyPr/>
          <a:lstStyle/>
          <a:p>
            <a:endParaRPr lang="en-GB"/>
          </a:p>
        </p:txBody>
      </p:sp>
      <p:sp>
        <p:nvSpPr>
          <p:cNvPr id="5" name="Text 3"/>
          <p:cNvSpPr/>
          <p:nvPr/>
        </p:nvSpPr>
        <p:spPr>
          <a:xfrm>
            <a:off x="777240" y="1051560"/>
            <a:ext cx="2743200" cy="457200"/>
          </a:xfrm>
          <a:prstGeom prst="rect">
            <a:avLst/>
          </a:prstGeom>
          <a:noFill/>
          <a:ln/>
        </p:spPr>
        <p:txBody>
          <a:bodyPr wrap="square" lIns="0" tIns="0" rIns="0" bIns="0" rtlCol="0" anchor="ctr"/>
          <a:lstStyle/>
          <a:p>
            <a:pPr marL="0" indent="0">
              <a:buNone/>
            </a:pPr>
            <a:r>
              <a:rPr lang="en-US" sz="2600" b="1" dirty="0" err="1">
                <a:solidFill>
                  <a:srgbClr val="0F172A"/>
                </a:solidFill>
                <a:latin typeface="Consolas" panose="020B0609020204030204" pitchFamily="49" charset="0"/>
                <a:ea typeface="Georgia" pitchFamily="34" charset="-122"/>
                <a:cs typeface="Georgia" pitchFamily="34" charset="-120"/>
              </a:rPr>
              <a:t>get_coords</a:t>
            </a:r>
            <a:r>
              <a:rPr lang="en-US" sz="2600" b="1" dirty="0">
                <a:solidFill>
                  <a:srgbClr val="0F172A"/>
                </a:solidFill>
                <a:latin typeface="Consolas" panose="020B0609020204030204" pitchFamily="49" charset="0"/>
                <a:ea typeface="Georgia" pitchFamily="34" charset="-122"/>
                <a:cs typeface="Georgia" pitchFamily="34" charset="-120"/>
              </a:rPr>
              <a:t>()</a:t>
            </a:r>
            <a:endParaRPr lang="en-US" sz="2600" b="1" dirty="0">
              <a:latin typeface="Consolas" panose="020B0609020204030204" pitchFamily="49" charset="0"/>
            </a:endParaRPr>
          </a:p>
        </p:txBody>
      </p:sp>
      <p:sp>
        <p:nvSpPr>
          <p:cNvPr id="6" name="Shape 4"/>
          <p:cNvSpPr/>
          <p:nvPr/>
        </p:nvSpPr>
        <p:spPr>
          <a:xfrm>
            <a:off x="548640" y="1737360"/>
            <a:ext cx="8125968" cy="2926080"/>
          </a:xfrm>
          <a:prstGeom prst="rect">
            <a:avLst/>
          </a:prstGeom>
          <a:solidFill>
            <a:srgbClr val="FFFFFF"/>
          </a:solidFill>
          <a:ln/>
          <a:effectLst>
            <a:outerShdw blurRad="76200" dist="25400" dir="8100000" algn="bl" rotWithShape="0">
              <a:srgbClr val="000000">
                <a:alpha val="12000"/>
              </a:srgbClr>
            </a:outerShdw>
          </a:effectLst>
        </p:spPr>
        <p:txBody>
          <a:bodyPr/>
          <a:lstStyle/>
          <a:p>
            <a:pPr marL="342900" indent="-342900">
              <a:buFont typeface="Arial" panose="020B0604020202020204" pitchFamily="34" charset="0"/>
              <a:buChar char="•"/>
            </a:pPr>
            <a:endParaRPr lang="en-GB" sz="2000" b="1" dirty="0"/>
          </a:p>
          <a:p>
            <a:pPr marL="342900" indent="-342900">
              <a:buFont typeface="Arial" panose="020B0604020202020204" pitchFamily="34" charset="0"/>
              <a:buChar char="•"/>
            </a:pPr>
            <a:endParaRPr lang="en-GB" sz="2000" b="1" dirty="0"/>
          </a:p>
          <a:p>
            <a:pPr marL="342900" indent="-342900">
              <a:buFont typeface="Arial" panose="020B0604020202020204" pitchFamily="34" charset="0"/>
              <a:buChar char="•"/>
            </a:pPr>
            <a:r>
              <a:rPr lang="en-GB" sz="2000" b="1" dirty="0"/>
              <a:t>Takes an input </a:t>
            </a:r>
            <a:r>
              <a:rPr lang="en-GB" sz="2000" b="1" dirty="0" err="1"/>
              <a:t>dataframe</a:t>
            </a:r>
            <a:r>
              <a:rPr lang="en-GB" sz="2000" b="1" dirty="0"/>
              <a:t>, search gene, </a:t>
            </a:r>
            <a:r>
              <a:rPr lang="en-GB" sz="2000" b="1" dirty="0" err="1"/>
              <a:t>x_column</a:t>
            </a:r>
            <a:r>
              <a:rPr lang="en-GB" sz="2000" b="1" dirty="0"/>
              <a:t> and </a:t>
            </a:r>
            <a:r>
              <a:rPr lang="en-GB" sz="2000" b="1" dirty="0" err="1"/>
              <a:t>y_column</a:t>
            </a:r>
            <a:r>
              <a:rPr lang="en-GB" sz="2000" b="1" dirty="0"/>
              <a:t> </a:t>
            </a:r>
          </a:p>
          <a:p>
            <a:pPr lvl="1"/>
            <a:r>
              <a:rPr lang="en-GB" sz="2000" dirty="0">
                <a:solidFill>
                  <a:schemeClr val="accent3"/>
                </a:solidFill>
              </a:rPr>
              <a:t>Defaults to using (“</a:t>
            </a:r>
            <a:r>
              <a:rPr lang="en-GB" sz="2000" dirty="0" err="1">
                <a:solidFill>
                  <a:schemeClr val="accent3"/>
                </a:solidFill>
              </a:rPr>
              <a:t>x_global_px</a:t>
            </a:r>
            <a:r>
              <a:rPr lang="en-GB" sz="2000" dirty="0">
                <a:solidFill>
                  <a:schemeClr val="accent3"/>
                </a:solidFill>
              </a:rPr>
              <a:t>” and “</a:t>
            </a:r>
            <a:r>
              <a:rPr lang="en-GB" sz="2000" dirty="0" err="1">
                <a:solidFill>
                  <a:schemeClr val="accent3"/>
                </a:solidFill>
              </a:rPr>
              <a:t>y_global_px</a:t>
            </a:r>
            <a:r>
              <a:rPr lang="en-GB" sz="2000" dirty="0">
                <a:solidFill>
                  <a:schemeClr val="accent3"/>
                </a:solidFill>
              </a:rPr>
              <a:t>”)</a:t>
            </a:r>
          </a:p>
          <a:p>
            <a:pPr lvl="1"/>
            <a:endParaRPr lang="en-GB" sz="2000" dirty="0">
              <a:solidFill>
                <a:schemeClr val="accent3"/>
              </a:solidFill>
            </a:endParaRPr>
          </a:p>
          <a:p>
            <a:pPr marL="342900" indent="-342900">
              <a:buFont typeface="Arial" panose="020B0604020202020204" pitchFamily="34" charset="0"/>
              <a:buChar char="•"/>
            </a:pPr>
            <a:r>
              <a:rPr lang="en-GB" sz="2000" b="1" dirty="0"/>
              <a:t>Returns the coordinates of that gene as a 2D array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DE667AFA-80BA-830B-DDD4-8672464058D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372FDF0-B779-0ECA-DBE9-A6AEAD4ED2AC}"/>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B1808DC1-0BC6-22E7-BE57-CE2C748389F1}"/>
              </a:ext>
            </a:extLst>
          </p:cNvPr>
          <p:cNvSpPr/>
          <p:nvPr/>
        </p:nvSpPr>
        <p:spPr>
          <a:xfrm>
            <a:off x="548640" y="109728"/>
            <a:ext cx="6400800" cy="502920"/>
          </a:xfrm>
          <a:prstGeom prst="rect">
            <a:avLst/>
          </a:prstGeom>
          <a:noFill/>
          <a:ln/>
        </p:spPr>
        <p:txBody>
          <a:bodyPr wrap="square" lIns="0" tIns="0" rIns="0" bIns="0" rtlCol="0" anchor="ctr"/>
          <a:lstStyle/>
          <a:p>
            <a:r>
              <a:rPr lang="en-US" sz="1400" dirty="0">
                <a:solidFill>
                  <a:srgbClr val="94A3B8"/>
                </a:solidFill>
                <a:latin typeface="Calibri" pitchFamily="34" charset="0"/>
                <a:ea typeface="Calibri" pitchFamily="34" charset="-122"/>
                <a:cs typeface="Calibri" pitchFamily="34" charset="-120"/>
              </a:rPr>
              <a:t>03  —  Core stats functions</a:t>
            </a:r>
            <a:endParaRPr lang="en-US" sz="1400" dirty="0"/>
          </a:p>
        </p:txBody>
      </p:sp>
      <p:sp>
        <p:nvSpPr>
          <p:cNvPr id="4" name="Shape 2">
            <a:extLst>
              <a:ext uri="{FF2B5EF4-FFF2-40B4-BE49-F238E27FC236}">
                <a16:creationId xmlns:a16="http://schemas.microsoft.com/office/drawing/2014/main" id="{560F691E-A049-317A-C788-C53F004F28B2}"/>
              </a:ext>
            </a:extLst>
          </p:cNvPr>
          <p:cNvSpPr/>
          <p:nvPr/>
        </p:nvSpPr>
        <p:spPr>
          <a:xfrm>
            <a:off x="548640" y="1051560"/>
            <a:ext cx="54864" cy="457200"/>
          </a:xfrm>
          <a:prstGeom prst="rect">
            <a:avLst/>
          </a:prstGeom>
          <a:solidFill>
            <a:srgbClr val="F59E0B"/>
          </a:solidFill>
          <a:ln/>
        </p:spPr>
        <p:txBody>
          <a:bodyPr/>
          <a:lstStyle/>
          <a:p>
            <a:endParaRPr lang="en-GB"/>
          </a:p>
        </p:txBody>
      </p:sp>
      <p:sp>
        <p:nvSpPr>
          <p:cNvPr id="5" name="Text 3">
            <a:extLst>
              <a:ext uri="{FF2B5EF4-FFF2-40B4-BE49-F238E27FC236}">
                <a16:creationId xmlns:a16="http://schemas.microsoft.com/office/drawing/2014/main" id="{C50AED7D-5FD7-8D23-2F6C-F0F65A26B4BE}"/>
              </a:ext>
            </a:extLst>
          </p:cNvPr>
          <p:cNvSpPr/>
          <p:nvPr/>
        </p:nvSpPr>
        <p:spPr>
          <a:xfrm>
            <a:off x="777240" y="1051560"/>
            <a:ext cx="2743200" cy="457200"/>
          </a:xfrm>
          <a:prstGeom prst="rect">
            <a:avLst/>
          </a:prstGeom>
          <a:noFill/>
          <a:ln/>
        </p:spPr>
        <p:txBody>
          <a:bodyPr wrap="square" lIns="0" tIns="0" rIns="0" bIns="0" rtlCol="0" anchor="ctr"/>
          <a:lstStyle/>
          <a:p>
            <a:pPr marL="0" indent="0">
              <a:buNone/>
            </a:pPr>
            <a:r>
              <a:rPr lang="en-US" sz="2600" b="1" dirty="0" err="1">
                <a:solidFill>
                  <a:srgbClr val="0F172A"/>
                </a:solidFill>
                <a:latin typeface="Consolas" panose="020B0609020204030204" pitchFamily="49" charset="0"/>
                <a:ea typeface="Georgia" pitchFamily="34" charset="-122"/>
                <a:cs typeface="Georgia" pitchFamily="34" charset="-120"/>
              </a:rPr>
              <a:t>get_window</a:t>
            </a:r>
            <a:r>
              <a:rPr lang="en-US" sz="2600" b="1" dirty="0">
                <a:solidFill>
                  <a:srgbClr val="0F172A"/>
                </a:solidFill>
                <a:latin typeface="Consolas" panose="020B0609020204030204" pitchFamily="49" charset="0"/>
                <a:ea typeface="Georgia" pitchFamily="34" charset="-122"/>
                <a:cs typeface="Georgia" pitchFamily="34" charset="-120"/>
              </a:rPr>
              <a:t>()</a:t>
            </a:r>
            <a:endParaRPr lang="en-US" sz="2600" b="1" dirty="0">
              <a:latin typeface="Consolas" panose="020B0609020204030204" pitchFamily="49" charset="0"/>
            </a:endParaRPr>
          </a:p>
        </p:txBody>
      </p:sp>
      <p:sp>
        <p:nvSpPr>
          <p:cNvPr id="6" name="Shape 4">
            <a:extLst>
              <a:ext uri="{FF2B5EF4-FFF2-40B4-BE49-F238E27FC236}">
                <a16:creationId xmlns:a16="http://schemas.microsoft.com/office/drawing/2014/main" id="{26B8C12D-6D68-B4B3-1CE7-4ED923D480E0}"/>
              </a:ext>
            </a:extLst>
          </p:cNvPr>
          <p:cNvSpPr/>
          <p:nvPr/>
        </p:nvSpPr>
        <p:spPr>
          <a:xfrm>
            <a:off x="548640" y="1737360"/>
            <a:ext cx="8125968" cy="2926080"/>
          </a:xfrm>
          <a:prstGeom prst="rect">
            <a:avLst/>
          </a:prstGeom>
          <a:solidFill>
            <a:srgbClr val="FFFFFF"/>
          </a:solidFill>
          <a:ln/>
          <a:effectLst>
            <a:outerShdw blurRad="76200" dist="25400" dir="8100000" algn="bl" rotWithShape="0">
              <a:srgbClr val="000000">
                <a:alpha val="12000"/>
              </a:srgbClr>
            </a:outerShdw>
          </a:effectLst>
        </p:spPr>
        <p:txBody>
          <a:bodyPr numCol="2"/>
          <a:lstStyle/>
          <a:p>
            <a:pPr marL="342900" indent="-342900">
              <a:buFont typeface="Arial" panose="020B0604020202020204" pitchFamily="34" charset="0"/>
              <a:buChar char="•"/>
            </a:pPr>
            <a:endParaRPr lang="en-GB" sz="2000" b="1" dirty="0"/>
          </a:p>
          <a:p>
            <a:pPr marL="342900" indent="-342900">
              <a:buFont typeface="Arial" panose="020B0604020202020204" pitchFamily="34" charset="0"/>
              <a:buChar char="•"/>
            </a:pPr>
            <a:endParaRPr lang="en-GB" sz="2000" b="1" dirty="0"/>
          </a:p>
          <a:p>
            <a:pPr marL="342900" indent="-342900">
              <a:buFont typeface="Arial" panose="020B0604020202020204" pitchFamily="34" charset="0"/>
              <a:buChar char="•"/>
            </a:pPr>
            <a:r>
              <a:rPr lang="en-GB" sz="2000" b="1" dirty="0"/>
              <a:t>Takes an input </a:t>
            </a:r>
            <a:r>
              <a:rPr lang="en-GB" sz="2000" b="1" dirty="0" err="1"/>
              <a:t>dataframe</a:t>
            </a:r>
            <a:r>
              <a:rPr lang="en-GB" sz="2000" b="1" dirty="0"/>
              <a:t>, X coordinates and Y coordinates</a:t>
            </a:r>
            <a:endParaRPr lang="en-GB" sz="2000" dirty="0">
              <a:solidFill>
                <a:schemeClr val="accent3"/>
              </a:solidFill>
            </a:endParaRPr>
          </a:p>
          <a:p>
            <a:pPr lvl="1"/>
            <a:endParaRPr lang="en-GB" sz="2000" dirty="0">
              <a:solidFill>
                <a:schemeClr val="accent3"/>
              </a:solidFill>
            </a:endParaRPr>
          </a:p>
          <a:p>
            <a:pPr marL="342900" indent="-342900">
              <a:buFont typeface="Arial" panose="020B0604020202020204" pitchFamily="34" charset="0"/>
              <a:buChar char="•"/>
            </a:pPr>
            <a:r>
              <a:rPr lang="en-GB" sz="2000" b="1" dirty="0"/>
              <a:t>Returns a minimum (rectangular) bounding box for all transcripts in a tissue</a:t>
            </a:r>
          </a:p>
        </p:txBody>
      </p:sp>
      <p:sp>
        <p:nvSpPr>
          <p:cNvPr id="7" name="Oval 6">
            <a:extLst>
              <a:ext uri="{FF2B5EF4-FFF2-40B4-BE49-F238E27FC236}">
                <a16:creationId xmlns:a16="http://schemas.microsoft.com/office/drawing/2014/main" id="{B3552FBA-1861-C256-CA87-F0628F823B74}"/>
              </a:ext>
            </a:extLst>
          </p:cNvPr>
          <p:cNvSpPr/>
          <p:nvPr/>
        </p:nvSpPr>
        <p:spPr>
          <a:xfrm>
            <a:off x="5913120" y="2492502"/>
            <a:ext cx="170688" cy="158496"/>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B8717501-E3C1-A632-8D4F-7D31E9A6423C}"/>
              </a:ext>
            </a:extLst>
          </p:cNvPr>
          <p:cNvSpPr/>
          <p:nvPr/>
        </p:nvSpPr>
        <p:spPr>
          <a:xfrm>
            <a:off x="6022848" y="3041904"/>
            <a:ext cx="170688" cy="158496"/>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DE0F3137-035E-FFD4-6A15-4E5C5CD541B0}"/>
              </a:ext>
            </a:extLst>
          </p:cNvPr>
          <p:cNvSpPr/>
          <p:nvPr/>
        </p:nvSpPr>
        <p:spPr>
          <a:xfrm>
            <a:off x="6528816" y="2413254"/>
            <a:ext cx="170688" cy="158496"/>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1CC18936-7453-ACB6-4B6B-8DC779301925}"/>
              </a:ext>
            </a:extLst>
          </p:cNvPr>
          <p:cNvSpPr/>
          <p:nvPr/>
        </p:nvSpPr>
        <p:spPr>
          <a:xfrm>
            <a:off x="6778752" y="3379851"/>
            <a:ext cx="170688" cy="158496"/>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314DD6DB-79DD-5173-6130-7F032F058DD3}"/>
              </a:ext>
            </a:extLst>
          </p:cNvPr>
          <p:cNvSpPr/>
          <p:nvPr/>
        </p:nvSpPr>
        <p:spPr>
          <a:xfrm>
            <a:off x="6458712" y="3547110"/>
            <a:ext cx="170688" cy="158496"/>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BD9AA9B3-4985-CDDE-DD9B-B99BA6E472C4}"/>
              </a:ext>
            </a:extLst>
          </p:cNvPr>
          <p:cNvSpPr/>
          <p:nvPr/>
        </p:nvSpPr>
        <p:spPr>
          <a:xfrm>
            <a:off x="7174992" y="3372993"/>
            <a:ext cx="170688" cy="158496"/>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3423EEA9-7FCD-FBB1-91AD-7A0195C93EAE}"/>
              </a:ext>
            </a:extLst>
          </p:cNvPr>
          <p:cNvSpPr/>
          <p:nvPr/>
        </p:nvSpPr>
        <p:spPr>
          <a:xfrm>
            <a:off x="7089648" y="3842385"/>
            <a:ext cx="170688" cy="158496"/>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37A98B9A-0A43-FA3B-8848-7F3662DE581C}"/>
              </a:ext>
            </a:extLst>
          </p:cNvPr>
          <p:cNvSpPr/>
          <p:nvPr/>
        </p:nvSpPr>
        <p:spPr>
          <a:xfrm>
            <a:off x="5913120" y="2413254"/>
            <a:ext cx="1432560" cy="1587627"/>
          </a:xfrm>
          <a:prstGeom prst="rect">
            <a:avLst/>
          </a:prstGeom>
          <a:noFill/>
          <a:ln w="349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E1E7A23F-ECAC-FBA8-C974-2609892DBED8}"/>
              </a:ext>
            </a:extLst>
          </p:cNvPr>
          <p:cNvSpPr/>
          <p:nvPr/>
        </p:nvSpPr>
        <p:spPr>
          <a:xfrm>
            <a:off x="6318504" y="2641473"/>
            <a:ext cx="170688" cy="15849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6FFC8B71-5945-DF66-9EE6-952DEF2CBC38}"/>
              </a:ext>
            </a:extLst>
          </p:cNvPr>
          <p:cNvSpPr/>
          <p:nvPr/>
        </p:nvSpPr>
        <p:spPr>
          <a:xfrm>
            <a:off x="6193536" y="3321177"/>
            <a:ext cx="170688" cy="15849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4EE0F197-9E30-DE77-3C59-CE61332E2F15}"/>
              </a:ext>
            </a:extLst>
          </p:cNvPr>
          <p:cNvSpPr/>
          <p:nvPr/>
        </p:nvSpPr>
        <p:spPr>
          <a:xfrm>
            <a:off x="6833616" y="3799713"/>
            <a:ext cx="170688" cy="15849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289A25CD-1F1B-0472-D8C1-350BC864A8F3}"/>
              </a:ext>
            </a:extLst>
          </p:cNvPr>
          <p:cNvSpPr/>
          <p:nvPr/>
        </p:nvSpPr>
        <p:spPr>
          <a:xfrm>
            <a:off x="7089648" y="2890076"/>
            <a:ext cx="170688" cy="15849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45C4E899-BCAB-E8D8-09C1-56C1BD930A06}"/>
              </a:ext>
            </a:extLst>
          </p:cNvPr>
          <p:cNvSpPr/>
          <p:nvPr/>
        </p:nvSpPr>
        <p:spPr>
          <a:xfrm>
            <a:off x="6769608" y="2607564"/>
            <a:ext cx="170688" cy="15849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8F803C15-3DFA-903A-CEF8-3A2DF0577972}"/>
              </a:ext>
            </a:extLst>
          </p:cNvPr>
          <p:cNvSpPr/>
          <p:nvPr/>
        </p:nvSpPr>
        <p:spPr>
          <a:xfrm>
            <a:off x="6665976" y="3062859"/>
            <a:ext cx="170688" cy="15849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95643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3FD22989-44A5-DB54-7F68-E64DA5BE4A2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FA7B918-D05F-FAD4-7201-0591E35440E8}"/>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263B84B7-06B9-0D9A-E5C1-F8CE951633DD}"/>
              </a:ext>
            </a:extLst>
          </p:cNvPr>
          <p:cNvSpPr/>
          <p:nvPr/>
        </p:nvSpPr>
        <p:spPr>
          <a:xfrm>
            <a:off x="548640" y="109728"/>
            <a:ext cx="6400800" cy="502920"/>
          </a:xfrm>
          <a:prstGeom prst="rect">
            <a:avLst/>
          </a:prstGeom>
          <a:noFill/>
          <a:ln/>
        </p:spPr>
        <p:txBody>
          <a:bodyPr wrap="square" lIns="0" tIns="0" rIns="0" bIns="0" rtlCol="0" anchor="ctr"/>
          <a:lstStyle/>
          <a:p>
            <a:r>
              <a:rPr lang="en-US" sz="1400" dirty="0">
                <a:solidFill>
                  <a:srgbClr val="94A3B8"/>
                </a:solidFill>
                <a:latin typeface="Calibri" pitchFamily="34" charset="0"/>
                <a:ea typeface="Calibri" pitchFamily="34" charset="-122"/>
                <a:cs typeface="Calibri" pitchFamily="34" charset="-120"/>
              </a:rPr>
              <a:t>03  —  Core stats functions</a:t>
            </a:r>
            <a:endParaRPr lang="en-US" sz="1400" dirty="0"/>
          </a:p>
        </p:txBody>
      </p:sp>
      <p:sp>
        <p:nvSpPr>
          <p:cNvPr id="4" name="Shape 2">
            <a:extLst>
              <a:ext uri="{FF2B5EF4-FFF2-40B4-BE49-F238E27FC236}">
                <a16:creationId xmlns:a16="http://schemas.microsoft.com/office/drawing/2014/main" id="{DC0CBAB9-4F28-63CD-3905-FFBE0F751E44}"/>
              </a:ext>
            </a:extLst>
          </p:cNvPr>
          <p:cNvSpPr/>
          <p:nvPr/>
        </p:nvSpPr>
        <p:spPr>
          <a:xfrm>
            <a:off x="548640" y="1051560"/>
            <a:ext cx="54864" cy="457200"/>
          </a:xfrm>
          <a:prstGeom prst="rect">
            <a:avLst/>
          </a:prstGeom>
          <a:solidFill>
            <a:srgbClr val="F59E0B"/>
          </a:solidFill>
          <a:ln/>
        </p:spPr>
        <p:txBody>
          <a:bodyPr/>
          <a:lstStyle/>
          <a:p>
            <a:endParaRPr lang="en-GB"/>
          </a:p>
        </p:txBody>
      </p:sp>
      <p:sp>
        <p:nvSpPr>
          <p:cNvPr id="5" name="Text 3">
            <a:extLst>
              <a:ext uri="{FF2B5EF4-FFF2-40B4-BE49-F238E27FC236}">
                <a16:creationId xmlns:a16="http://schemas.microsoft.com/office/drawing/2014/main" id="{7A28E5EE-91F2-7A5E-622A-4B1AA7AD5315}"/>
              </a:ext>
            </a:extLst>
          </p:cNvPr>
          <p:cNvSpPr/>
          <p:nvPr/>
        </p:nvSpPr>
        <p:spPr>
          <a:xfrm>
            <a:off x="777240" y="1051560"/>
            <a:ext cx="2743200" cy="457200"/>
          </a:xfrm>
          <a:prstGeom prst="rect">
            <a:avLst/>
          </a:prstGeom>
          <a:noFill/>
          <a:ln/>
        </p:spPr>
        <p:txBody>
          <a:bodyPr wrap="square" lIns="0" tIns="0" rIns="0" bIns="0" rtlCol="0" anchor="ctr"/>
          <a:lstStyle/>
          <a:p>
            <a:pPr marL="0" indent="0">
              <a:buNone/>
            </a:pPr>
            <a:r>
              <a:rPr lang="en-US" sz="2600" b="1" dirty="0" err="1">
                <a:solidFill>
                  <a:srgbClr val="0F172A"/>
                </a:solidFill>
                <a:latin typeface="Consolas" panose="020B0609020204030204" pitchFamily="49" charset="0"/>
                <a:ea typeface="Georgia" pitchFamily="34" charset="-122"/>
                <a:cs typeface="Georgia" pitchFamily="34" charset="-120"/>
              </a:rPr>
              <a:t>bivariate_k</a:t>
            </a:r>
            <a:r>
              <a:rPr lang="en-US" sz="2600" b="1" dirty="0">
                <a:solidFill>
                  <a:srgbClr val="0F172A"/>
                </a:solidFill>
                <a:latin typeface="Consolas" panose="020B0609020204030204" pitchFamily="49" charset="0"/>
                <a:ea typeface="Georgia" pitchFamily="34" charset="-122"/>
                <a:cs typeface="Georgia" pitchFamily="34" charset="-120"/>
              </a:rPr>
              <a:t>()</a:t>
            </a:r>
            <a:endParaRPr lang="en-US" sz="2600" b="1" dirty="0">
              <a:latin typeface="Consolas" panose="020B0609020204030204" pitchFamily="49" charset="0"/>
            </a:endParaRPr>
          </a:p>
        </p:txBody>
      </p:sp>
      <p:sp>
        <p:nvSpPr>
          <p:cNvPr id="6" name="Shape 4">
            <a:extLst>
              <a:ext uri="{FF2B5EF4-FFF2-40B4-BE49-F238E27FC236}">
                <a16:creationId xmlns:a16="http://schemas.microsoft.com/office/drawing/2014/main" id="{69C1B858-A0B6-B93B-A7AA-B9BF42DD27BE}"/>
              </a:ext>
            </a:extLst>
          </p:cNvPr>
          <p:cNvSpPr/>
          <p:nvPr/>
        </p:nvSpPr>
        <p:spPr>
          <a:xfrm>
            <a:off x="548640" y="1737360"/>
            <a:ext cx="8125968" cy="2926080"/>
          </a:xfrm>
          <a:prstGeom prst="rect">
            <a:avLst/>
          </a:prstGeom>
          <a:solidFill>
            <a:srgbClr val="FFFFFF"/>
          </a:solidFill>
          <a:ln/>
          <a:effectLst>
            <a:outerShdw blurRad="76200" dist="25400" dir="8100000" algn="bl" rotWithShape="0">
              <a:srgbClr val="000000">
                <a:alpha val="12000"/>
              </a:srgbClr>
            </a:outerShdw>
          </a:effectLst>
        </p:spPr>
        <p:txBody>
          <a:bodyPr numCol="1"/>
          <a:lstStyle/>
          <a:p>
            <a:pPr marL="342900" indent="-342900">
              <a:buFont typeface="Arial" panose="020B0604020202020204" pitchFamily="34" charset="0"/>
              <a:buChar char="•"/>
            </a:pPr>
            <a:endParaRPr lang="en-GB" sz="2000" b="1" dirty="0"/>
          </a:p>
          <a:p>
            <a:pPr marL="342900" indent="-342900">
              <a:buFont typeface="Arial" panose="020B0604020202020204" pitchFamily="34" charset="0"/>
              <a:buChar char="•"/>
            </a:pPr>
            <a:r>
              <a:rPr lang="en-GB" sz="2000" b="1" dirty="0"/>
              <a:t>Takes A and B point </a:t>
            </a:r>
            <a:r>
              <a:rPr lang="en-GB" sz="2000" b="1" dirty="0" err="1"/>
              <a:t>coordiantes</a:t>
            </a:r>
            <a:r>
              <a:rPr lang="en-GB" sz="2000" b="1" dirty="0"/>
              <a:t>, </a:t>
            </a:r>
            <a:r>
              <a:rPr lang="en-GB" sz="2000" b="1" dirty="0" err="1"/>
              <a:t>r_vals</a:t>
            </a:r>
            <a:r>
              <a:rPr lang="en-GB" sz="2000" b="1" dirty="0"/>
              <a:t>, and window()</a:t>
            </a:r>
          </a:p>
          <a:p>
            <a:endParaRPr lang="en-GB" sz="2000" b="1" dirty="0"/>
          </a:p>
          <a:p>
            <a:pPr marL="342900" indent="-342900">
              <a:buFont typeface="Arial" panose="020B0604020202020204" pitchFamily="34" charset="0"/>
              <a:buChar char="•"/>
            </a:pPr>
            <a:r>
              <a:rPr lang="en-GB" sz="2000" b="1" dirty="0"/>
              <a:t>Runs bivariate (cross-type) Ripley’s K-function K</a:t>
            </a:r>
            <a:r>
              <a:rPr lang="en-GB" sz="2000" b="1" baseline="-25000" dirty="0"/>
              <a:t>AB</a:t>
            </a:r>
            <a:r>
              <a:rPr lang="en-GB" sz="2000" b="1" dirty="0"/>
              <a:t>(r)</a:t>
            </a:r>
          </a:p>
          <a:p>
            <a:pPr marL="342900" indent="-342900">
              <a:buFont typeface="Arial" panose="020B0604020202020204" pitchFamily="34" charset="0"/>
              <a:buChar char="•"/>
            </a:pPr>
            <a:endParaRPr lang="en-GB" sz="2000" b="1" dirty="0"/>
          </a:p>
          <a:p>
            <a:pPr marL="342900" indent="-342900">
              <a:buFont typeface="Arial" panose="020B0604020202020204" pitchFamily="34" charset="0"/>
              <a:buChar char="•"/>
            </a:pPr>
            <a:r>
              <a:rPr lang="en-GB" sz="2000" b="1" dirty="0"/>
              <a:t>Includes edge correction weighting</a:t>
            </a:r>
          </a:p>
          <a:p>
            <a:pPr marL="800100" lvl="1" indent="-342900">
              <a:buFont typeface="Arial" panose="020B0604020202020204" pitchFamily="34" charset="0"/>
              <a:buChar char="•"/>
            </a:pPr>
            <a:r>
              <a:rPr lang="en-GB" sz="2000" b="1" dirty="0">
                <a:solidFill>
                  <a:schemeClr val="accent3"/>
                </a:solidFill>
              </a:rPr>
              <a:t>Multiply by reciprocal fraction of circle inside of the window</a:t>
            </a:r>
          </a:p>
        </p:txBody>
      </p:sp>
    </p:spTree>
    <p:extLst>
      <p:ext uri="{BB962C8B-B14F-4D97-AF65-F5344CB8AC3E}">
        <p14:creationId xmlns:p14="http://schemas.microsoft.com/office/powerpoint/2010/main" val="998012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9683A914-C207-4566-DE4A-CB9C34BF833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EE709C8-DB3F-9904-0AA1-E505A53B1A73}"/>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75EFCA33-9AAA-4468-EB90-E76D45517DB2}"/>
              </a:ext>
            </a:extLst>
          </p:cNvPr>
          <p:cNvSpPr/>
          <p:nvPr/>
        </p:nvSpPr>
        <p:spPr>
          <a:xfrm>
            <a:off x="548640" y="109728"/>
            <a:ext cx="6400800" cy="502920"/>
          </a:xfrm>
          <a:prstGeom prst="rect">
            <a:avLst/>
          </a:prstGeom>
          <a:noFill/>
          <a:ln/>
        </p:spPr>
        <p:txBody>
          <a:bodyPr wrap="square" lIns="0" tIns="0" rIns="0" bIns="0" rtlCol="0" anchor="ctr"/>
          <a:lstStyle/>
          <a:p>
            <a:r>
              <a:rPr lang="en-US" sz="1400" dirty="0">
                <a:solidFill>
                  <a:srgbClr val="94A3B8"/>
                </a:solidFill>
                <a:latin typeface="Calibri" pitchFamily="34" charset="0"/>
                <a:ea typeface="Calibri" pitchFamily="34" charset="-122"/>
                <a:cs typeface="Calibri" pitchFamily="34" charset="-120"/>
              </a:rPr>
              <a:t>03  —  Core stats functions</a:t>
            </a:r>
            <a:endParaRPr lang="en-US" sz="1400" dirty="0"/>
          </a:p>
        </p:txBody>
      </p:sp>
      <p:sp>
        <p:nvSpPr>
          <p:cNvPr id="4" name="Shape 2">
            <a:extLst>
              <a:ext uri="{FF2B5EF4-FFF2-40B4-BE49-F238E27FC236}">
                <a16:creationId xmlns:a16="http://schemas.microsoft.com/office/drawing/2014/main" id="{4EF1590F-926A-8D99-9E39-559E007F7AAC}"/>
              </a:ext>
            </a:extLst>
          </p:cNvPr>
          <p:cNvSpPr/>
          <p:nvPr/>
        </p:nvSpPr>
        <p:spPr>
          <a:xfrm>
            <a:off x="548640" y="1051560"/>
            <a:ext cx="54864" cy="457200"/>
          </a:xfrm>
          <a:prstGeom prst="rect">
            <a:avLst/>
          </a:prstGeom>
          <a:solidFill>
            <a:srgbClr val="F59E0B"/>
          </a:solidFill>
          <a:ln/>
        </p:spPr>
        <p:txBody>
          <a:bodyPr/>
          <a:lstStyle/>
          <a:p>
            <a:endParaRPr lang="en-GB"/>
          </a:p>
        </p:txBody>
      </p:sp>
      <p:sp>
        <p:nvSpPr>
          <p:cNvPr id="5" name="Text 3">
            <a:extLst>
              <a:ext uri="{FF2B5EF4-FFF2-40B4-BE49-F238E27FC236}">
                <a16:creationId xmlns:a16="http://schemas.microsoft.com/office/drawing/2014/main" id="{9EDF8435-58F5-D6C1-B339-FA4BA14F79B3}"/>
              </a:ext>
            </a:extLst>
          </p:cNvPr>
          <p:cNvSpPr/>
          <p:nvPr/>
        </p:nvSpPr>
        <p:spPr>
          <a:xfrm>
            <a:off x="777240" y="1051560"/>
            <a:ext cx="2743200" cy="457200"/>
          </a:xfrm>
          <a:prstGeom prst="rect">
            <a:avLst/>
          </a:prstGeom>
          <a:noFill/>
          <a:ln/>
        </p:spPr>
        <p:txBody>
          <a:bodyPr wrap="square" lIns="0" tIns="0" rIns="0" bIns="0" rtlCol="0" anchor="ctr"/>
          <a:lstStyle/>
          <a:p>
            <a:pPr marL="0" indent="0">
              <a:buNone/>
            </a:pPr>
            <a:r>
              <a:rPr lang="en-US" sz="2600" b="1" dirty="0" err="1">
                <a:solidFill>
                  <a:srgbClr val="0F172A"/>
                </a:solidFill>
                <a:latin typeface="Consolas" panose="020B0609020204030204" pitchFamily="49" charset="0"/>
                <a:ea typeface="Georgia" pitchFamily="34" charset="-122"/>
                <a:cs typeface="Georgia" pitchFamily="34" charset="-120"/>
              </a:rPr>
              <a:t>k_to_l</a:t>
            </a:r>
            <a:r>
              <a:rPr lang="en-US" sz="2600" b="1" dirty="0">
                <a:solidFill>
                  <a:srgbClr val="0F172A"/>
                </a:solidFill>
                <a:latin typeface="Consolas" panose="020B0609020204030204" pitchFamily="49" charset="0"/>
                <a:ea typeface="Georgia" pitchFamily="34" charset="-122"/>
                <a:cs typeface="Georgia" pitchFamily="34" charset="-120"/>
              </a:rPr>
              <a:t>()</a:t>
            </a:r>
            <a:endParaRPr lang="en-US" sz="2600" b="1" dirty="0">
              <a:latin typeface="Consolas" panose="020B0609020204030204" pitchFamily="49" charset="0"/>
            </a:endParaRPr>
          </a:p>
        </p:txBody>
      </p:sp>
      <p:sp>
        <p:nvSpPr>
          <p:cNvPr id="6" name="Shape 4">
            <a:extLst>
              <a:ext uri="{FF2B5EF4-FFF2-40B4-BE49-F238E27FC236}">
                <a16:creationId xmlns:a16="http://schemas.microsoft.com/office/drawing/2014/main" id="{33F6689C-EB7A-3203-826C-E5B064133317}"/>
              </a:ext>
            </a:extLst>
          </p:cNvPr>
          <p:cNvSpPr/>
          <p:nvPr/>
        </p:nvSpPr>
        <p:spPr>
          <a:xfrm>
            <a:off x="548640" y="1737360"/>
            <a:ext cx="8125968" cy="2926080"/>
          </a:xfrm>
          <a:prstGeom prst="rect">
            <a:avLst/>
          </a:prstGeom>
          <a:solidFill>
            <a:srgbClr val="FFFFFF"/>
          </a:solidFill>
          <a:ln/>
          <a:effectLst>
            <a:outerShdw blurRad="76200" dist="25400" dir="8100000" algn="bl" rotWithShape="0">
              <a:srgbClr val="000000">
                <a:alpha val="12000"/>
              </a:srgbClr>
            </a:outerShdw>
          </a:effectLst>
        </p:spPr>
        <p:txBody>
          <a:bodyPr numCol="1"/>
          <a:lstStyle/>
          <a:p>
            <a:pPr marL="342900" indent="-342900">
              <a:buFont typeface="Arial" panose="020B0604020202020204" pitchFamily="34" charset="0"/>
              <a:buChar char="•"/>
            </a:pPr>
            <a:endParaRPr lang="en-GB" sz="2000" b="1" dirty="0"/>
          </a:p>
          <a:p>
            <a:pPr marL="342900" indent="-342900">
              <a:buFont typeface="Arial" panose="020B0604020202020204" pitchFamily="34" charset="0"/>
              <a:buChar char="•"/>
            </a:pPr>
            <a:r>
              <a:rPr lang="en-GB" sz="2000" b="1" dirty="0"/>
              <a:t>Takes </a:t>
            </a:r>
            <a:r>
              <a:rPr lang="en-GB" sz="2000" b="1" dirty="0" err="1"/>
              <a:t>bivariate_k</a:t>
            </a:r>
            <a:r>
              <a:rPr lang="en-GB" sz="2000" b="1" dirty="0"/>
              <a:t>() output and </a:t>
            </a:r>
            <a:r>
              <a:rPr lang="en-GB" sz="2000" b="1" dirty="0" err="1"/>
              <a:t>r_vals</a:t>
            </a:r>
            <a:r>
              <a:rPr lang="en-GB" sz="2000" b="1" dirty="0"/>
              <a:t> array</a:t>
            </a:r>
          </a:p>
          <a:p>
            <a:pPr marL="342900" indent="-342900">
              <a:buFont typeface="Arial" panose="020B0604020202020204" pitchFamily="34" charset="0"/>
              <a:buChar char="•"/>
            </a:pPr>
            <a:endParaRPr lang="en-GB" sz="2000" b="1" dirty="0"/>
          </a:p>
          <a:p>
            <a:pPr marL="342900" indent="-342900">
              <a:buFont typeface="Arial" panose="020B0604020202020204" pitchFamily="34" charset="0"/>
              <a:buChar char="•"/>
            </a:pPr>
            <a:r>
              <a:rPr lang="en-GB" sz="2000" b="1" dirty="0"/>
              <a:t>Returns the variance stabilised L-function: </a:t>
            </a:r>
            <a:endParaRPr lang="en-GB" sz="3200" b="1" dirty="0"/>
          </a:p>
          <a:p>
            <a:pPr algn="ctr">
              <a:lnSpc>
                <a:spcPct val="200000"/>
              </a:lnSpc>
            </a:pPr>
            <a:r>
              <a:rPr lang="en-GB" sz="3200" b="1" i="1" dirty="0"/>
              <a:t>(K(r) / </a:t>
            </a:r>
            <a:r>
              <a:rPr lang="el-GR" sz="3200" b="1" i="1" dirty="0"/>
              <a:t>π</a:t>
            </a:r>
            <a:r>
              <a:rPr lang="en-GB" sz="3200" b="1" i="1" dirty="0"/>
              <a:t>) - r</a:t>
            </a:r>
          </a:p>
        </p:txBody>
      </p:sp>
    </p:spTree>
    <p:extLst>
      <p:ext uri="{BB962C8B-B14F-4D97-AF65-F5344CB8AC3E}">
        <p14:creationId xmlns:p14="http://schemas.microsoft.com/office/powerpoint/2010/main" val="40355525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44CD84F8-56CD-BDDF-1257-6ECA9946887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17E143C-CEF5-41F6-85D7-A54615AEEEFC}"/>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0D359444-94A3-F8ED-325C-EFA74C223EAE}"/>
              </a:ext>
            </a:extLst>
          </p:cNvPr>
          <p:cNvSpPr/>
          <p:nvPr/>
        </p:nvSpPr>
        <p:spPr>
          <a:xfrm>
            <a:off x="548640" y="109728"/>
            <a:ext cx="6400800" cy="502920"/>
          </a:xfrm>
          <a:prstGeom prst="rect">
            <a:avLst/>
          </a:prstGeom>
          <a:noFill/>
          <a:ln/>
        </p:spPr>
        <p:txBody>
          <a:bodyPr wrap="square" lIns="0" tIns="0" rIns="0" bIns="0" rtlCol="0" anchor="ctr"/>
          <a:lstStyle/>
          <a:p>
            <a:r>
              <a:rPr lang="en-US" sz="1400" dirty="0">
                <a:solidFill>
                  <a:srgbClr val="94A3B8"/>
                </a:solidFill>
                <a:latin typeface="Calibri" pitchFamily="34" charset="0"/>
                <a:ea typeface="Calibri" pitchFamily="34" charset="-122"/>
                <a:cs typeface="Calibri" pitchFamily="34" charset="-120"/>
              </a:rPr>
              <a:t>03  —  Core stats functions</a:t>
            </a:r>
            <a:endParaRPr lang="en-US" sz="1400" dirty="0"/>
          </a:p>
        </p:txBody>
      </p:sp>
      <p:sp>
        <p:nvSpPr>
          <p:cNvPr id="4" name="Shape 2">
            <a:extLst>
              <a:ext uri="{FF2B5EF4-FFF2-40B4-BE49-F238E27FC236}">
                <a16:creationId xmlns:a16="http://schemas.microsoft.com/office/drawing/2014/main" id="{3A9BFB70-83E8-3810-CE5C-CDF178B0A431}"/>
              </a:ext>
            </a:extLst>
          </p:cNvPr>
          <p:cNvSpPr/>
          <p:nvPr/>
        </p:nvSpPr>
        <p:spPr>
          <a:xfrm>
            <a:off x="548640" y="1051560"/>
            <a:ext cx="54864" cy="457200"/>
          </a:xfrm>
          <a:prstGeom prst="rect">
            <a:avLst/>
          </a:prstGeom>
          <a:solidFill>
            <a:srgbClr val="F59E0B"/>
          </a:solidFill>
          <a:ln/>
        </p:spPr>
        <p:txBody>
          <a:bodyPr/>
          <a:lstStyle/>
          <a:p>
            <a:endParaRPr lang="en-GB"/>
          </a:p>
        </p:txBody>
      </p:sp>
      <p:sp>
        <p:nvSpPr>
          <p:cNvPr id="5" name="Text 3">
            <a:extLst>
              <a:ext uri="{FF2B5EF4-FFF2-40B4-BE49-F238E27FC236}">
                <a16:creationId xmlns:a16="http://schemas.microsoft.com/office/drawing/2014/main" id="{B8B089EB-F944-F3B3-EB16-3956DD0AE33E}"/>
              </a:ext>
            </a:extLst>
          </p:cNvPr>
          <p:cNvSpPr/>
          <p:nvPr/>
        </p:nvSpPr>
        <p:spPr>
          <a:xfrm>
            <a:off x="777240" y="1051560"/>
            <a:ext cx="3794760" cy="457200"/>
          </a:xfrm>
          <a:prstGeom prst="rect">
            <a:avLst/>
          </a:prstGeom>
          <a:noFill/>
          <a:ln/>
        </p:spPr>
        <p:txBody>
          <a:bodyPr wrap="square" lIns="0" tIns="0" rIns="0" bIns="0" rtlCol="0" anchor="ctr"/>
          <a:lstStyle/>
          <a:p>
            <a:pPr marL="0" indent="0">
              <a:buNone/>
            </a:pPr>
            <a:r>
              <a:rPr lang="en-US" sz="2600" b="1" dirty="0" err="1">
                <a:solidFill>
                  <a:srgbClr val="0F172A"/>
                </a:solidFill>
                <a:latin typeface="Consolas" panose="020B0609020204030204" pitchFamily="49" charset="0"/>
                <a:ea typeface="Georgia" pitchFamily="34" charset="-122"/>
                <a:cs typeface="Georgia" pitchFamily="34" charset="-120"/>
              </a:rPr>
              <a:t>compute_envelope</a:t>
            </a:r>
            <a:r>
              <a:rPr lang="en-US" sz="2600" b="1" dirty="0">
                <a:solidFill>
                  <a:srgbClr val="0F172A"/>
                </a:solidFill>
                <a:latin typeface="Consolas" panose="020B0609020204030204" pitchFamily="49" charset="0"/>
                <a:ea typeface="Georgia" pitchFamily="34" charset="-122"/>
                <a:cs typeface="Georgia" pitchFamily="34" charset="-120"/>
              </a:rPr>
              <a:t>()</a:t>
            </a:r>
            <a:endParaRPr lang="en-US" sz="2600" b="1" dirty="0">
              <a:latin typeface="Consolas" panose="020B0609020204030204" pitchFamily="49" charset="0"/>
            </a:endParaRPr>
          </a:p>
        </p:txBody>
      </p:sp>
      <p:sp>
        <p:nvSpPr>
          <p:cNvPr id="6" name="Shape 4">
            <a:extLst>
              <a:ext uri="{FF2B5EF4-FFF2-40B4-BE49-F238E27FC236}">
                <a16:creationId xmlns:a16="http://schemas.microsoft.com/office/drawing/2014/main" id="{AC2971FB-1520-E266-FABC-19F85073A97A}"/>
              </a:ext>
            </a:extLst>
          </p:cNvPr>
          <p:cNvSpPr/>
          <p:nvPr/>
        </p:nvSpPr>
        <p:spPr>
          <a:xfrm>
            <a:off x="548640" y="1737360"/>
            <a:ext cx="8125968" cy="2926080"/>
          </a:xfrm>
          <a:prstGeom prst="rect">
            <a:avLst/>
          </a:prstGeom>
          <a:solidFill>
            <a:srgbClr val="FFFFFF"/>
          </a:solidFill>
          <a:ln/>
          <a:effectLst>
            <a:outerShdw blurRad="76200" dist="25400" dir="8100000" algn="bl" rotWithShape="0">
              <a:srgbClr val="000000">
                <a:alpha val="12000"/>
              </a:srgbClr>
            </a:outerShdw>
          </a:effectLst>
        </p:spPr>
        <p:txBody>
          <a:bodyPr numCol="1"/>
          <a:lstStyle/>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Takes A and B coords, r values, window, number of simulations (defaults to 99) and a random seed</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Performs Monte Carlo permutation to produce an envelope for the bivariate L-function</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Result is similar to an L value for likelihood of random occurrence of the observed co-localisation</a:t>
            </a:r>
          </a:p>
          <a:p>
            <a:pPr marL="800100" lvl="1" indent="-342900">
              <a:buFont typeface="Arial" panose="020B0604020202020204" pitchFamily="34" charset="0"/>
              <a:buChar char="•"/>
            </a:pPr>
            <a:r>
              <a:rPr lang="en-GB" b="1" dirty="0">
                <a:solidFill>
                  <a:schemeClr val="accent3"/>
                </a:solidFill>
              </a:rPr>
              <a:t>Specifically tests whether gene label contributes to the co-localisation</a:t>
            </a:r>
          </a:p>
        </p:txBody>
      </p:sp>
    </p:spTree>
    <p:extLst>
      <p:ext uri="{BB962C8B-B14F-4D97-AF65-F5344CB8AC3E}">
        <p14:creationId xmlns:p14="http://schemas.microsoft.com/office/powerpoint/2010/main" val="2688210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3F167678-26C5-ACC2-1C59-AEA8244D282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1EF3B3C-9970-EB99-B3A6-86BE1AAB775E}"/>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6F02981D-F015-365D-DF7D-5816514ACBA9}"/>
              </a:ext>
            </a:extLst>
          </p:cNvPr>
          <p:cNvSpPr/>
          <p:nvPr/>
        </p:nvSpPr>
        <p:spPr>
          <a:xfrm>
            <a:off x="548640" y="109728"/>
            <a:ext cx="6400800" cy="502920"/>
          </a:xfrm>
          <a:prstGeom prst="rect">
            <a:avLst/>
          </a:prstGeom>
          <a:noFill/>
          <a:ln/>
        </p:spPr>
        <p:txBody>
          <a:bodyPr wrap="square" lIns="0" tIns="0" rIns="0" bIns="0" rtlCol="0" anchor="ctr"/>
          <a:lstStyle/>
          <a:p>
            <a:r>
              <a:rPr lang="en-US" sz="1400" dirty="0">
                <a:solidFill>
                  <a:srgbClr val="94A3B8"/>
                </a:solidFill>
                <a:latin typeface="Calibri" pitchFamily="34" charset="0"/>
                <a:ea typeface="Calibri" pitchFamily="34" charset="-122"/>
                <a:cs typeface="Calibri" pitchFamily="34" charset="-120"/>
              </a:rPr>
              <a:t>03  —  Core stats functions</a:t>
            </a:r>
            <a:endParaRPr lang="en-US" sz="1400" dirty="0"/>
          </a:p>
        </p:txBody>
      </p:sp>
      <p:sp>
        <p:nvSpPr>
          <p:cNvPr id="4" name="Shape 2">
            <a:extLst>
              <a:ext uri="{FF2B5EF4-FFF2-40B4-BE49-F238E27FC236}">
                <a16:creationId xmlns:a16="http://schemas.microsoft.com/office/drawing/2014/main" id="{76161A55-DB07-00D3-C107-8C2A0C23F45E}"/>
              </a:ext>
            </a:extLst>
          </p:cNvPr>
          <p:cNvSpPr/>
          <p:nvPr/>
        </p:nvSpPr>
        <p:spPr>
          <a:xfrm>
            <a:off x="548640" y="1051560"/>
            <a:ext cx="54864" cy="457200"/>
          </a:xfrm>
          <a:prstGeom prst="rect">
            <a:avLst/>
          </a:prstGeom>
          <a:solidFill>
            <a:srgbClr val="F59E0B"/>
          </a:solidFill>
          <a:ln/>
        </p:spPr>
        <p:txBody>
          <a:bodyPr/>
          <a:lstStyle/>
          <a:p>
            <a:endParaRPr lang="en-GB"/>
          </a:p>
        </p:txBody>
      </p:sp>
      <p:sp>
        <p:nvSpPr>
          <p:cNvPr id="5" name="Text 3">
            <a:extLst>
              <a:ext uri="{FF2B5EF4-FFF2-40B4-BE49-F238E27FC236}">
                <a16:creationId xmlns:a16="http://schemas.microsoft.com/office/drawing/2014/main" id="{EF289C36-C96F-D610-1194-6E3D3E742179}"/>
              </a:ext>
            </a:extLst>
          </p:cNvPr>
          <p:cNvSpPr/>
          <p:nvPr/>
        </p:nvSpPr>
        <p:spPr>
          <a:xfrm>
            <a:off x="777240" y="1051560"/>
            <a:ext cx="3794760" cy="457200"/>
          </a:xfrm>
          <a:prstGeom prst="rect">
            <a:avLst/>
          </a:prstGeom>
          <a:noFill/>
          <a:ln/>
        </p:spPr>
        <p:txBody>
          <a:bodyPr wrap="square" lIns="0" tIns="0" rIns="0" bIns="0" rtlCol="0" anchor="ctr"/>
          <a:lstStyle/>
          <a:p>
            <a:pPr marL="0" indent="0">
              <a:buNone/>
            </a:pPr>
            <a:r>
              <a:rPr lang="en-US" sz="2600" b="1" dirty="0" err="1">
                <a:solidFill>
                  <a:srgbClr val="0F172A"/>
                </a:solidFill>
                <a:latin typeface="Consolas" panose="020B0609020204030204" pitchFamily="49" charset="0"/>
              </a:rPr>
              <a:t>plot_diagnostics</a:t>
            </a:r>
            <a:r>
              <a:rPr lang="en-US" sz="2600" b="1" dirty="0">
                <a:solidFill>
                  <a:srgbClr val="0F172A"/>
                </a:solidFill>
                <a:latin typeface="Consolas" panose="020B0609020204030204" pitchFamily="49" charset="0"/>
              </a:rPr>
              <a:t>()</a:t>
            </a:r>
            <a:endParaRPr lang="en-US" sz="2600" b="1" dirty="0">
              <a:latin typeface="Consolas" panose="020B0609020204030204" pitchFamily="49" charset="0"/>
            </a:endParaRPr>
          </a:p>
        </p:txBody>
      </p:sp>
      <p:sp>
        <p:nvSpPr>
          <p:cNvPr id="6" name="Shape 4">
            <a:extLst>
              <a:ext uri="{FF2B5EF4-FFF2-40B4-BE49-F238E27FC236}">
                <a16:creationId xmlns:a16="http://schemas.microsoft.com/office/drawing/2014/main" id="{D5471450-7A34-5899-6060-D99E55356759}"/>
              </a:ext>
            </a:extLst>
          </p:cNvPr>
          <p:cNvSpPr/>
          <p:nvPr/>
        </p:nvSpPr>
        <p:spPr>
          <a:xfrm>
            <a:off x="548640" y="1737360"/>
            <a:ext cx="8125968" cy="2926080"/>
          </a:xfrm>
          <a:prstGeom prst="rect">
            <a:avLst/>
          </a:prstGeom>
          <a:solidFill>
            <a:srgbClr val="FFFFFF"/>
          </a:solidFill>
          <a:ln/>
          <a:effectLst>
            <a:outerShdw blurRad="76200" dist="25400" dir="8100000" algn="bl" rotWithShape="0">
              <a:srgbClr val="000000">
                <a:alpha val="12000"/>
              </a:srgbClr>
            </a:outerShdw>
          </a:effectLst>
        </p:spPr>
        <p:txBody>
          <a:bodyPr numCol="1"/>
          <a:lstStyle/>
          <a:p>
            <a:pPr marL="285750" indent="-285750">
              <a:buFont typeface="Arial" panose="020B0604020202020204" pitchFamily="34" charset="0"/>
              <a:buChar char="•"/>
            </a:pPr>
            <a:r>
              <a:rPr lang="en-GB" b="1" dirty="0"/>
              <a:t>Takes all of the previous inputs and plot the bounding box and gene transcripts</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Allows the user to visually check the window allocation</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Also shows the spread of gene transcripts for confirmation and hypothesis development	</a:t>
            </a:r>
          </a:p>
          <a:p>
            <a:pPr marL="800100" lvl="1" indent="-342900">
              <a:buFont typeface="Arial" panose="020B0604020202020204" pitchFamily="34" charset="0"/>
              <a:buChar char="•"/>
            </a:pPr>
            <a:r>
              <a:rPr lang="en-GB" b="1" dirty="0">
                <a:solidFill>
                  <a:schemeClr val="accent3"/>
                </a:solidFill>
              </a:rPr>
              <a:t>Will be more useful when the bounding window function is expanded</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Designed to be an optional call within the final function</a:t>
            </a:r>
          </a:p>
        </p:txBody>
      </p:sp>
    </p:spTree>
    <p:extLst>
      <p:ext uri="{BB962C8B-B14F-4D97-AF65-F5344CB8AC3E}">
        <p14:creationId xmlns:p14="http://schemas.microsoft.com/office/powerpoint/2010/main" val="3948733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1D457B03-BBFC-735B-EA3F-1D9E647E81A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E8AA91A-B7A0-ADDF-B27B-56CB3D7ED25D}"/>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7F63720F-B922-8FE7-DEB8-4BDB6517031C}"/>
              </a:ext>
            </a:extLst>
          </p:cNvPr>
          <p:cNvSpPr/>
          <p:nvPr/>
        </p:nvSpPr>
        <p:spPr>
          <a:xfrm>
            <a:off x="548640" y="109728"/>
            <a:ext cx="6400800" cy="502920"/>
          </a:xfrm>
          <a:prstGeom prst="rect">
            <a:avLst/>
          </a:prstGeom>
          <a:noFill/>
          <a:ln/>
        </p:spPr>
        <p:txBody>
          <a:bodyPr wrap="square" lIns="0" tIns="0" rIns="0" bIns="0" rtlCol="0" anchor="ctr"/>
          <a:lstStyle/>
          <a:p>
            <a:r>
              <a:rPr lang="en-US" sz="1400" dirty="0">
                <a:solidFill>
                  <a:srgbClr val="94A3B8"/>
                </a:solidFill>
                <a:latin typeface="Calibri" pitchFamily="34" charset="0"/>
                <a:ea typeface="Calibri" pitchFamily="34" charset="-122"/>
                <a:cs typeface="Calibri" pitchFamily="34" charset="-120"/>
              </a:rPr>
              <a:t>03  —  Core stats functions</a:t>
            </a:r>
            <a:endParaRPr lang="en-US" sz="1400" dirty="0"/>
          </a:p>
        </p:txBody>
      </p:sp>
      <p:sp>
        <p:nvSpPr>
          <p:cNvPr id="4" name="Shape 2">
            <a:extLst>
              <a:ext uri="{FF2B5EF4-FFF2-40B4-BE49-F238E27FC236}">
                <a16:creationId xmlns:a16="http://schemas.microsoft.com/office/drawing/2014/main" id="{851731F4-01DE-6498-1E6C-4511F025DC20}"/>
              </a:ext>
            </a:extLst>
          </p:cNvPr>
          <p:cNvSpPr/>
          <p:nvPr/>
        </p:nvSpPr>
        <p:spPr>
          <a:xfrm>
            <a:off x="548640" y="1051560"/>
            <a:ext cx="54864" cy="457200"/>
          </a:xfrm>
          <a:prstGeom prst="rect">
            <a:avLst/>
          </a:prstGeom>
          <a:solidFill>
            <a:srgbClr val="F59E0B"/>
          </a:solidFill>
          <a:ln/>
        </p:spPr>
        <p:txBody>
          <a:bodyPr/>
          <a:lstStyle/>
          <a:p>
            <a:endParaRPr lang="en-GB"/>
          </a:p>
        </p:txBody>
      </p:sp>
      <p:sp>
        <p:nvSpPr>
          <p:cNvPr id="5" name="Text 3">
            <a:extLst>
              <a:ext uri="{FF2B5EF4-FFF2-40B4-BE49-F238E27FC236}">
                <a16:creationId xmlns:a16="http://schemas.microsoft.com/office/drawing/2014/main" id="{7078FCF4-4CC1-0428-F6B9-602F7BF21373}"/>
              </a:ext>
            </a:extLst>
          </p:cNvPr>
          <p:cNvSpPr/>
          <p:nvPr/>
        </p:nvSpPr>
        <p:spPr>
          <a:xfrm>
            <a:off x="777240" y="1051560"/>
            <a:ext cx="5794248" cy="457200"/>
          </a:xfrm>
          <a:prstGeom prst="rect">
            <a:avLst/>
          </a:prstGeom>
          <a:noFill/>
          <a:ln/>
        </p:spPr>
        <p:txBody>
          <a:bodyPr wrap="square" lIns="0" tIns="0" rIns="0" bIns="0" rtlCol="0" anchor="ctr"/>
          <a:lstStyle/>
          <a:p>
            <a:pPr marL="0" indent="0">
              <a:buNone/>
            </a:pPr>
            <a:r>
              <a:rPr lang="en-US" sz="2600" b="1" dirty="0">
                <a:solidFill>
                  <a:srgbClr val="FF0000"/>
                </a:solidFill>
                <a:latin typeface="Consolas" panose="020B0609020204030204" pitchFamily="49" charset="0"/>
              </a:rPr>
              <a:t>Bonus: </a:t>
            </a:r>
            <a:r>
              <a:rPr lang="en-US" sz="2600" b="1" dirty="0" err="1">
                <a:solidFill>
                  <a:srgbClr val="FF0000"/>
                </a:solidFill>
                <a:latin typeface="Consolas" panose="020B0609020204030204" pitchFamily="49" charset="0"/>
              </a:rPr>
              <a:t>synthetic_csr_test</a:t>
            </a:r>
            <a:r>
              <a:rPr lang="en-US" sz="2600" b="1" dirty="0">
                <a:solidFill>
                  <a:srgbClr val="FF0000"/>
                </a:solidFill>
                <a:latin typeface="Consolas" panose="020B0609020204030204" pitchFamily="49" charset="0"/>
              </a:rPr>
              <a:t>()</a:t>
            </a:r>
          </a:p>
        </p:txBody>
      </p:sp>
      <p:sp>
        <p:nvSpPr>
          <p:cNvPr id="6" name="Shape 4">
            <a:extLst>
              <a:ext uri="{FF2B5EF4-FFF2-40B4-BE49-F238E27FC236}">
                <a16:creationId xmlns:a16="http://schemas.microsoft.com/office/drawing/2014/main" id="{FBDCB079-48BD-8CBD-3E64-9CB62749EA3C}"/>
              </a:ext>
            </a:extLst>
          </p:cNvPr>
          <p:cNvSpPr/>
          <p:nvPr/>
        </p:nvSpPr>
        <p:spPr>
          <a:xfrm>
            <a:off x="548640" y="1737360"/>
            <a:ext cx="8125968" cy="2926080"/>
          </a:xfrm>
          <a:prstGeom prst="rect">
            <a:avLst/>
          </a:prstGeom>
          <a:solidFill>
            <a:srgbClr val="FFFFFF"/>
          </a:solidFill>
          <a:ln/>
          <a:effectLst>
            <a:outerShdw blurRad="76200" dist="25400" dir="8100000" algn="bl" rotWithShape="0">
              <a:srgbClr val="000000">
                <a:alpha val="12000"/>
              </a:srgbClr>
            </a:outerShdw>
          </a:effectLst>
        </p:spPr>
        <p:txBody>
          <a:bodyPr numCol="1"/>
          <a:lstStyle/>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Generates two independent, random, uniform patterns and runs my functions on them</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L(r) values should be ~0 if these are working correctly</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It runs on both a square and rectangular bounding window</a:t>
            </a:r>
          </a:p>
          <a:p>
            <a:pPr marL="742950" lvl="1" indent="-285750">
              <a:buFont typeface="Arial" panose="020B0604020202020204" pitchFamily="34" charset="0"/>
              <a:buChar char="•"/>
            </a:pPr>
            <a:r>
              <a:rPr lang="en-GB" b="1" dirty="0">
                <a:solidFill>
                  <a:schemeClr val="accent3"/>
                </a:solidFill>
              </a:rPr>
              <a:t>Will need more testing when </a:t>
            </a:r>
            <a:r>
              <a:rPr lang="en-GB" b="1" dirty="0" err="1">
                <a:solidFill>
                  <a:schemeClr val="accent3"/>
                </a:solidFill>
              </a:rPr>
              <a:t>get_window</a:t>
            </a:r>
            <a:r>
              <a:rPr lang="en-GB" b="1" dirty="0">
                <a:solidFill>
                  <a:schemeClr val="accent3"/>
                </a:solidFill>
              </a:rPr>
              <a:t>() is expanded</a:t>
            </a:r>
          </a:p>
        </p:txBody>
      </p:sp>
    </p:spTree>
    <p:extLst>
      <p:ext uri="{BB962C8B-B14F-4D97-AF65-F5344CB8AC3E}">
        <p14:creationId xmlns:p14="http://schemas.microsoft.com/office/powerpoint/2010/main" val="3058098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4B891C99-B163-BEF5-541B-ACE282183BB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256AF03-1BB0-D0AE-60DA-A2EB3D612089}"/>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5F24EF97-02A4-F4AA-D841-72BA7E646D7E}"/>
              </a:ext>
            </a:extLst>
          </p:cNvPr>
          <p:cNvSpPr/>
          <p:nvPr/>
        </p:nvSpPr>
        <p:spPr>
          <a:xfrm>
            <a:off x="548640" y="109728"/>
            <a:ext cx="6400800" cy="502920"/>
          </a:xfrm>
          <a:prstGeom prst="rect">
            <a:avLst/>
          </a:prstGeom>
          <a:noFill/>
          <a:ln/>
        </p:spPr>
        <p:txBody>
          <a:bodyPr wrap="square" lIns="0" tIns="0" rIns="0" bIns="0" rtlCol="0" anchor="ctr"/>
          <a:lstStyle/>
          <a:p>
            <a:r>
              <a:rPr lang="en-US" sz="1400" dirty="0">
                <a:solidFill>
                  <a:srgbClr val="94A3B8"/>
                </a:solidFill>
                <a:latin typeface="Calibri" pitchFamily="34" charset="0"/>
                <a:ea typeface="Calibri" pitchFamily="34" charset="-122"/>
                <a:cs typeface="Calibri" pitchFamily="34" charset="-120"/>
              </a:rPr>
              <a:t>03  —  Core stats functions</a:t>
            </a:r>
            <a:endParaRPr lang="en-US" sz="1400" dirty="0"/>
          </a:p>
        </p:txBody>
      </p:sp>
      <p:sp>
        <p:nvSpPr>
          <p:cNvPr id="4" name="Shape 2">
            <a:extLst>
              <a:ext uri="{FF2B5EF4-FFF2-40B4-BE49-F238E27FC236}">
                <a16:creationId xmlns:a16="http://schemas.microsoft.com/office/drawing/2014/main" id="{7299BFCE-C6EF-0A8F-B3B0-AE006D4B7BCF}"/>
              </a:ext>
            </a:extLst>
          </p:cNvPr>
          <p:cNvSpPr/>
          <p:nvPr/>
        </p:nvSpPr>
        <p:spPr>
          <a:xfrm>
            <a:off x="548640" y="1051560"/>
            <a:ext cx="54864" cy="457200"/>
          </a:xfrm>
          <a:prstGeom prst="rect">
            <a:avLst/>
          </a:prstGeom>
          <a:solidFill>
            <a:srgbClr val="F59E0B"/>
          </a:solidFill>
          <a:ln/>
        </p:spPr>
        <p:txBody>
          <a:bodyPr/>
          <a:lstStyle/>
          <a:p>
            <a:endParaRPr lang="en-GB"/>
          </a:p>
        </p:txBody>
      </p:sp>
      <p:sp>
        <p:nvSpPr>
          <p:cNvPr id="5" name="Text 3">
            <a:extLst>
              <a:ext uri="{FF2B5EF4-FFF2-40B4-BE49-F238E27FC236}">
                <a16:creationId xmlns:a16="http://schemas.microsoft.com/office/drawing/2014/main" id="{4402F78C-6075-F4E0-AD97-C08F13A0EC27}"/>
              </a:ext>
            </a:extLst>
          </p:cNvPr>
          <p:cNvSpPr/>
          <p:nvPr/>
        </p:nvSpPr>
        <p:spPr>
          <a:xfrm>
            <a:off x="777240" y="1051560"/>
            <a:ext cx="7549896" cy="457200"/>
          </a:xfrm>
          <a:prstGeom prst="rect">
            <a:avLst/>
          </a:prstGeom>
          <a:noFill/>
          <a:ln/>
        </p:spPr>
        <p:txBody>
          <a:bodyPr wrap="square" lIns="0" tIns="0" rIns="0" bIns="0" rtlCol="0" anchor="ctr"/>
          <a:lstStyle/>
          <a:p>
            <a:pPr marL="0" indent="0">
              <a:buNone/>
            </a:pPr>
            <a:r>
              <a:rPr lang="en-US" sz="2600" b="1" dirty="0">
                <a:solidFill>
                  <a:srgbClr val="FF0000"/>
                </a:solidFill>
                <a:latin typeface="Consolas" panose="020B0609020204030204" pitchFamily="49" charset="0"/>
              </a:rPr>
              <a:t>Double bonus: </a:t>
            </a:r>
            <a:r>
              <a:rPr lang="en-US" sz="2600" b="1" dirty="0" err="1">
                <a:solidFill>
                  <a:srgbClr val="FF0000"/>
                </a:solidFill>
                <a:latin typeface="Consolas" panose="020B0609020204030204" pitchFamily="49" charset="0"/>
              </a:rPr>
              <a:t>run_pair_analysis</a:t>
            </a:r>
            <a:r>
              <a:rPr lang="en-US" sz="2600" b="1" dirty="0">
                <a:solidFill>
                  <a:srgbClr val="FF0000"/>
                </a:solidFill>
                <a:latin typeface="Consolas" panose="020B0609020204030204" pitchFamily="49" charset="0"/>
              </a:rPr>
              <a:t>()</a:t>
            </a:r>
          </a:p>
        </p:txBody>
      </p:sp>
      <p:sp>
        <p:nvSpPr>
          <p:cNvPr id="6" name="Shape 4">
            <a:extLst>
              <a:ext uri="{FF2B5EF4-FFF2-40B4-BE49-F238E27FC236}">
                <a16:creationId xmlns:a16="http://schemas.microsoft.com/office/drawing/2014/main" id="{2AF4E701-411A-202B-50CC-3C259FBD2AA6}"/>
              </a:ext>
            </a:extLst>
          </p:cNvPr>
          <p:cNvSpPr/>
          <p:nvPr/>
        </p:nvSpPr>
        <p:spPr>
          <a:xfrm>
            <a:off x="548640" y="1737360"/>
            <a:ext cx="8125968" cy="2926080"/>
          </a:xfrm>
          <a:prstGeom prst="rect">
            <a:avLst/>
          </a:prstGeom>
          <a:solidFill>
            <a:srgbClr val="FFFFFF"/>
          </a:solidFill>
          <a:ln/>
          <a:effectLst>
            <a:outerShdw blurRad="76200" dist="25400" dir="8100000" algn="bl" rotWithShape="0">
              <a:srgbClr val="000000">
                <a:alpha val="12000"/>
              </a:srgbClr>
            </a:outerShdw>
          </a:effectLst>
        </p:spPr>
        <p:txBody>
          <a:bodyPr numCol="1"/>
          <a:lstStyle/>
          <a:p>
            <a:pPr marL="285750" indent="-285750">
              <a:buFont typeface="Arial" panose="020B0604020202020204" pitchFamily="34" charset="0"/>
              <a:buChar char="•"/>
            </a:pPr>
            <a:endParaRPr lang="en-GB" sz="2000" b="1" dirty="0"/>
          </a:p>
          <a:p>
            <a:pPr marL="285750" indent="-285750">
              <a:buFont typeface="Arial" panose="020B0604020202020204" pitchFamily="34" charset="0"/>
              <a:buChar char="•"/>
            </a:pPr>
            <a:r>
              <a:rPr lang="en-GB" sz="2000" b="1" dirty="0"/>
              <a:t>Just a function that allows me to call all the stats functions in sequence, providing just the </a:t>
            </a:r>
            <a:r>
              <a:rPr lang="en-GB" sz="2000" b="1" dirty="0" err="1"/>
              <a:t>dataframe</a:t>
            </a:r>
            <a:r>
              <a:rPr lang="en-GB" sz="2000" b="1" dirty="0"/>
              <a:t>, genes A and B, and r values</a:t>
            </a:r>
          </a:p>
          <a:p>
            <a:pPr marL="285750" indent="-285750">
              <a:buFont typeface="Arial" panose="020B0604020202020204" pitchFamily="34" charset="0"/>
              <a:buChar char="•"/>
            </a:pPr>
            <a:endParaRPr lang="en-GB" sz="2000" b="1" dirty="0"/>
          </a:p>
          <a:p>
            <a:pPr marL="285750" indent="-285750">
              <a:buFont typeface="Arial" panose="020B0604020202020204" pitchFamily="34" charset="0"/>
              <a:buChar char="•"/>
            </a:pPr>
            <a:r>
              <a:rPr lang="en-GB" sz="2000" b="1" dirty="0"/>
              <a:t>This is the function that also allows me to call the diagnostics plots if they are needed</a:t>
            </a:r>
          </a:p>
          <a:p>
            <a:pPr marL="285750" indent="-285750">
              <a:buFont typeface="Arial" panose="020B0604020202020204" pitchFamily="34" charset="0"/>
              <a:buChar char="•"/>
            </a:pPr>
            <a:endParaRPr lang="en-GB" b="1" dirty="0">
              <a:solidFill>
                <a:schemeClr val="accent3"/>
              </a:solidFill>
            </a:endParaRPr>
          </a:p>
        </p:txBody>
      </p:sp>
    </p:spTree>
    <p:extLst>
      <p:ext uri="{BB962C8B-B14F-4D97-AF65-F5344CB8AC3E}">
        <p14:creationId xmlns:p14="http://schemas.microsoft.com/office/powerpoint/2010/main" val="3214848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1371600" y="2743200"/>
            <a:ext cx="3657600" cy="3657600"/>
          </a:xfrm>
          <a:prstGeom prst="ellipse">
            <a:avLst/>
          </a:prstGeom>
          <a:solidFill>
            <a:srgbClr val="1E3A5F">
              <a:alpha val="45000"/>
            </a:srgbClr>
          </a:solidFill>
          <a:ln/>
        </p:spPr>
        <p:txBody>
          <a:bodyPr/>
          <a:lstStyle/>
          <a:p>
            <a:endParaRPr lang="en-GB"/>
          </a:p>
        </p:txBody>
      </p:sp>
      <p:sp>
        <p:nvSpPr>
          <p:cNvPr id="3" name="Shape 1"/>
          <p:cNvSpPr/>
          <p:nvPr/>
        </p:nvSpPr>
        <p:spPr>
          <a:xfrm>
            <a:off x="7315200" y="-914400"/>
            <a:ext cx="3200400" cy="3200400"/>
          </a:xfrm>
          <a:prstGeom prst="ellipse">
            <a:avLst/>
          </a:prstGeom>
          <a:solidFill>
            <a:srgbClr val="0D9488">
              <a:alpha val="25000"/>
            </a:srgbClr>
          </a:solidFill>
          <a:ln/>
        </p:spPr>
        <p:txBody>
          <a:bodyPr/>
          <a:lstStyle/>
          <a:p>
            <a:endParaRPr lang="en-GB"/>
          </a:p>
        </p:txBody>
      </p:sp>
      <p:sp>
        <p:nvSpPr>
          <p:cNvPr id="4" name="Text 2"/>
          <p:cNvSpPr/>
          <p:nvPr/>
        </p:nvSpPr>
        <p:spPr>
          <a:xfrm>
            <a:off x="548640" y="457200"/>
            <a:ext cx="1828800" cy="1645920"/>
          </a:xfrm>
          <a:prstGeom prst="rect">
            <a:avLst/>
          </a:prstGeom>
          <a:noFill/>
          <a:ln/>
        </p:spPr>
        <p:txBody>
          <a:bodyPr wrap="square" lIns="0" tIns="0" rIns="0" bIns="0" rtlCol="0" anchor="ctr"/>
          <a:lstStyle/>
          <a:p>
            <a:pPr marL="0" indent="0">
              <a:buNone/>
            </a:pPr>
            <a:r>
              <a:rPr lang="en-US" sz="7200" b="1" dirty="0">
                <a:solidFill>
                  <a:srgbClr val="0D9488"/>
                </a:solidFill>
                <a:latin typeface="Georgia" pitchFamily="34" charset="0"/>
                <a:ea typeface="Georgia" pitchFamily="34" charset="-122"/>
                <a:cs typeface="Georgia" pitchFamily="34" charset="-120"/>
              </a:rPr>
              <a:t>04</a:t>
            </a:r>
            <a:endParaRPr lang="en-US" sz="7200" dirty="0"/>
          </a:p>
        </p:txBody>
      </p:sp>
      <p:sp>
        <p:nvSpPr>
          <p:cNvPr id="5" name="Shape 3"/>
          <p:cNvSpPr/>
          <p:nvPr/>
        </p:nvSpPr>
        <p:spPr>
          <a:xfrm>
            <a:off x="548640" y="2194560"/>
            <a:ext cx="3200400" cy="36576"/>
          </a:xfrm>
          <a:prstGeom prst="rect">
            <a:avLst/>
          </a:prstGeom>
          <a:solidFill>
            <a:srgbClr val="0D9488"/>
          </a:solidFill>
          <a:ln/>
        </p:spPr>
        <p:txBody>
          <a:bodyPr/>
          <a:lstStyle/>
          <a:p>
            <a:endParaRPr lang="en-GB"/>
          </a:p>
        </p:txBody>
      </p:sp>
      <p:sp>
        <p:nvSpPr>
          <p:cNvPr id="6" name="Text 4"/>
          <p:cNvSpPr/>
          <p:nvPr/>
        </p:nvSpPr>
        <p:spPr>
          <a:xfrm>
            <a:off x="548640" y="2468880"/>
            <a:ext cx="6400800" cy="91440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First positive control </a:t>
            </a:r>
          </a:p>
          <a:p>
            <a:pPr marL="0" indent="0">
              <a:buNone/>
            </a:pPr>
            <a:r>
              <a:rPr lang="en-US" sz="3200" b="1" dirty="0">
                <a:solidFill>
                  <a:srgbClr val="FFFFFF"/>
                </a:solidFill>
                <a:latin typeface="Georgia" pitchFamily="34" charset="0"/>
                <a:ea typeface="Georgia" pitchFamily="34" charset="-122"/>
                <a:cs typeface="Georgia" pitchFamily="34" charset="-120"/>
              </a:rPr>
              <a:t>(KRT8 x KRT18)</a:t>
            </a:r>
            <a:endParaRPr lang="en-US" sz="3200" dirty="0"/>
          </a:p>
        </p:txBody>
      </p:sp>
      <p:pic>
        <p:nvPicPr>
          <p:cNvPr id="8" name="Image 0" descr="preencoded.png"/>
          <p:cNvPicPr>
            <a:picLocks noChangeAspect="1"/>
          </p:cNvPicPr>
          <p:nvPr/>
        </p:nvPicPr>
        <p:blipFill>
          <a:blip r:embed="rId3"/>
          <a:stretch>
            <a:fillRect/>
          </a:stretch>
        </p:blipFill>
        <p:spPr>
          <a:xfrm>
            <a:off x="8046720" y="4114800"/>
            <a:ext cx="640080" cy="6400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D3A"/>
          </a:solidFill>
          <a:ln/>
        </p:spPr>
        <p:txBody>
          <a:bodyPr/>
          <a:lstStyle/>
          <a:p>
            <a:endParaRPr lang="en-GB"/>
          </a:p>
        </p:txBody>
      </p:sp>
      <p:sp>
        <p:nvSpPr>
          <p:cNvPr id="3" name="Text 1"/>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04  —  First Positive Control</a:t>
            </a:r>
            <a:endParaRPr lang="en-US" sz="1400" dirty="0"/>
          </a:p>
        </p:txBody>
      </p:sp>
      <p:sp>
        <p:nvSpPr>
          <p:cNvPr id="4" name="Shape 2"/>
          <p:cNvSpPr/>
          <p:nvPr/>
        </p:nvSpPr>
        <p:spPr>
          <a:xfrm>
            <a:off x="548640" y="1051560"/>
            <a:ext cx="54864" cy="457200"/>
          </a:xfrm>
          <a:prstGeom prst="rect">
            <a:avLst/>
          </a:prstGeom>
          <a:solidFill>
            <a:srgbClr val="0D9488"/>
          </a:solidFill>
          <a:ln/>
        </p:spPr>
        <p:txBody>
          <a:bodyPr/>
          <a:lstStyle/>
          <a:p>
            <a:endParaRPr lang="en-GB"/>
          </a:p>
        </p:txBody>
      </p:sp>
      <p:sp>
        <p:nvSpPr>
          <p:cNvPr id="5" name="Text 3"/>
          <p:cNvSpPr/>
          <p:nvPr/>
        </p:nvSpPr>
        <p:spPr>
          <a:xfrm>
            <a:off x="777240" y="1051560"/>
            <a:ext cx="2743200" cy="45720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Method</a:t>
            </a:r>
            <a:endParaRPr lang="en-US" sz="2600" dirty="0"/>
          </a:p>
        </p:txBody>
      </p:sp>
      <p:sp>
        <p:nvSpPr>
          <p:cNvPr id="6" name="Shape 4"/>
          <p:cNvSpPr/>
          <p:nvPr/>
        </p:nvSpPr>
        <p:spPr>
          <a:xfrm>
            <a:off x="548640" y="1737360"/>
            <a:ext cx="804672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a:p>
        </p:txBody>
      </p:sp>
      <p:sp>
        <p:nvSpPr>
          <p:cNvPr id="7" name="Text 5"/>
          <p:cNvSpPr/>
          <p:nvPr/>
        </p:nvSpPr>
        <p:spPr>
          <a:xfrm>
            <a:off x="914400" y="2011680"/>
            <a:ext cx="7315200" cy="2450592"/>
          </a:xfrm>
          <a:prstGeom prst="rect">
            <a:avLst/>
          </a:prstGeom>
          <a:noFill/>
          <a:ln/>
        </p:spPr>
        <p:txBody>
          <a:bodyPr wrap="square" lIns="0" tIns="0" rIns="0" bIns="0" rtlCol="0" anchor="ctr"/>
          <a:lstStyle/>
          <a:p>
            <a:r>
              <a:rPr lang="en-US" sz="2000" b="1" dirty="0"/>
              <a:t>1. </a:t>
            </a:r>
            <a:r>
              <a:rPr lang="en-US" sz="2000" dirty="0"/>
              <a:t>The key point here is that KRT8 and KRT18 are both epithelial keratins that are obligate heterodimers, and so should strongly co-express and interact </a:t>
            </a:r>
          </a:p>
          <a:p>
            <a:endParaRPr lang="en-US" sz="2000" dirty="0"/>
          </a:p>
          <a:p>
            <a:r>
              <a:rPr lang="en-US" sz="2000" b="1" dirty="0"/>
              <a:t>2. </a:t>
            </a:r>
            <a:r>
              <a:rPr lang="en-US" sz="2000" dirty="0"/>
              <a:t>Also proof of concept for all of my functions, diagnostics, and data</a:t>
            </a:r>
            <a:endParaRPr lang="en-US" sz="2000" b="1" dirty="0"/>
          </a:p>
          <a:p>
            <a:endParaRPr lang="en-US" sz="2000" dirty="0"/>
          </a:p>
        </p:txBody>
      </p:sp>
      <p:pic>
        <p:nvPicPr>
          <p:cNvPr id="8" name="Image 0" descr="preencoded.png"/>
          <p:cNvPicPr>
            <a:picLocks noChangeAspect="1"/>
          </p:cNvPicPr>
          <p:nvPr/>
        </p:nvPicPr>
        <p:blipFill>
          <a:blip r:embed="rId3"/>
          <a:stretch>
            <a:fillRect/>
          </a:stretch>
        </p:blipFill>
        <p:spPr>
          <a:xfrm>
            <a:off x="8046720" y="4206240"/>
            <a:ext cx="411480" cy="4114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D3A"/>
          </a:solidFill>
          <a:ln/>
        </p:spPr>
        <p:txBody>
          <a:bodyPr/>
          <a:lstStyle/>
          <a:p>
            <a:endParaRPr lang="en-GB"/>
          </a:p>
        </p:txBody>
      </p:sp>
      <p:sp>
        <p:nvSpPr>
          <p:cNvPr id="3" name="Text 1"/>
          <p:cNvSpPr/>
          <p:nvPr/>
        </p:nvSpPr>
        <p:spPr>
          <a:xfrm>
            <a:off x="548640" y="109728"/>
            <a:ext cx="6400800" cy="502920"/>
          </a:xfrm>
          <a:prstGeom prst="rect">
            <a:avLst/>
          </a:prstGeom>
          <a:noFill/>
          <a:ln/>
        </p:spPr>
        <p:txBody>
          <a:bodyPr wrap="square" lIns="0" tIns="0" rIns="0" bIns="0" rtlCol="0" anchor="ctr"/>
          <a:lstStyle/>
          <a:p>
            <a:r>
              <a:rPr lang="en-US" sz="1400" dirty="0">
                <a:solidFill>
                  <a:srgbClr val="94A3B8"/>
                </a:solidFill>
                <a:latin typeface="Calibri" pitchFamily="34" charset="0"/>
                <a:ea typeface="Calibri" pitchFamily="34" charset="-122"/>
                <a:cs typeface="Calibri" pitchFamily="34" charset="-120"/>
              </a:rPr>
              <a:t>04  —  First Positive Control</a:t>
            </a:r>
            <a:endParaRPr lang="en-US" sz="1400" dirty="0"/>
          </a:p>
        </p:txBody>
      </p:sp>
      <p:pic>
        <p:nvPicPr>
          <p:cNvPr id="16" name="Picture 15">
            <a:extLst>
              <a:ext uri="{FF2B5EF4-FFF2-40B4-BE49-F238E27FC236}">
                <a16:creationId xmlns:a16="http://schemas.microsoft.com/office/drawing/2014/main" id="{114583DF-1130-5255-7867-5D5CA6CF3406}"/>
              </a:ext>
            </a:extLst>
          </p:cNvPr>
          <p:cNvPicPr>
            <a:picLocks noChangeAspect="1"/>
          </p:cNvPicPr>
          <p:nvPr/>
        </p:nvPicPr>
        <p:blipFill>
          <a:blip r:embed="rId3"/>
          <a:stretch>
            <a:fillRect/>
          </a:stretch>
        </p:blipFill>
        <p:spPr>
          <a:xfrm>
            <a:off x="988174" y="841247"/>
            <a:ext cx="1930526" cy="4157472"/>
          </a:xfrm>
          <a:prstGeom prst="rect">
            <a:avLst/>
          </a:prstGeom>
        </p:spPr>
      </p:pic>
      <p:pic>
        <p:nvPicPr>
          <p:cNvPr id="18" name="Picture 17">
            <a:extLst>
              <a:ext uri="{FF2B5EF4-FFF2-40B4-BE49-F238E27FC236}">
                <a16:creationId xmlns:a16="http://schemas.microsoft.com/office/drawing/2014/main" id="{0CC613EB-324C-0072-3F7C-F3BAA3640081}"/>
              </a:ext>
            </a:extLst>
          </p:cNvPr>
          <p:cNvPicPr>
            <a:picLocks noChangeAspect="1"/>
          </p:cNvPicPr>
          <p:nvPr/>
        </p:nvPicPr>
        <p:blipFill>
          <a:blip r:embed="rId4"/>
          <a:stretch>
            <a:fillRect/>
          </a:stretch>
        </p:blipFill>
        <p:spPr>
          <a:xfrm>
            <a:off x="3208556" y="1686324"/>
            <a:ext cx="5277587" cy="246731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CCA5484D-FFFC-549F-1D70-35EA3EC24D0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E677616-97F9-0500-A528-95C451DEAF03}"/>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A27B738F-063B-4058-6AE9-50D363068FEF}"/>
              </a:ext>
            </a:extLst>
          </p:cNvPr>
          <p:cNvSpPr/>
          <p:nvPr/>
        </p:nvSpPr>
        <p:spPr>
          <a:xfrm>
            <a:off x="548640" y="109728"/>
            <a:ext cx="6400800" cy="502920"/>
          </a:xfrm>
          <a:prstGeom prst="rect">
            <a:avLst/>
          </a:prstGeom>
          <a:noFill/>
          <a:ln/>
        </p:spPr>
        <p:txBody>
          <a:bodyPr wrap="square" lIns="0" tIns="0" rIns="0" bIns="0" rtlCol="0" anchor="ctr"/>
          <a:lstStyle/>
          <a:p>
            <a:r>
              <a:rPr lang="en-US" sz="1400" dirty="0">
                <a:solidFill>
                  <a:srgbClr val="94A3B8"/>
                </a:solidFill>
                <a:latin typeface="Calibri" pitchFamily="34" charset="0"/>
                <a:ea typeface="Calibri" pitchFamily="34" charset="-122"/>
                <a:cs typeface="Calibri" pitchFamily="34" charset="-120"/>
              </a:rPr>
              <a:t>04  —  First Positive Control</a:t>
            </a:r>
            <a:endParaRPr lang="en-US" sz="1400" dirty="0"/>
          </a:p>
        </p:txBody>
      </p:sp>
      <p:pic>
        <p:nvPicPr>
          <p:cNvPr id="5" name="Picture 4">
            <a:extLst>
              <a:ext uri="{FF2B5EF4-FFF2-40B4-BE49-F238E27FC236}">
                <a16:creationId xmlns:a16="http://schemas.microsoft.com/office/drawing/2014/main" id="{8E166BED-9AAD-4852-816B-8D3130B1603F}"/>
              </a:ext>
            </a:extLst>
          </p:cNvPr>
          <p:cNvPicPr>
            <a:picLocks noChangeAspect="1"/>
          </p:cNvPicPr>
          <p:nvPr/>
        </p:nvPicPr>
        <p:blipFill>
          <a:blip r:embed="rId3"/>
          <a:stretch>
            <a:fillRect/>
          </a:stretch>
        </p:blipFill>
        <p:spPr>
          <a:xfrm>
            <a:off x="463296" y="1060704"/>
            <a:ext cx="8217408" cy="3490475"/>
          </a:xfrm>
          <a:prstGeom prst="rect">
            <a:avLst/>
          </a:prstGeom>
        </p:spPr>
      </p:pic>
    </p:spTree>
    <p:extLst>
      <p:ext uri="{BB962C8B-B14F-4D97-AF65-F5344CB8AC3E}">
        <p14:creationId xmlns:p14="http://schemas.microsoft.com/office/powerpoint/2010/main" val="1874879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B185BE34-E1B7-7BD1-7EC1-A60A1CC449E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A0B71D2-91F9-F4ED-BD0A-D3C959DB8391}"/>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76DDD9F4-015E-D629-C5F0-333F46F26211}"/>
              </a:ext>
            </a:extLst>
          </p:cNvPr>
          <p:cNvSpPr/>
          <p:nvPr/>
        </p:nvSpPr>
        <p:spPr>
          <a:xfrm>
            <a:off x="548640" y="109728"/>
            <a:ext cx="6400800" cy="502920"/>
          </a:xfrm>
          <a:prstGeom prst="rect">
            <a:avLst/>
          </a:prstGeom>
          <a:noFill/>
          <a:ln/>
        </p:spPr>
        <p:txBody>
          <a:bodyPr wrap="square" lIns="0" tIns="0" rIns="0" bIns="0" rtlCol="0" anchor="ctr"/>
          <a:lstStyle/>
          <a:p>
            <a:r>
              <a:rPr lang="en-US" sz="1400" dirty="0">
                <a:solidFill>
                  <a:srgbClr val="94A3B8"/>
                </a:solidFill>
                <a:latin typeface="Calibri" pitchFamily="34" charset="0"/>
                <a:ea typeface="Calibri" pitchFamily="34" charset="-122"/>
                <a:cs typeface="Calibri" pitchFamily="34" charset="-120"/>
              </a:rPr>
              <a:t>04  —  First Positive Control</a:t>
            </a:r>
            <a:endParaRPr lang="en-US" sz="1400" dirty="0"/>
          </a:p>
        </p:txBody>
      </p:sp>
      <p:pic>
        <p:nvPicPr>
          <p:cNvPr id="6" name="Picture 5">
            <a:extLst>
              <a:ext uri="{FF2B5EF4-FFF2-40B4-BE49-F238E27FC236}">
                <a16:creationId xmlns:a16="http://schemas.microsoft.com/office/drawing/2014/main" id="{26259941-E5FC-9F2B-41A8-FF1750F35A88}"/>
              </a:ext>
            </a:extLst>
          </p:cNvPr>
          <p:cNvPicPr>
            <a:picLocks noChangeAspect="1"/>
          </p:cNvPicPr>
          <p:nvPr/>
        </p:nvPicPr>
        <p:blipFill>
          <a:blip r:embed="rId3"/>
          <a:stretch>
            <a:fillRect/>
          </a:stretch>
        </p:blipFill>
        <p:spPr>
          <a:xfrm>
            <a:off x="1264380" y="841248"/>
            <a:ext cx="6615239" cy="3946401"/>
          </a:xfrm>
          <a:prstGeom prst="rect">
            <a:avLst/>
          </a:prstGeom>
        </p:spPr>
      </p:pic>
    </p:spTree>
    <p:extLst>
      <p:ext uri="{BB962C8B-B14F-4D97-AF65-F5344CB8AC3E}">
        <p14:creationId xmlns:p14="http://schemas.microsoft.com/office/powerpoint/2010/main" val="7841526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E6058070-EE04-52C5-C729-0078139A41F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C148868-9005-80A1-A3EF-D4F8DBA65695}"/>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BA5EDE7A-BC24-54E0-1A35-F96E7B27FD89}"/>
              </a:ext>
            </a:extLst>
          </p:cNvPr>
          <p:cNvSpPr/>
          <p:nvPr/>
        </p:nvSpPr>
        <p:spPr>
          <a:xfrm>
            <a:off x="548640" y="109728"/>
            <a:ext cx="6400800" cy="502920"/>
          </a:xfrm>
          <a:prstGeom prst="rect">
            <a:avLst/>
          </a:prstGeom>
          <a:noFill/>
          <a:ln/>
        </p:spPr>
        <p:txBody>
          <a:bodyPr wrap="square" lIns="0" tIns="0" rIns="0" bIns="0" rtlCol="0" anchor="ctr"/>
          <a:lstStyle/>
          <a:p>
            <a:r>
              <a:rPr lang="en-US" sz="1400" dirty="0">
                <a:solidFill>
                  <a:srgbClr val="94A3B8"/>
                </a:solidFill>
                <a:latin typeface="Calibri" pitchFamily="34" charset="0"/>
                <a:ea typeface="Calibri" pitchFamily="34" charset="-122"/>
                <a:cs typeface="Calibri" pitchFamily="34" charset="-120"/>
              </a:rPr>
              <a:t>04  —  First Positive Control</a:t>
            </a:r>
            <a:endParaRPr lang="en-US" sz="1400" dirty="0"/>
          </a:p>
        </p:txBody>
      </p:sp>
      <p:pic>
        <p:nvPicPr>
          <p:cNvPr id="5" name="Picture 4">
            <a:extLst>
              <a:ext uri="{FF2B5EF4-FFF2-40B4-BE49-F238E27FC236}">
                <a16:creationId xmlns:a16="http://schemas.microsoft.com/office/drawing/2014/main" id="{748A1540-FA58-776A-386D-D41DB6BDC2D1}"/>
              </a:ext>
            </a:extLst>
          </p:cNvPr>
          <p:cNvPicPr>
            <a:picLocks noChangeAspect="1"/>
          </p:cNvPicPr>
          <p:nvPr/>
        </p:nvPicPr>
        <p:blipFill>
          <a:blip r:embed="rId3"/>
          <a:stretch>
            <a:fillRect/>
          </a:stretch>
        </p:blipFill>
        <p:spPr>
          <a:xfrm>
            <a:off x="1142521" y="1135897"/>
            <a:ext cx="6858957" cy="3505689"/>
          </a:xfrm>
          <a:prstGeom prst="rect">
            <a:avLst/>
          </a:prstGeom>
        </p:spPr>
      </p:pic>
    </p:spTree>
    <p:extLst>
      <p:ext uri="{BB962C8B-B14F-4D97-AF65-F5344CB8AC3E}">
        <p14:creationId xmlns:p14="http://schemas.microsoft.com/office/powerpoint/2010/main" val="10150615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5">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6858000" y="-731520"/>
            <a:ext cx="3657600" cy="3657600"/>
          </a:xfrm>
          <a:prstGeom prst="ellipse">
            <a:avLst/>
          </a:prstGeom>
          <a:solidFill>
            <a:srgbClr val="1E3A5F">
              <a:alpha val="45000"/>
            </a:srgbClr>
          </a:solidFill>
          <a:ln/>
        </p:spPr>
        <p:txBody>
          <a:bodyPr/>
          <a:lstStyle/>
          <a:p>
            <a:endParaRPr lang="en-GB"/>
          </a:p>
        </p:txBody>
      </p:sp>
      <p:sp>
        <p:nvSpPr>
          <p:cNvPr id="3" name="Shape 1"/>
          <p:cNvSpPr/>
          <p:nvPr/>
        </p:nvSpPr>
        <p:spPr>
          <a:xfrm>
            <a:off x="7772400" y="2743200"/>
            <a:ext cx="2286000" cy="2286000"/>
          </a:xfrm>
          <a:prstGeom prst="ellipse">
            <a:avLst/>
          </a:prstGeom>
          <a:solidFill>
            <a:srgbClr val="0D9488">
              <a:alpha val="30000"/>
            </a:srgbClr>
          </a:solidFill>
          <a:ln/>
        </p:spPr>
        <p:txBody>
          <a:bodyPr/>
          <a:lstStyle/>
          <a:p>
            <a:endParaRPr lang="en-GB"/>
          </a:p>
        </p:txBody>
      </p:sp>
      <p:sp>
        <p:nvSpPr>
          <p:cNvPr id="4" name="Text 2"/>
          <p:cNvSpPr/>
          <p:nvPr/>
        </p:nvSpPr>
        <p:spPr>
          <a:xfrm>
            <a:off x="548640" y="457200"/>
            <a:ext cx="1828800" cy="1645920"/>
          </a:xfrm>
          <a:prstGeom prst="rect">
            <a:avLst/>
          </a:prstGeom>
          <a:noFill/>
          <a:ln/>
        </p:spPr>
        <p:txBody>
          <a:bodyPr wrap="square" lIns="0" tIns="0" rIns="0" bIns="0" rtlCol="0" anchor="ctr"/>
          <a:lstStyle/>
          <a:p>
            <a:pPr marL="0" indent="0">
              <a:buNone/>
            </a:pPr>
            <a:r>
              <a:rPr lang="en-US" sz="7200" b="1" dirty="0">
                <a:solidFill>
                  <a:srgbClr val="0D9488"/>
                </a:solidFill>
                <a:latin typeface="Georgia" pitchFamily="34" charset="0"/>
                <a:ea typeface="Georgia" pitchFamily="34" charset="-122"/>
                <a:cs typeface="Georgia" pitchFamily="34" charset="-120"/>
              </a:rPr>
              <a:t>05</a:t>
            </a:r>
            <a:endParaRPr lang="en-US" sz="7200" dirty="0"/>
          </a:p>
        </p:txBody>
      </p:sp>
      <p:sp>
        <p:nvSpPr>
          <p:cNvPr id="5" name="Shape 3"/>
          <p:cNvSpPr/>
          <p:nvPr/>
        </p:nvSpPr>
        <p:spPr>
          <a:xfrm>
            <a:off x="548640" y="2194560"/>
            <a:ext cx="3200400" cy="36576"/>
          </a:xfrm>
          <a:prstGeom prst="rect">
            <a:avLst/>
          </a:prstGeom>
          <a:solidFill>
            <a:srgbClr val="0D9488"/>
          </a:solidFill>
          <a:ln/>
        </p:spPr>
        <p:txBody>
          <a:bodyPr/>
          <a:lstStyle/>
          <a:p>
            <a:endParaRPr lang="en-GB"/>
          </a:p>
        </p:txBody>
      </p:sp>
      <p:sp>
        <p:nvSpPr>
          <p:cNvPr id="6" name="Text 4"/>
          <p:cNvSpPr/>
          <p:nvPr/>
        </p:nvSpPr>
        <p:spPr>
          <a:xfrm>
            <a:off x="548640" y="2468880"/>
            <a:ext cx="6400800" cy="91440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rPr>
              <a:t>Negative Control </a:t>
            </a:r>
          </a:p>
          <a:p>
            <a:pPr marL="0" indent="0">
              <a:buNone/>
            </a:pPr>
            <a:r>
              <a:rPr lang="en-US" sz="3200" b="1" dirty="0">
                <a:solidFill>
                  <a:srgbClr val="FFFFFF"/>
                </a:solidFill>
                <a:latin typeface="Georgia" pitchFamily="34" charset="0"/>
              </a:rPr>
              <a:t>(MALAT1 x KRT18)</a:t>
            </a:r>
            <a:endParaRPr lang="en-US" sz="3200" dirty="0"/>
          </a:p>
        </p:txBody>
      </p:sp>
      <p:pic>
        <p:nvPicPr>
          <p:cNvPr id="8" name="Image 0" descr="preencoded.png"/>
          <p:cNvPicPr>
            <a:picLocks noChangeAspect="1"/>
          </p:cNvPicPr>
          <p:nvPr/>
        </p:nvPicPr>
        <p:blipFill>
          <a:blip r:embed="rId3"/>
          <a:stretch>
            <a:fillRect/>
          </a:stretch>
        </p:blipFill>
        <p:spPr>
          <a:xfrm>
            <a:off x="8046720" y="4114800"/>
            <a:ext cx="640080" cy="64008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D3A"/>
          </a:solidFill>
          <a:ln/>
        </p:spPr>
        <p:txBody>
          <a:bodyPr/>
          <a:lstStyle/>
          <a:p>
            <a:endParaRPr lang="en-GB" dirty="0"/>
          </a:p>
        </p:txBody>
      </p:sp>
      <p:sp>
        <p:nvSpPr>
          <p:cNvPr id="3" name="Text 1"/>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05  —  Negative Control</a:t>
            </a:r>
            <a:endParaRPr lang="en-US" sz="1400" dirty="0"/>
          </a:p>
        </p:txBody>
      </p:sp>
      <p:sp>
        <p:nvSpPr>
          <p:cNvPr id="4" name="Shape 2"/>
          <p:cNvSpPr/>
          <p:nvPr/>
        </p:nvSpPr>
        <p:spPr>
          <a:xfrm>
            <a:off x="548640" y="1051560"/>
            <a:ext cx="54864" cy="457200"/>
          </a:xfrm>
          <a:prstGeom prst="rect">
            <a:avLst/>
          </a:prstGeom>
          <a:solidFill>
            <a:srgbClr val="0D9488"/>
          </a:solidFill>
          <a:ln/>
        </p:spPr>
        <p:txBody>
          <a:bodyPr/>
          <a:lstStyle/>
          <a:p>
            <a:endParaRPr lang="en-GB"/>
          </a:p>
        </p:txBody>
      </p:sp>
      <p:sp>
        <p:nvSpPr>
          <p:cNvPr id="5" name="Text 3"/>
          <p:cNvSpPr/>
          <p:nvPr/>
        </p:nvSpPr>
        <p:spPr>
          <a:xfrm>
            <a:off x="777240" y="1051560"/>
            <a:ext cx="2743200" cy="45720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Method</a:t>
            </a:r>
            <a:endParaRPr lang="en-US" sz="2600" dirty="0"/>
          </a:p>
        </p:txBody>
      </p:sp>
      <p:sp>
        <p:nvSpPr>
          <p:cNvPr id="6" name="Shape 4"/>
          <p:cNvSpPr/>
          <p:nvPr/>
        </p:nvSpPr>
        <p:spPr>
          <a:xfrm>
            <a:off x="548640" y="1737360"/>
            <a:ext cx="804672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a:p>
        </p:txBody>
      </p:sp>
      <p:sp>
        <p:nvSpPr>
          <p:cNvPr id="7" name="Text 5"/>
          <p:cNvSpPr/>
          <p:nvPr/>
        </p:nvSpPr>
        <p:spPr>
          <a:xfrm>
            <a:off x="914400" y="1828800"/>
            <a:ext cx="7315200" cy="2834640"/>
          </a:xfrm>
          <a:prstGeom prst="rect">
            <a:avLst/>
          </a:prstGeom>
          <a:noFill/>
          <a:ln/>
        </p:spPr>
        <p:txBody>
          <a:bodyPr wrap="square" lIns="0" tIns="0" rIns="0" bIns="0" rtlCol="0" anchor="ctr"/>
          <a:lstStyle/>
          <a:p>
            <a:r>
              <a:rPr lang="en-US" sz="2000" b="1" dirty="0"/>
              <a:t>1. </a:t>
            </a:r>
            <a:r>
              <a:rPr lang="en-US" sz="2000" dirty="0"/>
              <a:t>MALAT1 is a ubiquitous, house-keeping gene so label-specific co-localization should not be present</a:t>
            </a:r>
          </a:p>
          <a:p>
            <a:endParaRPr lang="en-US" sz="2000" dirty="0"/>
          </a:p>
          <a:p>
            <a:r>
              <a:rPr lang="en-US" sz="2000" b="1" dirty="0"/>
              <a:t>2. </a:t>
            </a:r>
            <a:r>
              <a:rPr lang="en-US" sz="2000" dirty="0"/>
              <a:t>In practice, this will present as the L(r) values being high, but well within the test envelope </a:t>
            </a:r>
          </a:p>
        </p:txBody>
      </p:sp>
      <p:pic>
        <p:nvPicPr>
          <p:cNvPr id="8" name="Image 0" descr="preencoded.png"/>
          <p:cNvPicPr>
            <a:picLocks noChangeAspect="1"/>
          </p:cNvPicPr>
          <p:nvPr/>
        </p:nvPicPr>
        <p:blipFill>
          <a:blip r:embed="rId3"/>
          <a:stretch>
            <a:fillRect/>
          </a:stretch>
        </p:blipFill>
        <p:spPr>
          <a:xfrm>
            <a:off x="8046720" y="4206240"/>
            <a:ext cx="411480" cy="41148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D3A"/>
          </a:solidFill>
          <a:ln/>
        </p:spPr>
        <p:txBody>
          <a:bodyPr/>
          <a:lstStyle/>
          <a:p>
            <a:endParaRPr lang="en-GB"/>
          </a:p>
        </p:txBody>
      </p:sp>
      <p:sp>
        <p:nvSpPr>
          <p:cNvPr id="3" name="Text 1"/>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05  —  Negative Control</a:t>
            </a:r>
            <a:endParaRPr lang="en-US" sz="1400" dirty="0"/>
          </a:p>
        </p:txBody>
      </p:sp>
      <p:sp>
        <p:nvSpPr>
          <p:cNvPr id="6" name="Shape 4"/>
          <p:cNvSpPr/>
          <p:nvPr/>
        </p:nvSpPr>
        <p:spPr>
          <a:xfrm>
            <a:off x="4267200" y="1097280"/>
            <a:ext cx="4315968" cy="3566160"/>
          </a:xfrm>
          <a:prstGeom prst="rect">
            <a:avLst/>
          </a:prstGeom>
          <a:solidFill>
            <a:srgbClr val="FFFFFF"/>
          </a:solidFill>
          <a:ln/>
          <a:effectLst>
            <a:outerShdw blurRad="76200" dist="25400" dir="8100000" algn="bl" rotWithShape="0">
              <a:srgbClr val="000000">
                <a:alpha val="12000"/>
              </a:srgbClr>
            </a:outerShdw>
          </a:effectLst>
        </p:spPr>
        <p:txBody>
          <a:bodyPr/>
          <a:lstStyle/>
          <a:p>
            <a:pPr marL="342900" indent="-342900">
              <a:buFontTx/>
              <a:buChar char="-"/>
            </a:pPr>
            <a:endParaRPr lang="en-GB" sz="2000" b="1" dirty="0"/>
          </a:p>
          <a:p>
            <a:pPr marL="342900" indent="-342900">
              <a:buFontTx/>
              <a:buChar char="-"/>
            </a:pPr>
            <a:endParaRPr lang="en-GB" sz="2000" b="1" dirty="0"/>
          </a:p>
          <a:p>
            <a:pPr marL="342900" indent="-342900">
              <a:buFontTx/>
              <a:buChar char="-"/>
            </a:pPr>
            <a:endParaRPr lang="en-GB" sz="2000" b="1" dirty="0"/>
          </a:p>
          <a:p>
            <a:pPr marL="342900" indent="-342900">
              <a:buFontTx/>
              <a:buChar char="-"/>
            </a:pPr>
            <a:r>
              <a:rPr lang="en-GB" sz="2000" b="1" dirty="0"/>
              <a:t>Vastly more MALAT transcripts</a:t>
            </a:r>
          </a:p>
          <a:p>
            <a:pPr marL="342900" indent="-342900">
              <a:buFontTx/>
              <a:buChar char="-"/>
            </a:pPr>
            <a:endParaRPr lang="en-GB" sz="2000" b="1" dirty="0"/>
          </a:p>
          <a:p>
            <a:pPr marL="342900" indent="-342900">
              <a:buFontTx/>
              <a:buChar char="-"/>
            </a:pPr>
            <a:r>
              <a:rPr lang="en-GB" sz="2000" b="1" dirty="0"/>
              <a:t>Obvious co-localisation because of the tissue stricture</a:t>
            </a:r>
          </a:p>
          <a:p>
            <a:pPr marL="342900" indent="-342900">
              <a:buFontTx/>
              <a:buChar char="-"/>
            </a:pPr>
            <a:endParaRPr lang="en-GB" sz="2000" b="1" dirty="0"/>
          </a:p>
          <a:p>
            <a:pPr marL="342900" indent="-342900">
              <a:buFontTx/>
              <a:buChar char="-"/>
            </a:pPr>
            <a:endParaRPr lang="en-GB" sz="2000" b="1" dirty="0"/>
          </a:p>
        </p:txBody>
      </p:sp>
      <p:pic>
        <p:nvPicPr>
          <p:cNvPr id="22" name="Picture 21">
            <a:extLst>
              <a:ext uri="{FF2B5EF4-FFF2-40B4-BE49-F238E27FC236}">
                <a16:creationId xmlns:a16="http://schemas.microsoft.com/office/drawing/2014/main" id="{70DB201C-3A95-D54C-5B17-A8066C599234}"/>
              </a:ext>
            </a:extLst>
          </p:cNvPr>
          <p:cNvPicPr>
            <a:picLocks noChangeAspect="1"/>
          </p:cNvPicPr>
          <p:nvPr/>
        </p:nvPicPr>
        <p:blipFill>
          <a:blip r:embed="rId3"/>
          <a:stretch>
            <a:fillRect/>
          </a:stretch>
        </p:blipFill>
        <p:spPr>
          <a:xfrm>
            <a:off x="151466" y="841247"/>
            <a:ext cx="1989165" cy="4090501"/>
          </a:xfrm>
          <a:prstGeom prst="rect">
            <a:avLst/>
          </a:prstGeom>
        </p:spPr>
      </p:pic>
      <p:pic>
        <p:nvPicPr>
          <p:cNvPr id="24" name="Picture 23">
            <a:extLst>
              <a:ext uri="{FF2B5EF4-FFF2-40B4-BE49-F238E27FC236}">
                <a16:creationId xmlns:a16="http://schemas.microsoft.com/office/drawing/2014/main" id="{0B780106-FAE6-88DD-5C40-EE3E2658CF1D}"/>
              </a:ext>
            </a:extLst>
          </p:cNvPr>
          <p:cNvPicPr>
            <a:picLocks noChangeAspect="1"/>
          </p:cNvPicPr>
          <p:nvPr/>
        </p:nvPicPr>
        <p:blipFill>
          <a:blip r:embed="rId4"/>
          <a:stretch>
            <a:fillRect/>
          </a:stretch>
        </p:blipFill>
        <p:spPr>
          <a:xfrm>
            <a:off x="2169242" y="841246"/>
            <a:ext cx="2048990" cy="409050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C6A020DB-7C25-3ACF-7E06-6CD8854B09C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AB1C9C6-E7E1-FF50-7679-D0B6DF7C9340}"/>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1511D91E-8C88-0EFA-20D0-B93FEDD5491A}"/>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05  —  Negative Control</a:t>
            </a:r>
            <a:endParaRPr lang="en-US" sz="1400" dirty="0"/>
          </a:p>
        </p:txBody>
      </p:sp>
      <p:sp>
        <p:nvSpPr>
          <p:cNvPr id="6" name="Shape 4">
            <a:extLst>
              <a:ext uri="{FF2B5EF4-FFF2-40B4-BE49-F238E27FC236}">
                <a16:creationId xmlns:a16="http://schemas.microsoft.com/office/drawing/2014/main" id="{EDD33461-7348-B57A-373B-7BEA76C10326}"/>
              </a:ext>
            </a:extLst>
          </p:cNvPr>
          <p:cNvSpPr/>
          <p:nvPr/>
        </p:nvSpPr>
        <p:spPr>
          <a:xfrm>
            <a:off x="548640" y="1097280"/>
            <a:ext cx="8034528" cy="3566160"/>
          </a:xfrm>
          <a:prstGeom prst="rect">
            <a:avLst/>
          </a:prstGeom>
          <a:solidFill>
            <a:srgbClr val="FFFFFF"/>
          </a:solidFill>
          <a:ln/>
          <a:effectLst>
            <a:outerShdw blurRad="76200" dist="25400" dir="8100000" algn="bl" rotWithShape="0">
              <a:srgbClr val="000000">
                <a:alpha val="12000"/>
              </a:srgbClr>
            </a:outerShdw>
          </a:effectLst>
        </p:spPr>
        <p:txBody>
          <a:bodyPr/>
          <a:lstStyle/>
          <a:p>
            <a:pPr marL="342900" indent="-342900">
              <a:buFontTx/>
              <a:buChar char="-"/>
            </a:pPr>
            <a:endParaRPr lang="en-GB" sz="2000" b="1" dirty="0"/>
          </a:p>
          <a:p>
            <a:pPr marL="342900" indent="-342900">
              <a:buFontTx/>
              <a:buChar char="-"/>
            </a:pPr>
            <a:endParaRPr lang="en-GB" sz="2000" b="1" dirty="0"/>
          </a:p>
          <a:p>
            <a:endParaRPr lang="en-GB" sz="2000" b="1" dirty="0"/>
          </a:p>
          <a:p>
            <a:pPr marL="342900" indent="-342900">
              <a:buFontTx/>
              <a:buChar char="-"/>
            </a:pPr>
            <a:endParaRPr lang="en-GB" sz="2000" b="1" dirty="0"/>
          </a:p>
        </p:txBody>
      </p:sp>
      <p:pic>
        <p:nvPicPr>
          <p:cNvPr id="5" name="Picture 4">
            <a:extLst>
              <a:ext uri="{FF2B5EF4-FFF2-40B4-BE49-F238E27FC236}">
                <a16:creationId xmlns:a16="http://schemas.microsoft.com/office/drawing/2014/main" id="{BD0D4389-944D-B850-AA8D-C43FEB251870}"/>
              </a:ext>
            </a:extLst>
          </p:cNvPr>
          <p:cNvPicPr>
            <a:picLocks noChangeAspect="1"/>
          </p:cNvPicPr>
          <p:nvPr/>
        </p:nvPicPr>
        <p:blipFill>
          <a:blip r:embed="rId3"/>
          <a:stretch>
            <a:fillRect/>
          </a:stretch>
        </p:blipFill>
        <p:spPr>
          <a:xfrm>
            <a:off x="688848" y="1233518"/>
            <a:ext cx="7754112" cy="3293683"/>
          </a:xfrm>
          <a:prstGeom prst="rect">
            <a:avLst/>
          </a:prstGeom>
        </p:spPr>
      </p:pic>
    </p:spTree>
    <p:extLst>
      <p:ext uri="{BB962C8B-B14F-4D97-AF65-F5344CB8AC3E}">
        <p14:creationId xmlns:p14="http://schemas.microsoft.com/office/powerpoint/2010/main" val="4245204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8EE629EE-D7EE-A20D-4705-A9003D90626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399A79F-F1EE-7EC1-582C-E9ED1681710A}"/>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7CC9AA79-E5E5-5E99-CE78-CC2D7EF3512D}"/>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05  —  Negative Control</a:t>
            </a:r>
            <a:endParaRPr lang="en-US" sz="1400" dirty="0"/>
          </a:p>
        </p:txBody>
      </p:sp>
      <p:sp>
        <p:nvSpPr>
          <p:cNvPr id="6" name="Shape 4">
            <a:extLst>
              <a:ext uri="{FF2B5EF4-FFF2-40B4-BE49-F238E27FC236}">
                <a16:creationId xmlns:a16="http://schemas.microsoft.com/office/drawing/2014/main" id="{314ACA26-515F-94B6-6589-7487BE4EE0A7}"/>
              </a:ext>
            </a:extLst>
          </p:cNvPr>
          <p:cNvSpPr/>
          <p:nvPr/>
        </p:nvSpPr>
        <p:spPr>
          <a:xfrm>
            <a:off x="548640" y="1097280"/>
            <a:ext cx="8034528" cy="3566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sz="2000" dirty="0"/>
          </a:p>
          <a:p>
            <a:r>
              <a:rPr lang="en-GB" sz="2000" b="1" dirty="0"/>
              <a:t>1. </a:t>
            </a:r>
            <a:r>
              <a:rPr lang="en-GB" sz="2000" dirty="0"/>
              <a:t>L(r) values are well within the permutation envelope, meaning we cannot reject the null</a:t>
            </a:r>
          </a:p>
          <a:p>
            <a:endParaRPr lang="en-GB" sz="2000" dirty="0"/>
          </a:p>
          <a:p>
            <a:r>
              <a:rPr lang="en-GB" sz="2000" b="1" dirty="0"/>
              <a:t>2. </a:t>
            </a:r>
            <a:r>
              <a:rPr lang="en-GB" sz="2000" dirty="0"/>
              <a:t>Gene-label specific interactions are not significant in the co-</a:t>
            </a:r>
            <a:r>
              <a:rPr lang="en-GB" sz="2000" dirty="0" err="1"/>
              <a:t>occurance</a:t>
            </a:r>
            <a:r>
              <a:rPr lang="en-GB" sz="2000" dirty="0"/>
              <a:t> of these two genes</a:t>
            </a:r>
          </a:p>
          <a:p>
            <a:endParaRPr lang="en-GB" sz="2000" dirty="0"/>
          </a:p>
          <a:p>
            <a:r>
              <a:rPr lang="en-GB" sz="2000" b="1" dirty="0"/>
              <a:t>3. </a:t>
            </a:r>
            <a:r>
              <a:rPr lang="en-GB" sz="2000" dirty="0"/>
              <a:t>The co-</a:t>
            </a:r>
            <a:r>
              <a:rPr lang="en-GB" sz="2000" dirty="0" err="1"/>
              <a:t>occurance</a:t>
            </a:r>
            <a:r>
              <a:rPr lang="en-GB" sz="2000" dirty="0"/>
              <a:t> is due to shared tissue stricture and spatial distribution, not gene-specific co-localisation</a:t>
            </a:r>
          </a:p>
          <a:p>
            <a:pPr marL="342900" indent="-342900">
              <a:buFontTx/>
              <a:buChar char="-"/>
            </a:pPr>
            <a:endParaRPr lang="en-GB" sz="2000" dirty="0"/>
          </a:p>
        </p:txBody>
      </p:sp>
    </p:spTree>
    <p:extLst>
      <p:ext uri="{BB962C8B-B14F-4D97-AF65-F5344CB8AC3E}">
        <p14:creationId xmlns:p14="http://schemas.microsoft.com/office/powerpoint/2010/main" val="1426050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7F8ED5F1-F961-D865-9753-BF689BF35A4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FC06FFF-ED7E-85F5-1EB4-4D2E723A15A5}"/>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A3065A42-7994-E019-6A43-41ACB4666E00}"/>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05  —  Negative Control</a:t>
            </a:r>
            <a:endParaRPr lang="en-US" sz="1400" dirty="0"/>
          </a:p>
        </p:txBody>
      </p:sp>
      <p:sp>
        <p:nvSpPr>
          <p:cNvPr id="6" name="Shape 4">
            <a:extLst>
              <a:ext uri="{FF2B5EF4-FFF2-40B4-BE49-F238E27FC236}">
                <a16:creationId xmlns:a16="http://schemas.microsoft.com/office/drawing/2014/main" id="{45706FB8-7905-E21F-6318-EFB057CCD3F7}"/>
              </a:ext>
            </a:extLst>
          </p:cNvPr>
          <p:cNvSpPr/>
          <p:nvPr/>
        </p:nvSpPr>
        <p:spPr>
          <a:xfrm>
            <a:off x="548640" y="1097280"/>
            <a:ext cx="8034528" cy="3566160"/>
          </a:xfrm>
          <a:prstGeom prst="rect">
            <a:avLst/>
          </a:prstGeom>
          <a:solidFill>
            <a:srgbClr val="FFFFFF"/>
          </a:solidFill>
          <a:ln/>
          <a:effectLst>
            <a:outerShdw blurRad="76200" dist="25400" dir="8100000" algn="bl" rotWithShape="0">
              <a:srgbClr val="000000">
                <a:alpha val="12000"/>
              </a:srgbClr>
            </a:outerShdw>
          </a:effectLst>
        </p:spPr>
        <p:txBody>
          <a:bodyPr/>
          <a:lstStyle/>
          <a:p>
            <a:pPr marL="342900" indent="-342900">
              <a:buFontTx/>
              <a:buChar char="-"/>
            </a:pPr>
            <a:endParaRPr lang="en-GB" sz="2000" dirty="0"/>
          </a:p>
          <a:p>
            <a:r>
              <a:rPr lang="en-GB" sz="2000" dirty="0"/>
              <a:t>Fairly limited with the usable (n&gt;50) genes across these two strips, for this FOV, for this slide</a:t>
            </a:r>
          </a:p>
          <a:p>
            <a:endParaRPr lang="en-GB" sz="2000" dirty="0"/>
          </a:p>
          <a:p>
            <a:r>
              <a:rPr lang="en-GB" sz="2000" b="1" dirty="0"/>
              <a:t>MALAT1</a:t>
            </a:r>
            <a:r>
              <a:rPr lang="en-GB" sz="2000" dirty="0"/>
              <a:t> is ubiquitous so co-localises with everything</a:t>
            </a:r>
          </a:p>
          <a:p>
            <a:endParaRPr lang="en-GB" sz="2000" dirty="0"/>
          </a:p>
          <a:p>
            <a:r>
              <a:rPr lang="en-GB" sz="2000" dirty="0"/>
              <a:t>Something like </a:t>
            </a:r>
            <a:r>
              <a:rPr lang="en-GB" sz="2000" b="1" dirty="0"/>
              <a:t>SCGB3A1</a:t>
            </a:r>
            <a:r>
              <a:rPr lang="en-GB" sz="2000" dirty="0"/>
              <a:t> (a secretory cell marker) is expressed only in club cells and goblet cells in the airways</a:t>
            </a:r>
          </a:p>
          <a:p>
            <a:endParaRPr lang="en-GB" sz="2000" dirty="0"/>
          </a:p>
          <a:p>
            <a:r>
              <a:rPr lang="en-GB" sz="2000" b="1" dirty="0"/>
              <a:t>SCGB3A1 x KRT8 </a:t>
            </a:r>
            <a:r>
              <a:rPr lang="en-GB" sz="2000" dirty="0"/>
              <a:t>could be more informative as a negative control</a:t>
            </a:r>
            <a:endParaRPr lang="en-GB" sz="2000" b="1" dirty="0"/>
          </a:p>
        </p:txBody>
      </p:sp>
    </p:spTree>
    <p:extLst>
      <p:ext uri="{BB962C8B-B14F-4D97-AF65-F5344CB8AC3E}">
        <p14:creationId xmlns:p14="http://schemas.microsoft.com/office/powerpoint/2010/main" val="33776102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3F13C331-3CC7-1A40-1C2D-008C0049972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9F6B5DB-89B9-E952-AEA0-7F1EB47BA729}"/>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EC45A28C-9260-F902-C903-673903BE2798}"/>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05  —  Negative Control</a:t>
            </a:r>
            <a:endParaRPr lang="en-US" sz="1400" dirty="0"/>
          </a:p>
        </p:txBody>
      </p:sp>
      <p:sp>
        <p:nvSpPr>
          <p:cNvPr id="6" name="Shape 4">
            <a:extLst>
              <a:ext uri="{FF2B5EF4-FFF2-40B4-BE49-F238E27FC236}">
                <a16:creationId xmlns:a16="http://schemas.microsoft.com/office/drawing/2014/main" id="{9EC96B53-E513-9A1F-D587-293B2A89A0CC}"/>
              </a:ext>
            </a:extLst>
          </p:cNvPr>
          <p:cNvSpPr/>
          <p:nvPr/>
        </p:nvSpPr>
        <p:spPr>
          <a:xfrm>
            <a:off x="4267200" y="1097280"/>
            <a:ext cx="4315968" cy="3566160"/>
          </a:xfrm>
          <a:prstGeom prst="rect">
            <a:avLst/>
          </a:prstGeom>
          <a:solidFill>
            <a:srgbClr val="FFFFFF"/>
          </a:solidFill>
          <a:ln/>
          <a:effectLst>
            <a:outerShdw blurRad="76200" dist="25400" dir="8100000" algn="bl" rotWithShape="0">
              <a:srgbClr val="000000">
                <a:alpha val="12000"/>
              </a:srgbClr>
            </a:outerShdw>
          </a:effectLst>
        </p:spPr>
        <p:txBody>
          <a:bodyPr/>
          <a:lstStyle/>
          <a:p>
            <a:pPr marL="342900" indent="-342900">
              <a:buFontTx/>
              <a:buChar char="-"/>
            </a:pPr>
            <a:endParaRPr lang="en-GB" sz="2000" b="1" dirty="0"/>
          </a:p>
          <a:p>
            <a:endParaRPr lang="en-GB" sz="2000" b="1" dirty="0"/>
          </a:p>
          <a:p>
            <a:pPr marL="342900" indent="-342900">
              <a:buFontTx/>
              <a:buChar char="-"/>
            </a:pPr>
            <a:r>
              <a:rPr lang="en-GB" sz="2000" b="1" dirty="0"/>
              <a:t>Far fewer transcripts overall compared with the MALAT1 control</a:t>
            </a:r>
          </a:p>
          <a:p>
            <a:pPr marL="342900" indent="-342900">
              <a:buFontTx/>
              <a:buChar char="-"/>
            </a:pPr>
            <a:endParaRPr lang="en-GB" sz="2000" b="1" dirty="0"/>
          </a:p>
          <a:p>
            <a:pPr marL="342900" indent="-342900">
              <a:buFontTx/>
              <a:buChar char="-"/>
            </a:pPr>
            <a:r>
              <a:rPr lang="en-GB" sz="2000" b="1" dirty="0"/>
              <a:t>The tissue shape and structure means everything always co-localises to some extent</a:t>
            </a:r>
          </a:p>
          <a:p>
            <a:pPr marL="342900" indent="-342900">
              <a:buFontTx/>
              <a:buChar char="-"/>
            </a:pPr>
            <a:endParaRPr lang="en-GB" sz="2000" b="1" dirty="0"/>
          </a:p>
          <a:p>
            <a:pPr marL="342900" indent="-342900">
              <a:buFontTx/>
              <a:buChar char="-"/>
            </a:pPr>
            <a:endParaRPr lang="en-GB" sz="2000" b="1" dirty="0"/>
          </a:p>
        </p:txBody>
      </p:sp>
      <p:pic>
        <p:nvPicPr>
          <p:cNvPr id="5" name="Picture 4">
            <a:extLst>
              <a:ext uri="{FF2B5EF4-FFF2-40B4-BE49-F238E27FC236}">
                <a16:creationId xmlns:a16="http://schemas.microsoft.com/office/drawing/2014/main" id="{B93F1A40-1C4A-1F86-2DF0-37271C82A8DD}"/>
              </a:ext>
            </a:extLst>
          </p:cNvPr>
          <p:cNvPicPr>
            <a:picLocks noChangeAspect="1"/>
          </p:cNvPicPr>
          <p:nvPr/>
        </p:nvPicPr>
        <p:blipFill>
          <a:blip r:embed="rId3"/>
          <a:stretch>
            <a:fillRect/>
          </a:stretch>
        </p:blipFill>
        <p:spPr>
          <a:xfrm>
            <a:off x="123631" y="841246"/>
            <a:ext cx="1996643" cy="4090501"/>
          </a:xfrm>
          <a:prstGeom prst="rect">
            <a:avLst/>
          </a:prstGeom>
        </p:spPr>
      </p:pic>
      <p:pic>
        <p:nvPicPr>
          <p:cNvPr id="8" name="Picture 7">
            <a:extLst>
              <a:ext uri="{FF2B5EF4-FFF2-40B4-BE49-F238E27FC236}">
                <a16:creationId xmlns:a16="http://schemas.microsoft.com/office/drawing/2014/main" id="{BFBC8DB7-C79B-5D9E-34C6-D0A6974D4D8B}"/>
              </a:ext>
            </a:extLst>
          </p:cNvPr>
          <p:cNvPicPr>
            <a:picLocks noChangeAspect="1"/>
          </p:cNvPicPr>
          <p:nvPr/>
        </p:nvPicPr>
        <p:blipFill>
          <a:blip r:embed="rId4"/>
          <a:stretch>
            <a:fillRect/>
          </a:stretch>
        </p:blipFill>
        <p:spPr>
          <a:xfrm>
            <a:off x="2180100" y="841246"/>
            <a:ext cx="2056468" cy="4090501"/>
          </a:xfrm>
          <a:prstGeom prst="rect">
            <a:avLst/>
          </a:prstGeom>
        </p:spPr>
      </p:pic>
    </p:spTree>
    <p:extLst>
      <p:ext uri="{BB962C8B-B14F-4D97-AF65-F5344CB8AC3E}">
        <p14:creationId xmlns:p14="http://schemas.microsoft.com/office/powerpoint/2010/main" val="36001155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EFF48F2D-9E77-9061-E12F-71C21531B43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547F366-E909-F266-A551-421C9E6F1697}"/>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31389521-FCB3-E5EF-A454-57AEAD3F95E2}"/>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05  —  Negative Control</a:t>
            </a:r>
            <a:endParaRPr lang="en-US" sz="1400" dirty="0"/>
          </a:p>
        </p:txBody>
      </p:sp>
      <p:sp>
        <p:nvSpPr>
          <p:cNvPr id="6" name="Shape 4">
            <a:extLst>
              <a:ext uri="{FF2B5EF4-FFF2-40B4-BE49-F238E27FC236}">
                <a16:creationId xmlns:a16="http://schemas.microsoft.com/office/drawing/2014/main" id="{DE18752D-9A35-2B75-7B5F-4E1E4ED846B5}"/>
              </a:ext>
            </a:extLst>
          </p:cNvPr>
          <p:cNvSpPr/>
          <p:nvPr/>
        </p:nvSpPr>
        <p:spPr>
          <a:xfrm>
            <a:off x="548640" y="1097280"/>
            <a:ext cx="8034528" cy="3566160"/>
          </a:xfrm>
          <a:prstGeom prst="rect">
            <a:avLst/>
          </a:prstGeom>
          <a:solidFill>
            <a:srgbClr val="FFFFFF"/>
          </a:solidFill>
          <a:ln/>
          <a:effectLst>
            <a:outerShdw blurRad="76200" dist="25400" dir="8100000" algn="bl" rotWithShape="0">
              <a:srgbClr val="000000">
                <a:alpha val="12000"/>
              </a:srgbClr>
            </a:outerShdw>
          </a:effectLst>
        </p:spPr>
        <p:txBody>
          <a:bodyPr/>
          <a:lstStyle/>
          <a:p>
            <a:pPr marL="342900" indent="-342900">
              <a:buFontTx/>
              <a:buChar char="-"/>
            </a:pPr>
            <a:endParaRPr lang="en-GB" sz="2000" b="1" dirty="0"/>
          </a:p>
        </p:txBody>
      </p:sp>
      <p:pic>
        <p:nvPicPr>
          <p:cNvPr id="5" name="Picture 4">
            <a:extLst>
              <a:ext uri="{FF2B5EF4-FFF2-40B4-BE49-F238E27FC236}">
                <a16:creationId xmlns:a16="http://schemas.microsoft.com/office/drawing/2014/main" id="{FAB6D0B3-5B86-9383-B0C1-6387A9490BD2}"/>
              </a:ext>
            </a:extLst>
          </p:cNvPr>
          <p:cNvPicPr>
            <a:picLocks noChangeAspect="1"/>
          </p:cNvPicPr>
          <p:nvPr/>
        </p:nvPicPr>
        <p:blipFill>
          <a:blip r:embed="rId3"/>
          <a:stretch>
            <a:fillRect/>
          </a:stretch>
        </p:blipFill>
        <p:spPr>
          <a:xfrm>
            <a:off x="560832" y="1302433"/>
            <a:ext cx="7912608" cy="3361007"/>
          </a:xfrm>
          <a:prstGeom prst="rect">
            <a:avLst/>
          </a:prstGeom>
        </p:spPr>
      </p:pic>
    </p:spTree>
    <p:extLst>
      <p:ext uri="{BB962C8B-B14F-4D97-AF65-F5344CB8AC3E}">
        <p14:creationId xmlns:p14="http://schemas.microsoft.com/office/powerpoint/2010/main" val="28993678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CDE78566-ACC2-7283-90FB-790295B5E90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533D92E-135F-EF7E-75B0-8640C13B4B61}"/>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ACBB4E7F-4DAC-B3F6-CA0C-26B02A24A57B}"/>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05  —  Negative Control</a:t>
            </a:r>
            <a:endParaRPr lang="en-US" sz="1400" dirty="0"/>
          </a:p>
        </p:txBody>
      </p:sp>
      <p:sp>
        <p:nvSpPr>
          <p:cNvPr id="6" name="Shape 4">
            <a:extLst>
              <a:ext uri="{FF2B5EF4-FFF2-40B4-BE49-F238E27FC236}">
                <a16:creationId xmlns:a16="http://schemas.microsoft.com/office/drawing/2014/main" id="{481F3B44-69EF-FE69-4858-9138E67398EC}"/>
              </a:ext>
            </a:extLst>
          </p:cNvPr>
          <p:cNvSpPr/>
          <p:nvPr/>
        </p:nvSpPr>
        <p:spPr>
          <a:xfrm>
            <a:off x="548640" y="1097280"/>
            <a:ext cx="8034528" cy="3566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sz="2000" b="1" dirty="0"/>
          </a:p>
          <a:p>
            <a:endParaRPr lang="en-GB" sz="2000" b="1" dirty="0"/>
          </a:p>
          <a:p>
            <a:r>
              <a:rPr lang="en-GB" sz="2000" b="1" dirty="0"/>
              <a:t>1. </a:t>
            </a:r>
            <a:r>
              <a:rPr lang="en-GB" sz="2000" dirty="0"/>
              <a:t>The key insight from these tests is that the narrow tissue strips mean that raw L(r) magnitude is always high, being dominated be the global geometry</a:t>
            </a:r>
          </a:p>
          <a:p>
            <a:pPr marL="457200" indent="-457200">
              <a:buAutoNum type="arabicPeriod"/>
            </a:pPr>
            <a:endParaRPr lang="en-GB" sz="2000" b="1" dirty="0"/>
          </a:p>
          <a:p>
            <a:r>
              <a:rPr lang="en-GB" sz="2000" b="1" dirty="0"/>
              <a:t>2. </a:t>
            </a:r>
            <a:r>
              <a:rPr lang="en-GB" sz="2000" dirty="0"/>
              <a:t>These values will be high (well above CSR) in all cases</a:t>
            </a:r>
          </a:p>
          <a:p>
            <a:endParaRPr lang="en-GB" sz="2000" b="1" dirty="0"/>
          </a:p>
          <a:p>
            <a:r>
              <a:rPr lang="en-GB" sz="2000" b="1" dirty="0"/>
              <a:t>3. </a:t>
            </a:r>
            <a:r>
              <a:rPr lang="en-GB" sz="2000" dirty="0"/>
              <a:t>The permutation envelope is therefore very important, and the main informer for rejection of, or failure to reject, the null</a:t>
            </a:r>
            <a:endParaRPr lang="en-GB" sz="2000" b="1" dirty="0"/>
          </a:p>
        </p:txBody>
      </p:sp>
    </p:spTree>
    <p:extLst>
      <p:ext uri="{BB962C8B-B14F-4D97-AF65-F5344CB8AC3E}">
        <p14:creationId xmlns:p14="http://schemas.microsoft.com/office/powerpoint/2010/main" val="41511384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8">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1371600" y="2743200"/>
            <a:ext cx="3657600" cy="3657600"/>
          </a:xfrm>
          <a:prstGeom prst="ellipse">
            <a:avLst/>
          </a:prstGeom>
          <a:solidFill>
            <a:srgbClr val="1E3A5F">
              <a:alpha val="45000"/>
            </a:srgbClr>
          </a:solidFill>
          <a:ln/>
        </p:spPr>
        <p:txBody>
          <a:bodyPr/>
          <a:lstStyle/>
          <a:p>
            <a:endParaRPr lang="en-GB"/>
          </a:p>
        </p:txBody>
      </p:sp>
      <p:sp>
        <p:nvSpPr>
          <p:cNvPr id="3" name="Shape 1"/>
          <p:cNvSpPr/>
          <p:nvPr/>
        </p:nvSpPr>
        <p:spPr>
          <a:xfrm>
            <a:off x="7315200" y="-914400"/>
            <a:ext cx="3200400" cy="3200400"/>
          </a:xfrm>
          <a:prstGeom prst="ellipse">
            <a:avLst/>
          </a:prstGeom>
          <a:solidFill>
            <a:srgbClr val="0D9488">
              <a:alpha val="25000"/>
            </a:srgbClr>
          </a:solidFill>
          <a:ln/>
        </p:spPr>
        <p:txBody>
          <a:bodyPr/>
          <a:lstStyle/>
          <a:p>
            <a:endParaRPr lang="en-GB"/>
          </a:p>
        </p:txBody>
      </p:sp>
      <p:sp>
        <p:nvSpPr>
          <p:cNvPr id="4" name="Text 2"/>
          <p:cNvSpPr/>
          <p:nvPr/>
        </p:nvSpPr>
        <p:spPr>
          <a:xfrm>
            <a:off x="548640" y="457200"/>
            <a:ext cx="1828800" cy="1645920"/>
          </a:xfrm>
          <a:prstGeom prst="rect">
            <a:avLst/>
          </a:prstGeom>
          <a:noFill/>
          <a:ln/>
        </p:spPr>
        <p:txBody>
          <a:bodyPr wrap="square" lIns="0" tIns="0" rIns="0" bIns="0" rtlCol="0" anchor="ctr"/>
          <a:lstStyle/>
          <a:p>
            <a:pPr marL="0" indent="0">
              <a:buNone/>
            </a:pPr>
            <a:r>
              <a:rPr lang="en-US" sz="7200" b="1" dirty="0">
                <a:solidFill>
                  <a:srgbClr val="0D9488"/>
                </a:solidFill>
                <a:latin typeface="Georgia" pitchFamily="34" charset="0"/>
                <a:ea typeface="Georgia" pitchFamily="34" charset="-122"/>
                <a:cs typeface="Georgia" pitchFamily="34" charset="-120"/>
              </a:rPr>
              <a:t>06</a:t>
            </a:r>
            <a:endParaRPr lang="en-US" sz="7200" dirty="0"/>
          </a:p>
        </p:txBody>
      </p:sp>
      <p:sp>
        <p:nvSpPr>
          <p:cNvPr id="5" name="Shape 3"/>
          <p:cNvSpPr/>
          <p:nvPr/>
        </p:nvSpPr>
        <p:spPr>
          <a:xfrm>
            <a:off x="548640" y="2194560"/>
            <a:ext cx="3200400" cy="36576"/>
          </a:xfrm>
          <a:prstGeom prst="rect">
            <a:avLst/>
          </a:prstGeom>
          <a:solidFill>
            <a:srgbClr val="0D9488"/>
          </a:solidFill>
          <a:ln/>
        </p:spPr>
        <p:txBody>
          <a:bodyPr/>
          <a:lstStyle/>
          <a:p>
            <a:endParaRPr lang="en-GB"/>
          </a:p>
        </p:txBody>
      </p:sp>
      <p:sp>
        <p:nvSpPr>
          <p:cNvPr id="6" name="Text 4"/>
          <p:cNvSpPr/>
          <p:nvPr/>
        </p:nvSpPr>
        <p:spPr>
          <a:xfrm>
            <a:off x="548640" y="2468880"/>
            <a:ext cx="6400800" cy="91440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Ligand-Receptor Pairs</a:t>
            </a:r>
            <a:endParaRPr lang="en-US" sz="3200" dirty="0"/>
          </a:p>
        </p:txBody>
      </p:sp>
      <p:pic>
        <p:nvPicPr>
          <p:cNvPr id="8" name="Image 0" descr="preencoded.png"/>
          <p:cNvPicPr>
            <a:picLocks noChangeAspect="1"/>
          </p:cNvPicPr>
          <p:nvPr/>
        </p:nvPicPr>
        <p:blipFill>
          <a:blip r:embed="rId3"/>
          <a:stretch>
            <a:fillRect/>
          </a:stretch>
        </p:blipFill>
        <p:spPr>
          <a:xfrm>
            <a:off x="8046720" y="4114800"/>
            <a:ext cx="640080" cy="64008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D3A"/>
          </a:solidFill>
          <a:ln/>
        </p:spPr>
        <p:txBody>
          <a:bodyPr/>
          <a:lstStyle/>
          <a:p>
            <a:endParaRPr lang="en-GB"/>
          </a:p>
        </p:txBody>
      </p:sp>
      <p:sp>
        <p:nvSpPr>
          <p:cNvPr id="3" name="Text 1"/>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06  —  Ligand-Receptor Pairs</a:t>
            </a:r>
            <a:endParaRPr lang="en-US" sz="1400" dirty="0"/>
          </a:p>
        </p:txBody>
      </p:sp>
      <p:sp>
        <p:nvSpPr>
          <p:cNvPr id="4" name="Shape 2"/>
          <p:cNvSpPr/>
          <p:nvPr/>
        </p:nvSpPr>
        <p:spPr>
          <a:xfrm>
            <a:off x="548640" y="1051560"/>
            <a:ext cx="54864" cy="457200"/>
          </a:xfrm>
          <a:prstGeom prst="rect">
            <a:avLst/>
          </a:prstGeom>
          <a:solidFill>
            <a:srgbClr val="0D9488"/>
          </a:solidFill>
          <a:ln/>
        </p:spPr>
        <p:txBody>
          <a:bodyPr/>
          <a:lstStyle/>
          <a:p>
            <a:endParaRPr lang="en-GB"/>
          </a:p>
        </p:txBody>
      </p:sp>
      <p:sp>
        <p:nvSpPr>
          <p:cNvPr id="5" name="Text 3"/>
          <p:cNvSpPr/>
          <p:nvPr/>
        </p:nvSpPr>
        <p:spPr>
          <a:xfrm>
            <a:off x="777240" y="1051560"/>
            <a:ext cx="2743200" cy="45720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Method</a:t>
            </a:r>
            <a:endParaRPr lang="en-US" sz="2600" dirty="0"/>
          </a:p>
        </p:txBody>
      </p:sp>
      <p:sp>
        <p:nvSpPr>
          <p:cNvPr id="6" name="Shape 4"/>
          <p:cNvSpPr/>
          <p:nvPr/>
        </p:nvSpPr>
        <p:spPr>
          <a:xfrm>
            <a:off x="548640" y="1508760"/>
            <a:ext cx="8046720" cy="3154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p:txBody>
      </p:sp>
      <p:sp>
        <p:nvSpPr>
          <p:cNvPr id="7" name="Text 5"/>
          <p:cNvSpPr/>
          <p:nvPr/>
        </p:nvSpPr>
        <p:spPr>
          <a:xfrm>
            <a:off x="713232" y="1670304"/>
            <a:ext cx="7705344" cy="2828544"/>
          </a:xfrm>
          <a:prstGeom prst="rect">
            <a:avLst/>
          </a:prstGeom>
          <a:noFill/>
          <a:ln/>
        </p:spPr>
        <p:txBody>
          <a:bodyPr wrap="square" lIns="0" tIns="0" rIns="0" bIns="0" rtlCol="0" anchor="ctr"/>
          <a:lstStyle/>
          <a:p>
            <a:pPr marL="0" indent="0">
              <a:buNone/>
            </a:pPr>
            <a:r>
              <a:rPr lang="en-US" sz="2000" b="1" dirty="0"/>
              <a:t>1. LIANA+</a:t>
            </a:r>
            <a:r>
              <a:rPr lang="en-US" sz="2000" dirty="0"/>
              <a:t> is a python package that allows for the use of any of the key Ligand-Receptor tools or resources</a:t>
            </a:r>
          </a:p>
          <a:p>
            <a:pPr marL="0" indent="0">
              <a:buNone/>
            </a:pPr>
            <a:endParaRPr lang="en-US" sz="2000" b="1" dirty="0"/>
          </a:p>
          <a:p>
            <a:pPr marL="0" indent="0">
              <a:buNone/>
            </a:pPr>
            <a:r>
              <a:rPr lang="en-US" sz="2000" b="1" dirty="0"/>
              <a:t>2. </a:t>
            </a:r>
            <a:r>
              <a:rPr lang="en-US" sz="2000" dirty="0"/>
              <a:t>Uses </a:t>
            </a:r>
            <a:r>
              <a:rPr lang="en-US" sz="2000" b="1" i="1" dirty="0" err="1">
                <a:latin typeface="Consolas" panose="020B0609020204030204" pitchFamily="49" charset="0"/>
              </a:rPr>
              <a:t>select_resource</a:t>
            </a:r>
            <a:r>
              <a:rPr lang="en-US" sz="2000" dirty="0"/>
              <a:t> from </a:t>
            </a:r>
            <a:r>
              <a:rPr lang="en-US" sz="2000" b="1" dirty="0"/>
              <a:t>LIANA+</a:t>
            </a:r>
            <a:r>
              <a:rPr lang="en-US" sz="2000" dirty="0"/>
              <a:t> to access  the </a:t>
            </a:r>
            <a:r>
              <a:rPr lang="en-US" sz="2000" b="1" dirty="0" err="1"/>
              <a:t>CellChatDB</a:t>
            </a:r>
            <a:r>
              <a:rPr lang="en-US" sz="2000" b="1" dirty="0"/>
              <a:t> </a:t>
            </a:r>
            <a:r>
              <a:rPr lang="en-US" sz="2000" dirty="0"/>
              <a:t>curated L-R database</a:t>
            </a:r>
          </a:p>
          <a:p>
            <a:pPr marL="0" indent="0">
              <a:buNone/>
            </a:pPr>
            <a:endParaRPr lang="en-US" sz="2000" dirty="0"/>
          </a:p>
          <a:p>
            <a:pPr marL="0" indent="0">
              <a:buNone/>
            </a:pPr>
            <a:r>
              <a:rPr lang="en-US" sz="2000" b="1" dirty="0"/>
              <a:t>3. </a:t>
            </a:r>
            <a:r>
              <a:rPr lang="en-US" sz="2000" dirty="0"/>
              <a:t>Compare this list against my gene panel</a:t>
            </a:r>
            <a:endParaRPr lang="en-US" sz="2000" b="1" dirty="0"/>
          </a:p>
          <a:p>
            <a:pPr marL="0" indent="0">
              <a:buNone/>
            </a:pPr>
            <a:endParaRPr lang="en-US" sz="2000"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88B30E84-8125-6F1D-36E5-13CBC1B8E39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3F2AD2A-F833-53C7-90DB-CF5956908646}"/>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9485369A-CC5F-EDC6-5015-DFEC9E48E0B7}"/>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06  —  Ligand-Receptor Pairs</a:t>
            </a:r>
            <a:endParaRPr lang="en-US" sz="1400" dirty="0"/>
          </a:p>
        </p:txBody>
      </p:sp>
      <p:sp>
        <p:nvSpPr>
          <p:cNvPr id="6" name="Shape 4">
            <a:extLst>
              <a:ext uri="{FF2B5EF4-FFF2-40B4-BE49-F238E27FC236}">
                <a16:creationId xmlns:a16="http://schemas.microsoft.com/office/drawing/2014/main" id="{FFA41FBF-1EEB-3C59-8CFA-D8FD9C18F17E}"/>
              </a:ext>
            </a:extLst>
          </p:cNvPr>
          <p:cNvSpPr/>
          <p:nvPr/>
        </p:nvSpPr>
        <p:spPr>
          <a:xfrm>
            <a:off x="1938528" y="1508760"/>
            <a:ext cx="5010912" cy="3154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p:txBody>
      </p:sp>
      <p:sp>
        <p:nvSpPr>
          <p:cNvPr id="7" name="Text 5">
            <a:extLst>
              <a:ext uri="{FF2B5EF4-FFF2-40B4-BE49-F238E27FC236}">
                <a16:creationId xmlns:a16="http://schemas.microsoft.com/office/drawing/2014/main" id="{BF63BB62-B456-E567-4452-FA9F2390C8B3}"/>
              </a:ext>
            </a:extLst>
          </p:cNvPr>
          <p:cNvSpPr/>
          <p:nvPr/>
        </p:nvSpPr>
        <p:spPr>
          <a:xfrm>
            <a:off x="2712720" y="1207008"/>
            <a:ext cx="3462528" cy="3456432"/>
          </a:xfrm>
          <a:prstGeom prst="rect">
            <a:avLst/>
          </a:prstGeom>
          <a:noFill/>
          <a:ln/>
        </p:spPr>
        <p:txBody>
          <a:bodyPr wrap="square" lIns="0" tIns="0" rIns="0" bIns="0" rtlCol="0" anchor="ctr"/>
          <a:lstStyle/>
          <a:p>
            <a:pPr marL="0" indent="0" algn="ctr">
              <a:buNone/>
            </a:pPr>
            <a:r>
              <a:rPr lang="en-US" sz="3600" b="1" dirty="0" err="1"/>
              <a:t>CellChatDB</a:t>
            </a:r>
            <a:r>
              <a:rPr lang="en-US" sz="3600" b="1" dirty="0"/>
              <a:t>:</a:t>
            </a:r>
          </a:p>
          <a:p>
            <a:endParaRPr lang="en-US" sz="2000" b="1" dirty="0"/>
          </a:p>
          <a:p>
            <a:r>
              <a:rPr lang="en-US" sz="2400" b="1" dirty="0"/>
              <a:t>1912 </a:t>
            </a:r>
            <a:r>
              <a:rPr lang="en-US" sz="2400" dirty="0"/>
              <a:t>Ligand-receptor pairs</a:t>
            </a:r>
          </a:p>
          <a:p>
            <a:r>
              <a:rPr lang="en-US" sz="2400" b="1" dirty="0"/>
              <a:t>529 </a:t>
            </a:r>
            <a:r>
              <a:rPr lang="en-US" sz="2400" dirty="0"/>
              <a:t>Unique Ligands</a:t>
            </a:r>
          </a:p>
          <a:p>
            <a:r>
              <a:rPr lang="en-US" sz="2400" b="1" dirty="0"/>
              <a:t>490 </a:t>
            </a:r>
            <a:r>
              <a:rPr lang="en-US" sz="2400" dirty="0"/>
              <a:t>Unique Receptors</a:t>
            </a:r>
          </a:p>
        </p:txBody>
      </p:sp>
    </p:spTree>
    <p:extLst>
      <p:ext uri="{BB962C8B-B14F-4D97-AF65-F5344CB8AC3E}">
        <p14:creationId xmlns:p14="http://schemas.microsoft.com/office/powerpoint/2010/main" val="37397993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5948E9E9-0327-5CDD-A2EA-AFCFF8C4BA1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86333E-D5F1-A706-0137-2A7C445D2942}"/>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F4D6A6F0-805E-63E7-AA92-3C119108F4C2}"/>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06  —  Ligand-Receptor Pairs</a:t>
            </a:r>
            <a:endParaRPr lang="en-US" sz="1400" dirty="0"/>
          </a:p>
        </p:txBody>
      </p:sp>
      <p:sp>
        <p:nvSpPr>
          <p:cNvPr id="6" name="Shape 4">
            <a:extLst>
              <a:ext uri="{FF2B5EF4-FFF2-40B4-BE49-F238E27FC236}">
                <a16:creationId xmlns:a16="http://schemas.microsoft.com/office/drawing/2014/main" id="{1E53AD3F-F4F0-2732-1CE2-2971BF58DFB1}"/>
              </a:ext>
            </a:extLst>
          </p:cNvPr>
          <p:cNvSpPr/>
          <p:nvPr/>
        </p:nvSpPr>
        <p:spPr>
          <a:xfrm>
            <a:off x="1499616" y="914400"/>
            <a:ext cx="6144768" cy="38221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p:txBody>
      </p:sp>
      <p:sp>
        <p:nvSpPr>
          <p:cNvPr id="7" name="Text 5">
            <a:extLst>
              <a:ext uri="{FF2B5EF4-FFF2-40B4-BE49-F238E27FC236}">
                <a16:creationId xmlns:a16="http://schemas.microsoft.com/office/drawing/2014/main" id="{1853BF05-08C3-4409-F6F1-F2DBF30851C1}"/>
              </a:ext>
            </a:extLst>
          </p:cNvPr>
          <p:cNvSpPr/>
          <p:nvPr/>
        </p:nvSpPr>
        <p:spPr>
          <a:xfrm>
            <a:off x="1633728" y="1048512"/>
            <a:ext cx="5876544" cy="3553968"/>
          </a:xfrm>
          <a:prstGeom prst="rect">
            <a:avLst/>
          </a:prstGeom>
          <a:noFill/>
          <a:ln/>
        </p:spPr>
        <p:txBody>
          <a:bodyPr wrap="square" lIns="0" tIns="0" rIns="0" bIns="0" rtlCol="0" anchor="ctr"/>
          <a:lstStyle/>
          <a:p>
            <a:pPr marL="0" indent="0">
              <a:buNone/>
            </a:pPr>
            <a:r>
              <a:rPr lang="en-US" sz="3600" b="1" dirty="0" err="1"/>
              <a:t>CellChatDB</a:t>
            </a:r>
            <a:r>
              <a:rPr lang="en-US" sz="3600" b="1" dirty="0"/>
              <a:t>:</a:t>
            </a:r>
            <a:endParaRPr lang="en-US" sz="2000" b="1" dirty="0"/>
          </a:p>
          <a:p>
            <a:r>
              <a:rPr lang="en-US" sz="2400" b="1" dirty="0"/>
              <a:t>1912 </a:t>
            </a:r>
            <a:r>
              <a:rPr lang="en-US" sz="2400" dirty="0"/>
              <a:t>Ligand-receptor pairs</a:t>
            </a:r>
          </a:p>
          <a:p>
            <a:r>
              <a:rPr lang="en-US" sz="2400" b="1" dirty="0"/>
              <a:t>529 </a:t>
            </a:r>
            <a:r>
              <a:rPr lang="en-US" sz="2400" dirty="0"/>
              <a:t>Unique Ligands</a:t>
            </a:r>
          </a:p>
          <a:p>
            <a:r>
              <a:rPr lang="en-US" sz="2400" b="1" dirty="0"/>
              <a:t>490 </a:t>
            </a:r>
            <a:r>
              <a:rPr lang="en-US" sz="2400" dirty="0"/>
              <a:t>Unique Receptors</a:t>
            </a:r>
          </a:p>
          <a:p>
            <a:endParaRPr lang="en-US" sz="2400" dirty="0"/>
          </a:p>
          <a:p>
            <a:r>
              <a:rPr lang="en-US" sz="3600" b="1" dirty="0"/>
              <a:t>My Gene Panel</a:t>
            </a:r>
          </a:p>
          <a:p>
            <a:r>
              <a:rPr lang="en-US" sz="2400" b="1" dirty="0"/>
              <a:t>1123 </a:t>
            </a:r>
            <a:r>
              <a:rPr lang="en-US" sz="2400" dirty="0"/>
              <a:t>Genes</a:t>
            </a:r>
          </a:p>
          <a:p>
            <a:r>
              <a:rPr lang="en-US" sz="2400" b="1" dirty="0"/>
              <a:t>203 </a:t>
            </a:r>
            <a:r>
              <a:rPr lang="en-US" sz="2400" dirty="0"/>
              <a:t>L-R pairs with both genes in panel</a:t>
            </a:r>
            <a:endParaRPr lang="en-US" sz="2400" b="1" dirty="0"/>
          </a:p>
        </p:txBody>
      </p:sp>
    </p:spTree>
    <p:extLst>
      <p:ext uri="{BB962C8B-B14F-4D97-AF65-F5344CB8AC3E}">
        <p14:creationId xmlns:p14="http://schemas.microsoft.com/office/powerpoint/2010/main" val="12517992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35151F4D-662F-A242-DBA0-BE5E03362DB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0AC4489-E7AB-3C96-BC8C-DAF4FCF2EB87}"/>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232BB5FE-65DA-3410-A46A-C0E6C3A40292}"/>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06  —  Ligand-Receptor Pairs</a:t>
            </a:r>
            <a:endParaRPr lang="en-US" sz="1400" dirty="0"/>
          </a:p>
        </p:txBody>
      </p:sp>
      <p:sp>
        <p:nvSpPr>
          <p:cNvPr id="6" name="Shape 4">
            <a:extLst>
              <a:ext uri="{FF2B5EF4-FFF2-40B4-BE49-F238E27FC236}">
                <a16:creationId xmlns:a16="http://schemas.microsoft.com/office/drawing/2014/main" id="{25FB8A06-EB5F-128F-640F-841062248D9B}"/>
              </a:ext>
            </a:extLst>
          </p:cNvPr>
          <p:cNvSpPr/>
          <p:nvPr/>
        </p:nvSpPr>
        <p:spPr>
          <a:xfrm>
            <a:off x="341376" y="914400"/>
            <a:ext cx="8436864" cy="38221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p:txBody>
      </p:sp>
      <p:sp>
        <p:nvSpPr>
          <p:cNvPr id="7" name="Text 5">
            <a:extLst>
              <a:ext uri="{FF2B5EF4-FFF2-40B4-BE49-F238E27FC236}">
                <a16:creationId xmlns:a16="http://schemas.microsoft.com/office/drawing/2014/main" id="{73E7C927-33C6-1254-6A4A-D9913B326A87}"/>
              </a:ext>
            </a:extLst>
          </p:cNvPr>
          <p:cNvSpPr/>
          <p:nvPr/>
        </p:nvSpPr>
        <p:spPr>
          <a:xfrm>
            <a:off x="548640" y="1048512"/>
            <a:ext cx="7997952" cy="3553968"/>
          </a:xfrm>
          <a:prstGeom prst="rect">
            <a:avLst/>
          </a:prstGeom>
          <a:noFill/>
          <a:ln/>
        </p:spPr>
        <p:txBody>
          <a:bodyPr wrap="square" lIns="0" tIns="0" rIns="0" bIns="0" rtlCol="0" anchor="ctr"/>
          <a:lstStyle/>
          <a:p>
            <a:r>
              <a:rPr lang="en-US" sz="2400" b="1" dirty="0"/>
              <a:t>1. </a:t>
            </a:r>
            <a:r>
              <a:rPr lang="en-US" sz="2400" dirty="0"/>
              <a:t>Next step is to check transcript counts for these 203 candidate pairs</a:t>
            </a:r>
          </a:p>
          <a:p>
            <a:pPr marL="457200" indent="-457200">
              <a:buAutoNum type="arabicPeriod"/>
            </a:pPr>
            <a:endParaRPr lang="en-US" sz="2400" dirty="0"/>
          </a:p>
          <a:p>
            <a:r>
              <a:rPr lang="en-GB" dirty="0">
                <a:latin typeface="Consolas" panose="020B0609020204030204" pitchFamily="49" charset="0"/>
              </a:rPr>
              <a:t>strip_2: ACKR1: 20 transcripts </a:t>
            </a:r>
            <a:r>
              <a:rPr lang="en-GB" dirty="0">
                <a:highlight>
                  <a:srgbClr val="FFFF00"/>
                </a:highlight>
                <a:latin typeface="Consolas" panose="020B0609020204030204" pitchFamily="49" charset="0"/>
              </a:rPr>
              <a:t>LOW</a:t>
            </a:r>
            <a:r>
              <a:rPr lang="en-GB" dirty="0">
                <a:latin typeface="Consolas" panose="020B0609020204030204" pitchFamily="49" charset="0"/>
              </a:rPr>
              <a:t> ACKR3: 12 transcripts </a:t>
            </a:r>
            <a:r>
              <a:rPr lang="en-GB" dirty="0">
                <a:highlight>
                  <a:srgbClr val="FFFF00"/>
                </a:highlight>
                <a:latin typeface="Consolas" panose="020B0609020204030204" pitchFamily="49" charset="0"/>
              </a:rPr>
              <a:t>LOW</a:t>
            </a:r>
            <a:r>
              <a:rPr lang="en-GB" dirty="0">
                <a:latin typeface="Consolas" panose="020B0609020204030204" pitchFamily="49" charset="0"/>
              </a:rPr>
              <a:t> ACKR4: 8 transcripts </a:t>
            </a:r>
            <a:r>
              <a:rPr lang="en-GB" dirty="0">
                <a:highlight>
                  <a:srgbClr val="FFFF00"/>
                </a:highlight>
                <a:latin typeface="Consolas" panose="020B0609020204030204" pitchFamily="49" charset="0"/>
              </a:rPr>
              <a:t>LOW</a:t>
            </a:r>
            <a:r>
              <a:rPr lang="en-GB" dirty="0">
                <a:latin typeface="Consolas" panose="020B0609020204030204" pitchFamily="49" charset="0"/>
              </a:rPr>
              <a:t> ADGRE5: 23 transcripts </a:t>
            </a:r>
            <a:r>
              <a:rPr lang="en-GB" dirty="0">
                <a:highlight>
                  <a:srgbClr val="FFFF00"/>
                </a:highlight>
                <a:latin typeface="Consolas" panose="020B0609020204030204" pitchFamily="49" charset="0"/>
              </a:rPr>
              <a:t>LOW</a:t>
            </a:r>
            <a:r>
              <a:rPr lang="en-GB" dirty="0">
                <a:latin typeface="Consolas" panose="020B0609020204030204" pitchFamily="49" charset="0"/>
              </a:rPr>
              <a:t> ANGPT1: 7 transcripts </a:t>
            </a:r>
            <a:r>
              <a:rPr lang="en-GB" dirty="0">
                <a:highlight>
                  <a:srgbClr val="FFFF00"/>
                </a:highlight>
                <a:latin typeface="Consolas" panose="020B0609020204030204" pitchFamily="49" charset="0"/>
              </a:rPr>
              <a:t>LOW</a:t>
            </a:r>
            <a:r>
              <a:rPr lang="en-GB" dirty="0">
                <a:latin typeface="Consolas" panose="020B0609020204030204" pitchFamily="49" charset="0"/>
              </a:rPr>
              <a:t> ANGPT2: 7 transcripts </a:t>
            </a:r>
            <a:r>
              <a:rPr lang="en-GB" dirty="0">
                <a:highlight>
                  <a:srgbClr val="FFFF00"/>
                </a:highlight>
                <a:latin typeface="Consolas" panose="020B0609020204030204" pitchFamily="49" charset="0"/>
              </a:rPr>
              <a:t>LOW</a:t>
            </a:r>
            <a:r>
              <a:rPr lang="en-GB" dirty="0">
                <a:latin typeface="Consolas" panose="020B0609020204030204" pitchFamily="49" charset="0"/>
              </a:rPr>
              <a:t> ANXA1: 34 transcripts </a:t>
            </a:r>
            <a:r>
              <a:rPr lang="en-GB" dirty="0">
                <a:highlight>
                  <a:srgbClr val="FFFF00"/>
                </a:highlight>
                <a:latin typeface="Consolas" panose="020B0609020204030204" pitchFamily="49" charset="0"/>
              </a:rPr>
              <a:t>LOW</a:t>
            </a:r>
            <a:r>
              <a:rPr lang="en-GB" dirty="0">
                <a:latin typeface="Consolas" panose="020B0609020204030204" pitchFamily="49" charset="0"/>
              </a:rPr>
              <a:t> APP: 10 transcripts </a:t>
            </a:r>
            <a:r>
              <a:rPr lang="en-GB" dirty="0">
                <a:highlight>
                  <a:srgbClr val="FFFF00"/>
                </a:highlight>
                <a:latin typeface="Consolas" panose="020B0609020204030204" pitchFamily="49" charset="0"/>
              </a:rPr>
              <a:t>LOW</a:t>
            </a:r>
            <a:r>
              <a:rPr lang="en-GB" dirty="0">
                <a:latin typeface="Consolas" panose="020B0609020204030204" pitchFamily="49" charset="0"/>
              </a:rPr>
              <a:t> AREG: 7 transcripts </a:t>
            </a:r>
            <a:r>
              <a:rPr lang="en-GB" dirty="0">
                <a:highlight>
                  <a:srgbClr val="FFFF00"/>
                </a:highlight>
                <a:latin typeface="Consolas" panose="020B0609020204030204" pitchFamily="49" charset="0"/>
              </a:rPr>
              <a:t>LOW</a:t>
            </a:r>
            <a:r>
              <a:rPr lang="en-GB" dirty="0">
                <a:latin typeface="Consolas" panose="020B0609020204030204" pitchFamily="49" charset="0"/>
              </a:rPr>
              <a:t> AXL: 18 transcripts </a:t>
            </a:r>
            <a:r>
              <a:rPr lang="en-GB" dirty="0">
                <a:highlight>
                  <a:srgbClr val="FFFF00"/>
                </a:highlight>
                <a:latin typeface="Consolas" panose="020B0609020204030204" pitchFamily="49" charset="0"/>
              </a:rPr>
              <a:t>LOW</a:t>
            </a:r>
            <a:r>
              <a:rPr lang="en-GB" dirty="0">
                <a:latin typeface="Consolas" panose="020B0609020204030204" pitchFamily="49" charset="0"/>
              </a:rPr>
              <a:t> CCL11: 6 transcripts </a:t>
            </a:r>
            <a:r>
              <a:rPr lang="en-GB" dirty="0">
                <a:highlight>
                  <a:srgbClr val="FFFF00"/>
                </a:highlight>
                <a:latin typeface="Consolas" panose="020B0609020204030204" pitchFamily="49" charset="0"/>
              </a:rPr>
              <a:t>LOW</a:t>
            </a:r>
            <a:endParaRPr lang="en-GB" dirty="0">
              <a:latin typeface="Consolas" panose="020B0609020204030204" pitchFamily="49" charset="0"/>
            </a:endParaRPr>
          </a:p>
          <a:p>
            <a:pPr algn="ctr"/>
            <a:r>
              <a:rPr lang="en-GB" sz="2400" b="1" dirty="0">
                <a:latin typeface="Consolas" panose="020B0609020204030204" pitchFamily="49" charset="0"/>
              </a:rPr>
              <a:t>...</a:t>
            </a:r>
            <a:endParaRPr lang="en-US" sz="2400" b="1" dirty="0">
              <a:latin typeface="Consolas" panose="020B0609020204030204" pitchFamily="49" charset="0"/>
            </a:endParaRPr>
          </a:p>
          <a:p>
            <a:pPr algn="ctr"/>
            <a:r>
              <a:rPr lang="en-US" sz="2400" b="1" dirty="0"/>
              <a:t>Every single pair had n&lt;50 for both strips in this FOV</a:t>
            </a:r>
          </a:p>
          <a:p>
            <a:pPr marL="457200" indent="-457200">
              <a:buAutoNum type="arabicPeriod"/>
            </a:pPr>
            <a:endParaRPr lang="en-US" sz="2400" b="1" dirty="0"/>
          </a:p>
        </p:txBody>
      </p:sp>
    </p:spTree>
    <p:extLst>
      <p:ext uri="{BB962C8B-B14F-4D97-AF65-F5344CB8AC3E}">
        <p14:creationId xmlns:p14="http://schemas.microsoft.com/office/powerpoint/2010/main" val="7023071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59D207B5-A365-EA82-62F9-6D0B322DCE6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AE17260-9832-07DF-0969-C14FE1202985}"/>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13BFD492-DC27-C8A1-2BB9-F4F6C6040A30}"/>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06  —  Ligand-Receptor Pairs</a:t>
            </a:r>
            <a:endParaRPr lang="en-US" sz="1400" dirty="0"/>
          </a:p>
        </p:txBody>
      </p:sp>
      <p:sp>
        <p:nvSpPr>
          <p:cNvPr id="4" name="Shape 2">
            <a:extLst>
              <a:ext uri="{FF2B5EF4-FFF2-40B4-BE49-F238E27FC236}">
                <a16:creationId xmlns:a16="http://schemas.microsoft.com/office/drawing/2014/main" id="{3A68AFAA-FB6A-8E5D-4766-E204200C83D9}"/>
              </a:ext>
            </a:extLst>
          </p:cNvPr>
          <p:cNvSpPr/>
          <p:nvPr/>
        </p:nvSpPr>
        <p:spPr>
          <a:xfrm>
            <a:off x="548640" y="1051560"/>
            <a:ext cx="54864" cy="457200"/>
          </a:xfrm>
          <a:prstGeom prst="rect">
            <a:avLst/>
          </a:prstGeom>
          <a:solidFill>
            <a:srgbClr val="0D9488"/>
          </a:solidFill>
          <a:ln/>
        </p:spPr>
        <p:txBody>
          <a:bodyPr/>
          <a:lstStyle/>
          <a:p>
            <a:endParaRPr lang="en-GB"/>
          </a:p>
        </p:txBody>
      </p:sp>
      <p:sp>
        <p:nvSpPr>
          <p:cNvPr id="5" name="Text 3">
            <a:extLst>
              <a:ext uri="{FF2B5EF4-FFF2-40B4-BE49-F238E27FC236}">
                <a16:creationId xmlns:a16="http://schemas.microsoft.com/office/drawing/2014/main" id="{F676717D-BADA-5FC9-4B05-0F3B9A41AA4E}"/>
              </a:ext>
            </a:extLst>
          </p:cNvPr>
          <p:cNvSpPr/>
          <p:nvPr/>
        </p:nvSpPr>
        <p:spPr>
          <a:xfrm>
            <a:off x="777240" y="1051560"/>
            <a:ext cx="2743200" cy="45720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Method</a:t>
            </a:r>
            <a:endParaRPr lang="en-US" sz="2600" dirty="0"/>
          </a:p>
        </p:txBody>
      </p:sp>
      <p:sp>
        <p:nvSpPr>
          <p:cNvPr id="6" name="Shape 4">
            <a:extLst>
              <a:ext uri="{FF2B5EF4-FFF2-40B4-BE49-F238E27FC236}">
                <a16:creationId xmlns:a16="http://schemas.microsoft.com/office/drawing/2014/main" id="{059DDF81-69AC-DAE1-29EB-E17AB3301EF4}"/>
              </a:ext>
            </a:extLst>
          </p:cNvPr>
          <p:cNvSpPr/>
          <p:nvPr/>
        </p:nvSpPr>
        <p:spPr>
          <a:xfrm>
            <a:off x="548640" y="1508760"/>
            <a:ext cx="8046720" cy="3154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p:txBody>
      </p:sp>
      <p:sp>
        <p:nvSpPr>
          <p:cNvPr id="7" name="Text 5">
            <a:extLst>
              <a:ext uri="{FF2B5EF4-FFF2-40B4-BE49-F238E27FC236}">
                <a16:creationId xmlns:a16="http://schemas.microsoft.com/office/drawing/2014/main" id="{FA8D642E-1E05-E3D4-2C86-244F774B9C78}"/>
              </a:ext>
            </a:extLst>
          </p:cNvPr>
          <p:cNvSpPr/>
          <p:nvPr/>
        </p:nvSpPr>
        <p:spPr>
          <a:xfrm>
            <a:off x="1170432" y="1670304"/>
            <a:ext cx="6729984" cy="2828544"/>
          </a:xfrm>
          <a:prstGeom prst="rect">
            <a:avLst/>
          </a:prstGeom>
          <a:noFill/>
          <a:ln/>
        </p:spPr>
        <p:txBody>
          <a:bodyPr wrap="square" lIns="0" tIns="0" rIns="0" bIns="0" rtlCol="0" anchor="ctr"/>
          <a:lstStyle/>
          <a:p>
            <a:r>
              <a:rPr lang="en-US" sz="2000" b="1" dirty="0"/>
              <a:t>1. </a:t>
            </a:r>
            <a:r>
              <a:rPr lang="en-US" sz="2000" dirty="0"/>
              <a:t>Need to expand the search and analysis to a larger set of data</a:t>
            </a:r>
          </a:p>
          <a:p>
            <a:endParaRPr lang="en-US" sz="2000" dirty="0"/>
          </a:p>
          <a:p>
            <a:r>
              <a:rPr lang="en-US" sz="2000" b="1" dirty="0"/>
              <a:t>2. </a:t>
            </a:r>
            <a:r>
              <a:rPr lang="en-US" sz="2000" dirty="0"/>
              <a:t>Create a QC loop that presents each FOV in the slide for manual selection/exclusion</a:t>
            </a:r>
            <a:endParaRPr lang="en-US" sz="2000" b="1" dirty="0"/>
          </a:p>
          <a:p>
            <a:endParaRPr lang="en-US" sz="2000" b="1" dirty="0"/>
          </a:p>
        </p:txBody>
      </p:sp>
    </p:spTree>
    <p:extLst>
      <p:ext uri="{BB962C8B-B14F-4D97-AF65-F5344CB8AC3E}">
        <p14:creationId xmlns:p14="http://schemas.microsoft.com/office/powerpoint/2010/main" val="6474150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BE041AEB-D3A4-6DE0-E02D-9E3D4691026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AA5F3CE-DE16-83C5-E44C-0D8C3CDEDBE2}"/>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CC191EA1-E72E-D1D8-176B-5AF816A8441B}"/>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06  —  Ligand-Receptor Pairs</a:t>
            </a:r>
            <a:endParaRPr lang="en-US" sz="1400" dirty="0"/>
          </a:p>
        </p:txBody>
      </p:sp>
      <p:sp>
        <p:nvSpPr>
          <p:cNvPr id="6" name="Shape 4">
            <a:extLst>
              <a:ext uri="{FF2B5EF4-FFF2-40B4-BE49-F238E27FC236}">
                <a16:creationId xmlns:a16="http://schemas.microsoft.com/office/drawing/2014/main" id="{6E45F4B9-F14A-AA1C-FA72-0CB82060615C}"/>
              </a:ext>
            </a:extLst>
          </p:cNvPr>
          <p:cNvSpPr/>
          <p:nvPr/>
        </p:nvSpPr>
        <p:spPr>
          <a:xfrm>
            <a:off x="1319514" y="914400"/>
            <a:ext cx="6117606" cy="38221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a:p>
            <a:endParaRPr lang="en-GB" dirty="0"/>
          </a:p>
          <a:p>
            <a:endParaRPr lang="en-GB" dirty="0"/>
          </a:p>
          <a:p>
            <a:endParaRPr lang="en-GB" dirty="0"/>
          </a:p>
          <a:p>
            <a:endParaRPr lang="en-GB" dirty="0"/>
          </a:p>
          <a:p>
            <a:pPr algn="ctr"/>
            <a:r>
              <a:rPr lang="en-GB" sz="6000" dirty="0"/>
              <a:t>…</a:t>
            </a:r>
          </a:p>
        </p:txBody>
      </p:sp>
      <p:pic>
        <p:nvPicPr>
          <p:cNvPr id="5" name="Picture 4">
            <a:extLst>
              <a:ext uri="{FF2B5EF4-FFF2-40B4-BE49-F238E27FC236}">
                <a16:creationId xmlns:a16="http://schemas.microsoft.com/office/drawing/2014/main" id="{CA4DA044-2B85-EA14-20AE-F3A2D93F9137}"/>
              </a:ext>
            </a:extLst>
          </p:cNvPr>
          <p:cNvPicPr>
            <a:picLocks noChangeAspect="1"/>
          </p:cNvPicPr>
          <p:nvPr/>
        </p:nvPicPr>
        <p:blipFill>
          <a:blip r:embed="rId3"/>
          <a:stretch>
            <a:fillRect/>
          </a:stretch>
        </p:blipFill>
        <p:spPr>
          <a:xfrm>
            <a:off x="1706880" y="1126809"/>
            <a:ext cx="5096256" cy="1610628"/>
          </a:xfrm>
          <a:prstGeom prst="rect">
            <a:avLst/>
          </a:prstGeom>
        </p:spPr>
      </p:pic>
      <p:pic>
        <p:nvPicPr>
          <p:cNvPr id="11" name="Picture 10">
            <a:extLst>
              <a:ext uri="{FF2B5EF4-FFF2-40B4-BE49-F238E27FC236}">
                <a16:creationId xmlns:a16="http://schemas.microsoft.com/office/drawing/2014/main" id="{BFE0A916-8CA2-BA94-F4D7-FF3DF2697D60}"/>
              </a:ext>
            </a:extLst>
          </p:cNvPr>
          <p:cNvPicPr>
            <a:picLocks noChangeAspect="1"/>
          </p:cNvPicPr>
          <p:nvPr/>
        </p:nvPicPr>
        <p:blipFill>
          <a:blip r:embed="rId4"/>
          <a:stretch>
            <a:fillRect/>
          </a:stretch>
        </p:blipFill>
        <p:spPr>
          <a:xfrm>
            <a:off x="1706880" y="3132679"/>
            <a:ext cx="5087158" cy="1603913"/>
          </a:xfrm>
          <a:prstGeom prst="rect">
            <a:avLst/>
          </a:prstGeom>
        </p:spPr>
      </p:pic>
    </p:spTree>
    <p:extLst>
      <p:ext uri="{BB962C8B-B14F-4D97-AF65-F5344CB8AC3E}">
        <p14:creationId xmlns:p14="http://schemas.microsoft.com/office/powerpoint/2010/main" val="35440385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144B9ACF-A6FC-BA2A-2962-582C3E51FEF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55BCB74-5BB1-B13E-B6A8-0F5CCFCC2EB9}"/>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2A8CEA2D-A153-9384-9E6D-61335DA978C5}"/>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06  —  Ligand-Receptor Pairs</a:t>
            </a:r>
            <a:endParaRPr lang="en-US" sz="1400" dirty="0"/>
          </a:p>
        </p:txBody>
      </p:sp>
      <p:sp>
        <p:nvSpPr>
          <p:cNvPr id="6" name="Shape 4">
            <a:extLst>
              <a:ext uri="{FF2B5EF4-FFF2-40B4-BE49-F238E27FC236}">
                <a16:creationId xmlns:a16="http://schemas.microsoft.com/office/drawing/2014/main" id="{C3EE711F-AD71-3FD5-C96A-E9B823E429BB}"/>
              </a:ext>
            </a:extLst>
          </p:cNvPr>
          <p:cNvSpPr/>
          <p:nvPr/>
        </p:nvSpPr>
        <p:spPr>
          <a:xfrm>
            <a:off x="1319514" y="914400"/>
            <a:ext cx="6117606" cy="38221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a:p>
            <a:endParaRPr lang="en-GB" dirty="0"/>
          </a:p>
          <a:p>
            <a:endParaRPr lang="en-GB" dirty="0"/>
          </a:p>
        </p:txBody>
      </p:sp>
      <p:pic>
        <p:nvPicPr>
          <p:cNvPr id="7" name="Picture 6">
            <a:extLst>
              <a:ext uri="{FF2B5EF4-FFF2-40B4-BE49-F238E27FC236}">
                <a16:creationId xmlns:a16="http://schemas.microsoft.com/office/drawing/2014/main" id="{A616D72C-4C80-7AA8-A2C6-EC13158081F2}"/>
              </a:ext>
            </a:extLst>
          </p:cNvPr>
          <p:cNvPicPr>
            <a:picLocks noChangeAspect="1"/>
          </p:cNvPicPr>
          <p:nvPr/>
        </p:nvPicPr>
        <p:blipFill>
          <a:blip r:embed="rId3"/>
          <a:stretch>
            <a:fillRect/>
          </a:stretch>
        </p:blipFill>
        <p:spPr>
          <a:xfrm>
            <a:off x="2410856" y="1086941"/>
            <a:ext cx="4229690" cy="3477110"/>
          </a:xfrm>
          <a:prstGeom prst="rect">
            <a:avLst/>
          </a:prstGeom>
        </p:spPr>
      </p:pic>
    </p:spTree>
    <p:extLst>
      <p:ext uri="{BB962C8B-B14F-4D97-AF65-F5344CB8AC3E}">
        <p14:creationId xmlns:p14="http://schemas.microsoft.com/office/powerpoint/2010/main" val="24631183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0DCB1B16-A0E0-C429-C7AE-B6E75944788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84EB3C8-514F-1609-6999-C019D8CEFA38}"/>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0817640A-92EF-A6EB-F409-C1E4922220A1}"/>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06  —  Ligand-Receptor Pairs</a:t>
            </a:r>
            <a:endParaRPr lang="en-US" sz="1400" dirty="0"/>
          </a:p>
        </p:txBody>
      </p:sp>
      <p:sp>
        <p:nvSpPr>
          <p:cNvPr id="6" name="Shape 4">
            <a:extLst>
              <a:ext uri="{FF2B5EF4-FFF2-40B4-BE49-F238E27FC236}">
                <a16:creationId xmlns:a16="http://schemas.microsoft.com/office/drawing/2014/main" id="{285ECAAF-78E0-D77C-18A8-D582E12392CC}"/>
              </a:ext>
            </a:extLst>
          </p:cNvPr>
          <p:cNvSpPr/>
          <p:nvPr/>
        </p:nvSpPr>
        <p:spPr>
          <a:xfrm>
            <a:off x="422475" y="914400"/>
            <a:ext cx="8397433" cy="38221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a:p>
            <a:endParaRPr lang="en-GB" dirty="0"/>
          </a:p>
          <a:p>
            <a:endParaRPr lang="en-GB" dirty="0"/>
          </a:p>
          <a:p>
            <a:endParaRPr lang="en-GB" dirty="0"/>
          </a:p>
          <a:p>
            <a:r>
              <a:rPr lang="en-GB" sz="6000" dirty="0"/>
              <a:t>		…</a:t>
            </a:r>
          </a:p>
        </p:txBody>
      </p:sp>
      <p:pic>
        <p:nvPicPr>
          <p:cNvPr id="7" name="Picture 6">
            <a:extLst>
              <a:ext uri="{FF2B5EF4-FFF2-40B4-BE49-F238E27FC236}">
                <a16:creationId xmlns:a16="http://schemas.microsoft.com/office/drawing/2014/main" id="{53F768FB-522C-1FC5-AE10-9C49B642C095}"/>
              </a:ext>
            </a:extLst>
          </p:cNvPr>
          <p:cNvPicPr>
            <a:picLocks noChangeAspect="1"/>
          </p:cNvPicPr>
          <p:nvPr/>
        </p:nvPicPr>
        <p:blipFill>
          <a:blip r:embed="rId3"/>
          <a:stretch>
            <a:fillRect/>
          </a:stretch>
        </p:blipFill>
        <p:spPr>
          <a:xfrm>
            <a:off x="605123" y="1096311"/>
            <a:ext cx="3715187" cy="1474753"/>
          </a:xfrm>
          <a:prstGeom prst="rect">
            <a:avLst/>
          </a:prstGeom>
        </p:spPr>
      </p:pic>
      <p:pic>
        <p:nvPicPr>
          <p:cNvPr id="9" name="Picture 8">
            <a:extLst>
              <a:ext uri="{FF2B5EF4-FFF2-40B4-BE49-F238E27FC236}">
                <a16:creationId xmlns:a16="http://schemas.microsoft.com/office/drawing/2014/main" id="{7BEC4AB7-4B75-6D36-9D51-E634F7F92E78}"/>
              </a:ext>
            </a:extLst>
          </p:cNvPr>
          <p:cNvPicPr>
            <a:picLocks noChangeAspect="1"/>
          </p:cNvPicPr>
          <p:nvPr/>
        </p:nvPicPr>
        <p:blipFill>
          <a:blip r:embed="rId4"/>
          <a:stretch>
            <a:fillRect/>
          </a:stretch>
        </p:blipFill>
        <p:spPr>
          <a:xfrm>
            <a:off x="605123" y="2952475"/>
            <a:ext cx="3721143" cy="1474752"/>
          </a:xfrm>
          <a:prstGeom prst="rect">
            <a:avLst/>
          </a:prstGeom>
        </p:spPr>
      </p:pic>
      <p:sp>
        <p:nvSpPr>
          <p:cNvPr id="13" name="TextBox 12">
            <a:extLst>
              <a:ext uri="{FF2B5EF4-FFF2-40B4-BE49-F238E27FC236}">
                <a16:creationId xmlns:a16="http://schemas.microsoft.com/office/drawing/2014/main" id="{5883C31A-2D5E-4FE6-F449-CB1919BE3885}"/>
              </a:ext>
            </a:extLst>
          </p:cNvPr>
          <p:cNvSpPr txBox="1"/>
          <p:nvPr/>
        </p:nvSpPr>
        <p:spPr>
          <a:xfrm>
            <a:off x="4817736" y="1809833"/>
            <a:ext cx="3350597" cy="2031325"/>
          </a:xfrm>
          <a:prstGeom prst="rect">
            <a:avLst/>
          </a:prstGeom>
          <a:solidFill>
            <a:schemeClr val="tx1"/>
          </a:solidFill>
        </p:spPr>
        <p:txBody>
          <a:bodyPr wrap="none" rtlCol="0">
            <a:spAutoFit/>
          </a:bodyPr>
          <a:lstStyle/>
          <a:p>
            <a:r>
              <a:rPr lang="en-GB" dirty="0">
                <a:solidFill>
                  <a:schemeClr val="bg1"/>
                </a:solidFill>
                <a:latin typeface="Consolas" panose="020B0609020204030204" pitchFamily="49" charset="0"/>
              </a:rPr>
              <a:t>strip </a:t>
            </a:r>
          </a:p>
          <a:p>
            <a:r>
              <a:rPr lang="en-GB" dirty="0">
                <a:solidFill>
                  <a:schemeClr val="bg1"/>
                </a:solidFill>
                <a:latin typeface="Consolas" panose="020B0609020204030204" pitchFamily="49" charset="0"/>
              </a:rPr>
              <a:t>strip_1 28872 </a:t>
            </a:r>
          </a:p>
          <a:p>
            <a:r>
              <a:rPr lang="en-GB" dirty="0">
                <a:solidFill>
                  <a:schemeClr val="bg1"/>
                </a:solidFill>
                <a:latin typeface="Consolas" panose="020B0609020204030204" pitchFamily="49" charset="0"/>
              </a:rPr>
              <a:t>strip_2 14829 </a:t>
            </a:r>
          </a:p>
          <a:p>
            <a:r>
              <a:rPr lang="en-GB" dirty="0">
                <a:solidFill>
                  <a:schemeClr val="bg1"/>
                </a:solidFill>
                <a:latin typeface="Consolas" panose="020B0609020204030204" pitchFamily="49" charset="0"/>
              </a:rPr>
              <a:t>strip_3 18559 </a:t>
            </a:r>
          </a:p>
          <a:p>
            <a:endParaRPr lang="en-GB" dirty="0">
              <a:solidFill>
                <a:schemeClr val="bg1"/>
              </a:solidFill>
              <a:latin typeface="Consolas" panose="020B0609020204030204" pitchFamily="49" charset="0"/>
            </a:endParaRPr>
          </a:p>
          <a:p>
            <a:r>
              <a:rPr lang="en-GB" dirty="0">
                <a:solidFill>
                  <a:schemeClr val="bg1"/>
                </a:solidFill>
                <a:latin typeface="Consolas" panose="020B0609020204030204" pitchFamily="49" charset="0"/>
              </a:rPr>
              <a:t>Processed 6 FOVs </a:t>
            </a:r>
          </a:p>
          <a:p>
            <a:r>
              <a:rPr lang="en-GB" dirty="0">
                <a:solidFill>
                  <a:schemeClr val="bg1"/>
                </a:solidFill>
                <a:latin typeface="Consolas" panose="020B0609020204030204" pitchFamily="49" charset="0"/>
              </a:rPr>
              <a:t>400,238 total transcripts</a:t>
            </a:r>
          </a:p>
        </p:txBody>
      </p:sp>
    </p:spTree>
    <p:extLst>
      <p:ext uri="{BB962C8B-B14F-4D97-AF65-F5344CB8AC3E}">
        <p14:creationId xmlns:p14="http://schemas.microsoft.com/office/powerpoint/2010/main" val="4557920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E510ECDB-F702-A17E-1EB2-F82602A2E33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2475C06-A74A-4D1D-6DDC-AF95F6AEB5ED}"/>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B44953FD-1F66-7152-AFED-8C4E0250F15F}"/>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06  —  Ligand-Receptor Pairs</a:t>
            </a:r>
            <a:endParaRPr lang="en-US" sz="1400" dirty="0"/>
          </a:p>
        </p:txBody>
      </p:sp>
      <p:sp>
        <p:nvSpPr>
          <p:cNvPr id="6" name="Shape 4">
            <a:extLst>
              <a:ext uri="{FF2B5EF4-FFF2-40B4-BE49-F238E27FC236}">
                <a16:creationId xmlns:a16="http://schemas.microsoft.com/office/drawing/2014/main" id="{C65A72DE-2F38-B2F1-2C3C-A3990D24CA52}"/>
              </a:ext>
            </a:extLst>
          </p:cNvPr>
          <p:cNvSpPr/>
          <p:nvPr/>
        </p:nvSpPr>
        <p:spPr>
          <a:xfrm>
            <a:off x="422475" y="1238491"/>
            <a:ext cx="8397433" cy="3298786"/>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a:p>
            <a:endParaRPr lang="en-GB" dirty="0"/>
          </a:p>
          <a:p>
            <a:endParaRPr lang="en-GB" dirty="0"/>
          </a:p>
          <a:p>
            <a:endParaRPr lang="en-GB" dirty="0"/>
          </a:p>
          <a:p>
            <a:endParaRPr lang="en-GB" sz="6000" dirty="0"/>
          </a:p>
        </p:txBody>
      </p:sp>
      <p:pic>
        <p:nvPicPr>
          <p:cNvPr id="5" name="Picture 4">
            <a:extLst>
              <a:ext uri="{FF2B5EF4-FFF2-40B4-BE49-F238E27FC236}">
                <a16:creationId xmlns:a16="http://schemas.microsoft.com/office/drawing/2014/main" id="{5830C76B-F423-7033-EAF1-7D95E1A215E0}"/>
              </a:ext>
            </a:extLst>
          </p:cNvPr>
          <p:cNvPicPr>
            <a:picLocks noChangeAspect="1"/>
          </p:cNvPicPr>
          <p:nvPr/>
        </p:nvPicPr>
        <p:blipFill>
          <a:blip r:embed="rId3"/>
          <a:stretch>
            <a:fillRect/>
          </a:stretch>
        </p:blipFill>
        <p:spPr>
          <a:xfrm rot="5400000">
            <a:off x="3143478" y="-1367522"/>
            <a:ext cx="2966824" cy="8386036"/>
          </a:xfrm>
          <a:prstGeom prst="rect">
            <a:avLst/>
          </a:prstGeom>
        </p:spPr>
      </p:pic>
    </p:spTree>
    <p:extLst>
      <p:ext uri="{BB962C8B-B14F-4D97-AF65-F5344CB8AC3E}">
        <p14:creationId xmlns:p14="http://schemas.microsoft.com/office/powerpoint/2010/main" val="6777777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7FF70EBD-F680-2E07-43C3-6756667F5D2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B428A73-D2A6-FF9A-17BF-EE66E49A6698}"/>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E3C6E9F9-C8AA-EC35-1D49-DEF703B83346}"/>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06  —  Ligand-Receptor Pairs</a:t>
            </a:r>
            <a:endParaRPr lang="en-US" sz="1400" dirty="0"/>
          </a:p>
        </p:txBody>
      </p:sp>
      <p:sp>
        <p:nvSpPr>
          <p:cNvPr id="6" name="Shape 4">
            <a:extLst>
              <a:ext uri="{FF2B5EF4-FFF2-40B4-BE49-F238E27FC236}">
                <a16:creationId xmlns:a16="http://schemas.microsoft.com/office/drawing/2014/main" id="{D2FECF0D-8F40-90B2-217B-FD2F7BABA407}"/>
              </a:ext>
            </a:extLst>
          </p:cNvPr>
          <p:cNvSpPr/>
          <p:nvPr/>
        </p:nvSpPr>
        <p:spPr>
          <a:xfrm>
            <a:off x="422475" y="914400"/>
            <a:ext cx="8397433" cy="38221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dirty="0"/>
          </a:p>
          <a:p>
            <a:endParaRPr lang="en-GB" dirty="0"/>
          </a:p>
          <a:p>
            <a:endParaRPr lang="en-GB" dirty="0"/>
          </a:p>
          <a:p>
            <a:endParaRPr lang="en-GB" dirty="0"/>
          </a:p>
          <a:p>
            <a:endParaRPr lang="en-GB" sz="6000" dirty="0"/>
          </a:p>
          <a:p>
            <a:pPr algn="ctr"/>
            <a:endParaRPr lang="en-GB" sz="6000" dirty="0"/>
          </a:p>
        </p:txBody>
      </p:sp>
      <p:pic>
        <p:nvPicPr>
          <p:cNvPr id="5" name="Picture 4">
            <a:extLst>
              <a:ext uri="{FF2B5EF4-FFF2-40B4-BE49-F238E27FC236}">
                <a16:creationId xmlns:a16="http://schemas.microsoft.com/office/drawing/2014/main" id="{F18C1208-2132-E579-D3EB-DED40F275CD4}"/>
              </a:ext>
            </a:extLst>
          </p:cNvPr>
          <p:cNvPicPr>
            <a:picLocks noChangeAspect="1"/>
          </p:cNvPicPr>
          <p:nvPr/>
        </p:nvPicPr>
        <p:blipFill>
          <a:blip r:embed="rId3"/>
          <a:stretch>
            <a:fillRect/>
          </a:stretch>
        </p:blipFill>
        <p:spPr>
          <a:xfrm>
            <a:off x="1204442" y="1214248"/>
            <a:ext cx="6735115" cy="2715004"/>
          </a:xfrm>
          <a:prstGeom prst="rect">
            <a:avLst/>
          </a:prstGeom>
        </p:spPr>
      </p:pic>
      <p:sp>
        <p:nvSpPr>
          <p:cNvPr id="8" name="TextBox 7">
            <a:extLst>
              <a:ext uri="{FF2B5EF4-FFF2-40B4-BE49-F238E27FC236}">
                <a16:creationId xmlns:a16="http://schemas.microsoft.com/office/drawing/2014/main" id="{D7DF52B5-430D-1FDE-45C2-6F19F0FD7A72}"/>
              </a:ext>
            </a:extLst>
          </p:cNvPr>
          <p:cNvSpPr txBox="1"/>
          <p:nvPr/>
        </p:nvSpPr>
        <p:spPr>
          <a:xfrm>
            <a:off x="4025095" y="2859728"/>
            <a:ext cx="914400" cy="2139047"/>
          </a:xfrm>
          <a:prstGeom prst="rect">
            <a:avLst/>
          </a:prstGeom>
          <a:noFill/>
        </p:spPr>
        <p:txBody>
          <a:bodyPr wrap="square" rtlCol="0">
            <a:spAutoFit/>
          </a:bodyPr>
          <a:lstStyle/>
          <a:p>
            <a:r>
              <a:rPr lang="en-GB" sz="11500" dirty="0"/>
              <a:t>…</a:t>
            </a:r>
          </a:p>
          <a:p>
            <a:endParaRPr lang="en-GB" dirty="0"/>
          </a:p>
        </p:txBody>
      </p:sp>
    </p:spTree>
    <p:extLst>
      <p:ext uri="{BB962C8B-B14F-4D97-AF65-F5344CB8AC3E}">
        <p14:creationId xmlns:p14="http://schemas.microsoft.com/office/powerpoint/2010/main" val="29883039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08B5DB76-71AB-C731-9010-A04B5AC48B0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C1A5675-AF08-DCB5-6E0C-1412D6B9ED0B}"/>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34313A40-CF72-4EDE-3F72-7F59E0CD5A30}"/>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06  —  Ligand-Receptor Pairs</a:t>
            </a:r>
            <a:endParaRPr lang="en-US" sz="1400" dirty="0"/>
          </a:p>
        </p:txBody>
      </p:sp>
      <p:sp>
        <p:nvSpPr>
          <p:cNvPr id="6" name="Shape 4">
            <a:extLst>
              <a:ext uri="{FF2B5EF4-FFF2-40B4-BE49-F238E27FC236}">
                <a16:creationId xmlns:a16="http://schemas.microsoft.com/office/drawing/2014/main" id="{614F524D-2639-7E89-F534-61510C973FC3}"/>
              </a:ext>
            </a:extLst>
          </p:cNvPr>
          <p:cNvSpPr/>
          <p:nvPr/>
        </p:nvSpPr>
        <p:spPr>
          <a:xfrm>
            <a:off x="422475" y="914400"/>
            <a:ext cx="8397433" cy="38221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sz="6000" dirty="0"/>
          </a:p>
        </p:txBody>
      </p:sp>
      <p:sp>
        <p:nvSpPr>
          <p:cNvPr id="13" name="TextBox 12">
            <a:extLst>
              <a:ext uri="{FF2B5EF4-FFF2-40B4-BE49-F238E27FC236}">
                <a16:creationId xmlns:a16="http://schemas.microsoft.com/office/drawing/2014/main" id="{F5B33944-69A2-54F8-5569-C7E8329943EE}"/>
              </a:ext>
            </a:extLst>
          </p:cNvPr>
          <p:cNvSpPr txBox="1"/>
          <p:nvPr/>
        </p:nvSpPr>
        <p:spPr>
          <a:xfrm>
            <a:off x="702004" y="1436734"/>
            <a:ext cx="7900878" cy="338554"/>
          </a:xfrm>
          <a:prstGeom prst="rect">
            <a:avLst/>
          </a:prstGeom>
          <a:solidFill>
            <a:schemeClr val="tx1"/>
          </a:solidFill>
        </p:spPr>
        <p:txBody>
          <a:bodyPr wrap="square" rtlCol="0">
            <a:spAutoFit/>
          </a:bodyPr>
          <a:lstStyle/>
          <a:p>
            <a:r>
              <a:rPr lang="en-GB" sz="1600" dirty="0">
                <a:solidFill>
                  <a:schemeClr val="bg1"/>
                </a:solidFill>
                <a:latin typeface="Consolas" panose="020B0609020204030204" pitchFamily="49" charset="0"/>
              </a:rPr>
              <a:t>146 pairs are viable in ALL strips (ideal for cross-strip K analysis)</a:t>
            </a:r>
          </a:p>
        </p:txBody>
      </p:sp>
      <p:sp>
        <p:nvSpPr>
          <p:cNvPr id="5" name="TextBox 4">
            <a:extLst>
              <a:ext uri="{FF2B5EF4-FFF2-40B4-BE49-F238E27FC236}">
                <a16:creationId xmlns:a16="http://schemas.microsoft.com/office/drawing/2014/main" id="{7BBA4464-4CF2-DDFC-ACDE-949E7ECF9EB8}"/>
              </a:ext>
            </a:extLst>
          </p:cNvPr>
          <p:cNvSpPr txBox="1"/>
          <p:nvPr/>
        </p:nvSpPr>
        <p:spPr>
          <a:xfrm>
            <a:off x="1133161" y="1332337"/>
            <a:ext cx="7038565" cy="3508653"/>
          </a:xfrm>
          <a:prstGeom prst="rect">
            <a:avLst/>
          </a:prstGeom>
          <a:noFill/>
        </p:spPr>
        <p:txBody>
          <a:bodyPr wrap="square">
            <a:spAutoFit/>
          </a:bodyPr>
          <a:lstStyle/>
          <a:p>
            <a:endParaRPr lang="en-GB" dirty="0"/>
          </a:p>
          <a:p>
            <a:endParaRPr lang="en-GB" dirty="0"/>
          </a:p>
          <a:p>
            <a:endParaRPr lang="en-GB" dirty="0"/>
          </a:p>
          <a:p>
            <a:r>
              <a:rPr lang="en-GB" b="1" dirty="0"/>
              <a:t>1. </a:t>
            </a:r>
            <a:r>
              <a:rPr lang="en-GB" dirty="0"/>
              <a:t>We don’t want to test all 146 pairs</a:t>
            </a:r>
          </a:p>
          <a:p>
            <a:pPr marL="342900" indent="-342900">
              <a:buAutoNum type="arabicPeriod"/>
            </a:pPr>
            <a:endParaRPr lang="en-GB" b="1" dirty="0"/>
          </a:p>
          <a:p>
            <a:r>
              <a:rPr lang="en-GB" b="1" dirty="0"/>
              <a:t>2. </a:t>
            </a:r>
            <a:r>
              <a:rPr lang="en-GB" dirty="0"/>
              <a:t>Main focus for analysis should be on:</a:t>
            </a:r>
          </a:p>
          <a:p>
            <a:r>
              <a:rPr lang="en-GB" b="1" dirty="0"/>
              <a:t>	- Infection-relevant pairs</a:t>
            </a:r>
          </a:p>
          <a:p>
            <a:r>
              <a:rPr lang="en-GB" b="1" dirty="0"/>
              <a:t>	- Immune checkpoint pairs</a:t>
            </a:r>
          </a:p>
          <a:p>
            <a:r>
              <a:rPr lang="en-GB" b="1" dirty="0"/>
              <a:t>	- Vascular/growth factor pairs</a:t>
            </a:r>
          </a:p>
          <a:p>
            <a:endParaRPr lang="en-GB" sz="6000" dirty="0"/>
          </a:p>
        </p:txBody>
      </p:sp>
    </p:spTree>
    <p:extLst>
      <p:ext uri="{BB962C8B-B14F-4D97-AF65-F5344CB8AC3E}">
        <p14:creationId xmlns:p14="http://schemas.microsoft.com/office/powerpoint/2010/main" val="17680329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21">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6858000" y="-731520"/>
            <a:ext cx="3657600" cy="3657600"/>
          </a:xfrm>
          <a:prstGeom prst="ellipse">
            <a:avLst/>
          </a:prstGeom>
          <a:solidFill>
            <a:srgbClr val="1E3A5F">
              <a:alpha val="45000"/>
            </a:srgbClr>
          </a:solidFill>
          <a:ln/>
        </p:spPr>
        <p:txBody>
          <a:bodyPr/>
          <a:lstStyle/>
          <a:p>
            <a:endParaRPr lang="en-GB"/>
          </a:p>
        </p:txBody>
      </p:sp>
      <p:sp>
        <p:nvSpPr>
          <p:cNvPr id="3" name="Shape 1"/>
          <p:cNvSpPr/>
          <p:nvPr/>
        </p:nvSpPr>
        <p:spPr>
          <a:xfrm>
            <a:off x="7772400" y="2743200"/>
            <a:ext cx="2286000" cy="2286000"/>
          </a:xfrm>
          <a:prstGeom prst="ellipse">
            <a:avLst/>
          </a:prstGeom>
          <a:solidFill>
            <a:srgbClr val="0D9488">
              <a:alpha val="30000"/>
            </a:srgbClr>
          </a:solidFill>
          <a:ln/>
        </p:spPr>
        <p:txBody>
          <a:bodyPr/>
          <a:lstStyle/>
          <a:p>
            <a:endParaRPr lang="en-GB"/>
          </a:p>
        </p:txBody>
      </p:sp>
      <p:sp>
        <p:nvSpPr>
          <p:cNvPr id="4" name="Text 2"/>
          <p:cNvSpPr/>
          <p:nvPr/>
        </p:nvSpPr>
        <p:spPr>
          <a:xfrm>
            <a:off x="548640" y="457200"/>
            <a:ext cx="1828800" cy="1645920"/>
          </a:xfrm>
          <a:prstGeom prst="rect">
            <a:avLst/>
          </a:prstGeom>
          <a:noFill/>
          <a:ln/>
        </p:spPr>
        <p:txBody>
          <a:bodyPr wrap="square" lIns="0" tIns="0" rIns="0" bIns="0" rtlCol="0" anchor="ctr"/>
          <a:lstStyle/>
          <a:p>
            <a:pPr marL="0" indent="0">
              <a:buNone/>
            </a:pPr>
            <a:r>
              <a:rPr lang="en-US" sz="7200" b="1" dirty="0">
                <a:solidFill>
                  <a:srgbClr val="0D9488"/>
                </a:solidFill>
                <a:latin typeface="Georgia" pitchFamily="34" charset="0"/>
                <a:ea typeface="Georgia" pitchFamily="34" charset="-122"/>
                <a:cs typeface="Georgia" pitchFamily="34" charset="-120"/>
              </a:rPr>
              <a:t>07</a:t>
            </a:r>
            <a:endParaRPr lang="en-US" sz="7200" dirty="0"/>
          </a:p>
        </p:txBody>
      </p:sp>
      <p:sp>
        <p:nvSpPr>
          <p:cNvPr id="5" name="Shape 3"/>
          <p:cNvSpPr/>
          <p:nvPr/>
        </p:nvSpPr>
        <p:spPr>
          <a:xfrm>
            <a:off x="548640" y="2194560"/>
            <a:ext cx="3200400" cy="36576"/>
          </a:xfrm>
          <a:prstGeom prst="rect">
            <a:avLst/>
          </a:prstGeom>
          <a:solidFill>
            <a:srgbClr val="0D9488"/>
          </a:solidFill>
          <a:ln/>
        </p:spPr>
        <p:txBody>
          <a:bodyPr/>
          <a:lstStyle/>
          <a:p>
            <a:endParaRPr lang="en-GB"/>
          </a:p>
        </p:txBody>
      </p:sp>
      <p:sp>
        <p:nvSpPr>
          <p:cNvPr id="6" name="Text 4"/>
          <p:cNvSpPr/>
          <p:nvPr/>
        </p:nvSpPr>
        <p:spPr>
          <a:xfrm>
            <a:off x="548640" y="2468880"/>
            <a:ext cx="6400800" cy="91440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Multi-FOV Pipeline</a:t>
            </a:r>
            <a:endParaRPr lang="en-US" sz="3200" dirty="0"/>
          </a:p>
        </p:txBody>
      </p:sp>
      <p:pic>
        <p:nvPicPr>
          <p:cNvPr id="8" name="Image 0" descr="preencoded.png"/>
          <p:cNvPicPr>
            <a:picLocks noChangeAspect="1"/>
          </p:cNvPicPr>
          <p:nvPr/>
        </p:nvPicPr>
        <p:blipFill>
          <a:blip r:embed="rId3"/>
          <a:stretch>
            <a:fillRect/>
          </a:stretch>
        </p:blipFill>
        <p:spPr>
          <a:xfrm>
            <a:off x="8046720" y="4114800"/>
            <a:ext cx="640080" cy="64008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D3A"/>
          </a:solidFill>
          <a:ln/>
        </p:spPr>
        <p:txBody>
          <a:bodyPr/>
          <a:lstStyle/>
          <a:p>
            <a:endParaRPr lang="en-GB"/>
          </a:p>
        </p:txBody>
      </p:sp>
      <p:sp>
        <p:nvSpPr>
          <p:cNvPr id="3" name="Text 1"/>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07  —  Multi-FOV Pipeline</a:t>
            </a:r>
            <a:endParaRPr lang="en-US" sz="1400" dirty="0"/>
          </a:p>
        </p:txBody>
      </p:sp>
      <p:sp>
        <p:nvSpPr>
          <p:cNvPr id="4" name="Shape 2"/>
          <p:cNvSpPr/>
          <p:nvPr/>
        </p:nvSpPr>
        <p:spPr>
          <a:xfrm>
            <a:off x="548640" y="1051560"/>
            <a:ext cx="54864" cy="457200"/>
          </a:xfrm>
          <a:prstGeom prst="rect">
            <a:avLst/>
          </a:prstGeom>
          <a:solidFill>
            <a:srgbClr val="0D9488"/>
          </a:solidFill>
          <a:ln/>
        </p:spPr>
        <p:txBody>
          <a:bodyPr/>
          <a:lstStyle/>
          <a:p>
            <a:endParaRPr lang="en-GB"/>
          </a:p>
        </p:txBody>
      </p:sp>
      <p:sp>
        <p:nvSpPr>
          <p:cNvPr id="5" name="Text 3"/>
          <p:cNvSpPr/>
          <p:nvPr/>
        </p:nvSpPr>
        <p:spPr>
          <a:xfrm>
            <a:off x="777240" y="1051560"/>
            <a:ext cx="2743200" cy="45720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Method</a:t>
            </a:r>
            <a:endParaRPr lang="en-US" sz="2600" dirty="0"/>
          </a:p>
        </p:txBody>
      </p:sp>
      <p:sp>
        <p:nvSpPr>
          <p:cNvPr id="6" name="Shape 4"/>
          <p:cNvSpPr/>
          <p:nvPr/>
        </p:nvSpPr>
        <p:spPr>
          <a:xfrm>
            <a:off x="548640" y="1737360"/>
            <a:ext cx="8046720" cy="2926080"/>
          </a:xfrm>
          <a:prstGeom prst="rect">
            <a:avLst/>
          </a:prstGeom>
          <a:solidFill>
            <a:srgbClr val="FFFFFF"/>
          </a:solidFill>
          <a:ln/>
          <a:effectLst>
            <a:outerShdw blurRad="76200" dist="25400" dir="8100000" algn="bl" rotWithShape="0">
              <a:srgbClr val="000000">
                <a:alpha val="12000"/>
              </a:srgbClr>
            </a:outerShdw>
          </a:effectLst>
        </p:spPr>
        <p:txBody>
          <a:bodyPr/>
          <a:lstStyle/>
          <a:p>
            <a:r>
              <a:rPr lang="en-GB" b="1" dirty="0"/>
              <a:t>1. </a:t>
            </a:r>
            <a:r>
              <a:rPr lang="en-GB" dirty="0"/>
              <a:t>Expanded Bivariate Ripley’s analysis on all verified FOVs</a:t>
            </a:r>
          </a:p>
          <a:p>
            <a:r>
              <a:rPr lang="en-GB" b="1" dirty="0"/>
              <a:t>2. </a:t>
            </a:r>
            <a:r>
              <a:rPr lang="en-GB" dirty="0"/>
              <a:t>Starting with positive control, </a:t>
            </a:r>
            <a:r>
              <a:rPr lang="en-GB" b="1" dirty="0"/>
              <a:t>KRT8 x KRT18</a:t>
            </a:r>
          </a:p>
        </p:txBody>
      </p:sp>
      <p:pic>
        <p:nvPicPr>
          <p:cNvPr id="10" name="Picture 9">
            <a:extLst>
              <a:ext uri="{FF2B5EF4-FFF2-40B4-BE49-F238E27FC236}">
                <a16:creationId xmlns:a16="http://schemas.microsoft.com/office/drawing/2014/main" id="{20658C38-4C17-D2B5-1761-DC79C95C0C1E}"/>
              </a:ext>
            </a:extLst>
          </p:cNvPr>
          <p:cNvPicPr>
            <a:picLocks noChangeAspect="1"/>
          </p:cNvPicPr>
          <p:nvPr/>
        </p:nvPicPr>
        <p:blipFill>
          <a:blip r:embed="rId3"/>
          <a:stretch>
            <a:fillRect/>
          </a:stretch>
        </p:blipFill>
        <p:spPr>
          <a:xfrm>
            <a:off x="854341" y="2663293"/>
            <a:ext cx="7192379" cy="167663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D3A"/>
          </a:solidFill>
          <a:ln/>
        </p:spPr>
        <p:txBody>
          <a:bodyPr/>
          <a:lstStyle/>
          <a:p>
            <a:endParaRPr lang="en-GB"/>
          </a:p>
        </p:txBody>
      </p:sp>
      <p:sp>
        <p:nvSpPr>
          <p:cNvPr id="3" name="Text 1"/>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07  —  Multi-FOV Pipeline</a:t>
            </a:r>
            <a:endParaRPr lang="en-US" sz="1400" dirty="0"/>
          </a:p>
        </p:txBody>
      </p:sp>
      <p:sp>
        <p:nvSpPr>
          <p:cNvPr id="6" name="Shape 4"/>
          <p:cNvSpPr/>
          <p:nvPr/>
        </p:nvSpPr>
        <p:spPr>
          <a:xfrm>
            <a:off x="548639" y="1041722"/>
            <a:ext cx="8062925" cy="362171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a:p>
        </p:txBody>
      </p:sp>
      <p:pic>
        <p:nvPicPr>
          <p:cNvPr id="12" name="Picture 11">
            <a:extLst>
              <a:ext uri="{FF2B5EF4-FFF2-40B4-BE49-F238E27FC236}">
                <a16:creationId xmlns:a16="http://schemas.microsoft.com/office/drawing/2014/main" id="{8D560B9B-F1B2-469F-AD23-8002025206F8}"/>
              </a:ext>
            </a:extLst>
          </p:cNvPr>
          <p:cNvPicPr>
            <a:picLocks noChangeAspect="1"/>
          </p:cNvPicPr>
          <p:nvPr/>
        </p:nvPicPr>
        <p:blipFill>
          <a:blip r:embed="rId3"/>
          <a:stretch>
            <a:fillRect/>
          </a:stretch>
        </p:blipFill>
        <p:spPr>
          <a:xfrm>
            <a:off x="717629" y="1264939"/>
            <a:ext cx="7622109" cy="3237613"/>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512B1626-A077-54EB-E5FA-505AF142B91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475CBD2-72DB-6A4C-DB14-0A2B77275246}"/>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1FA71104-4EDD-59BB-3A3A-D4DFF95A3E1B}"/>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07  —  Multi-FOV Pipeline</a:t>
            </a:r>
            <a:endParaRPr lang="en-US" sz="1400" dirty="0"/>
          </a:p>
        </p:txBody>
      </p:sp>
      <p:sp>
        <p:nvSpPr>
          <p:cNvPr id="6" name="Shape 4">
            <a:extLst>
              <a:ext uri="{FF2B5EF4-FFF2-40B4-BE49-F238E27FC236}">
                <a16:creationId xmlns:a16="http://schemas.microsoft.com/office/drawing/2014/main" id="{B05BB8C2-38AF-ED1F-775A-D1E3EC6682EE}"/>
              </a:ext>
            </a:extLst>
          </p:cNvPr>
          <p:cNvSpPr/>
          <p:nvPr/>
        </p:nvSpPr>
        <p:spPr>
          <a:xfrm>
            <a:off x="548639" y="1041722"/>
            <a:ext cx="8062925" cy="3621718"/>
          </a:xfrm>
          <a:prstGeom prst="rect">
            <a:avLst/>
          </a:prstGeom>
          <a:solidFill>
            <a:srgbClr val="FFFFFF"/>
          </a:solidFill>
          <a:ln/>
          <a:effectLst>
            <a:outerShdw blurRad="76200" dist="25400" dir="8100000" algn="bl" rotWithShape="0">
              <a:srgbClr val="000000">
                <a:alpha val="12000"/>
              </a:srgbClr>
            </a:outerShdw>
          </a:effectLst>
        </p:spPr>
        <p:txBody>
          <a:bodyPr/>
          <a:lstStyle/>
          <a:p>
            <a:r>
              <a:rPr lang="en-GB" b="1" dirty="0"/>
              <a:t>Now KRT8 x CD68 (transmembrane protein found in lysosomes and macrophages)</a:t>
            </a:r>
          </a:p>
        </p:txBody>
      </p:sp>
      <p:pic>
        <p:nvPicPr>
          <p:cNvPr id="5" name="Picture 4">
            <a:extLst>
              <a:ext uri="{FF2B5EF4-FFF2-40B4-BE49-F238E27FC236}">
                <a16:creationId xmlns:a16="http://schemas.microsoft.com/office/drawing/2014/main" id="{D157E57B-CA1A-0237-31F3-5BBD816D8FD9}"/>
              </a:ext>
            </a:extLst>
          </p:cNvPr>
          <p:cNvPicPr>
            <a:picLocks noChangeAspect="1"/>
          </p:cNvPicPr>
          <p:nvPr/>
        </p:nvPicPr>
        <p:blipFill>
          <a:blip r:embed="rId3"/>
          <a:stretch>
            <a:fillRect/>
          </a:stretch>
        </p:blipFill>
        <p:spPr>
          <a:xfrm>
            <a:off x="1240805" y="1584342"/>
            <a:ext cx="6678592" cy="2836839"/>
          </a:xfrm>
          <a:prstGeom prst="rect">
            <a:avLst/>
          </a:prstGeom>
        </p:spPr>
      </p:pic>
    </p:spTree>
    <p:extLst>
      <p:ext uri="{BB962C8B-B14F-4D97-AF65-F5344CB8AC3E}">
        <p14:creationId xmlns:p14="http://schemas.microsoft.com/office/powerpoint/2010/main" val="9464533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3C12A93B-229D-02B5-FDA6-DE8EB48EB70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8D8031C-0D9B-75EA-EE11-DA5D2841CD9D}"/>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CC9842B8-E421-965A-B61D-E2F3CA3DAF2C}"/>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07  —  Multi-FOV Pipeline</a:t>
            </a:r>
            <a:endParaRPr lang="en-US" sz="1400" dirty="0"/>
          </a:p>
        </p:txBody>
      </p:sp>
      <p:sp>
        <p:nvSpPr>
          <p:cNvPr id="6" name="Shape 4">
            <a:extLst>
              <a:ext uri="{FF2B5EF4-FFF2-40B4-BE49-F238E27FC236}">
                <a16:creationId xmlns:a16="http://schemas.microsoft.com/office/drawing/2014/main" id="{85052B28-4C39-8E5A-2C8F-0D17D51F1234}"/>
              </a:ext>
            </a:extLst>
          </p:cNvPr>
          <p:cNvSpPr/>
          <p:nvPr/>
        </p:nvSpPr>
        <p:spPr>
          <a:xfrm>
            <a:off x="548639" y="1041722"/>
            <a:ext cx="8062925" cy="3102015"/>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b="1" dirty="0"/>
          </a:p>
          <a:p>
            <a:r>
              <a:rPr lang="en-GB" b="1" dirty="0"/>
              <a:t>Now a synthetic CSR dataset to be able to confirm predictions about the plot results and subsequent analysis</a:t>
            </a:r>
          </a:p>
          <a:p>
            <a:endParaRPr lang="en-GB" b="1" dirty="0"/>
          </a:p>
          <a:p>
            <a:r>
              <a:rPr lang="en-GB" sz="2600" b="1" dirty="0"/>
              <a:t>Three stages:</a:t>
            </a:r>
            <a:endParaRPr lang="en-GB" b="1" dirty="0"/>
          </a:p>
          <a:p>
            <a:r>
              <a:rPr lang="en-GB" b="1" dirty="0"/>
              <a:t>	1. </a:t>
            </a:r>
            <a:r>
              <a:rPr lang="en-GB" dirty="0"/>
              <a:t>Co-clustered data, </a:t>
            </a:r>
            <a:r>
              <a:rPr lang="en-GB" b="1" dirty="0"/>
              <a:t>positive test</a:t>
            </a:r>
            <a:r>
              <a:rPr lang="en-GB" dirty="0"/>
              <a:t> (</a:t>
            </a:r>
            <a:r>
              <a:rPr lang="en-GB" dirty="0" err="1"/>
              <a:t>plateu</a:t>
            </a:r>
            <a:r>
              <a:rPr lang="en-GB" dirty="0"/>
              <a:t> at expected value)</a:t>
            </a:r>
          </a:p>
          <a:p>
            <a:r>
              <a:rPr lang="en-GB" b="1" dirty="0"/>
              <a:t>	2. </a:t>
            </a:r>
            <a:r>
              <a:rPr lang="en-GB" dirty="0"/>
              <a:t>Clustered A, random B, </a:t>
            </a:r>
            <a:r>
              <a:rPr lang="en-GB" b="1" dirty="0"/>
              <a:t>negative test </a:t>
            </a:r>
            <a:r>
              <a:rPr lang="en-GB" dirty="0"/>
              <a:t>(inside envelope throughout)</a:t>
            </a:r>
          </a:p>
          <a:p>
            <a:r>
              <a:rPr lang="en-GB" b="1" dirty="0"/>
              <a:t>	3. </a:t>
            </a:r>
            <a:r>
              <a:rPr lang="en-GB" dirty="0"/>
              <a:t>CSR baseline (0 throughout)</a:t>
            </a:r>
            <a:endParaRPr lang="en-GB" b="1" dirty="0"/>
          </a:p>
        </p:txBody>
      </p:sp>
    </p:spTree>
    <p:extLst>
      <p:ext uri="{BB962C8B-B14F-4D97-AF65-F5344CB8AC3E}">
        <p14:creationId xmlns:p14="http://schemas.microsoft.com/office/powerpoint/2010/main" val="2216893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AE55FA63-802D-3425-03D7-D3EB322760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FEEAB4A-13B5-A0A1-F211-CF43871B2093}"/>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37C159B1-34D2-B16A-7FD0-AED4FF6447FB}"/>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07  —  Multi-FOV Pipeline</a:t>
            </a:r>
            <a:endParaRPr lang="en-US" sz="1400" dirty="0"/>
          </a:p>
        </p:txBody>
      </p:sp>
      <p:pic>
        <p:nvPicPr>
          <p:cNvPr id="5" name="Picture 4">
            <a:extLst>
              <a:ext uri="{FF2B5EF4-FFF2-40B4-BE49-F238E27FC236}">
                <a16:creationId xmlns:a16="http://schemas.microsoft.com/office/drawing/2014/main" id="{F5106B9F-FD62-2635-78B6-49F687D855B7}"/>
              </a:ext>
            </a:extLst>
          </p:cNvPr>
          <p:cNvPicPr>
            <a:picLocks noChangeAspect="1"/>
          </p:cNvPicPr>
          <p:nvPr/>
        </p:nvPicPr>
        <p:blipFill>
          <a:blip r:embed="rId3"/>
          <a:stretch>
            <a:fillRect/>
          </a:stretch>
        </p:blipFill>
        <p:spPr>
          <a:xfrm>
            <a:off x="353502" y="1362108"/>
            <a:ext cx="8436996" cy="2804777"/>
          </a:xfrm>
          <a:prstGeom prst="rect">
            <a:avLst/>
          </a:prstGeom>
        </p:spPr>
      </p:pic>
      <p:sp>
        <p:nvSpPr>
          <p:cNvPr id="7" name="TextBox 6">
            <a:extLst>
              <a:ext uri="{FF2B5EF4-FFF2-40B4-BE49-F238E27FC236}">
                <a16:creationId xmlns:a16="http://schemas.microsoft.com/office/drawing/2014/main" id="{A9B6CE37-A944-5038-BD44-858AAC87055A}"/>
              </a:ext>
            </a:extLst>
          </p:cNvPr>
          <p:cNvSpPr txBox="1"/>
          <p:nvPr/>
        </p:nvSpPr>
        <p:spPr>
          <a:xfrm>
            <a:off x="0" y="1562163"/>
            <a:ext cx="4066562" cy="400110"/>
          </a:xfrm>
          <a:prstGeom prst="rect">
            <a:avLst/>
          </a:prstGeom>
          <a:noFill/>
        </p:spPr>
        <p:txBody>
          <a:bodyPr wrap="none" rtlCol="0">
            <a:spAutoFit/>
          </a:bodyPr>
          <a:lstStyle/>
          <a:p>
            <a:r>
              <a:rPr lang="en-GB" sz="2000" b="1" dirty="0">
                <a:highlight>
                  <a:srgbClr val="FFFF00"/>
                </a:highlight>
              </a:rPr>
              <a:t>“Exceeds envelope, plateau at ~100”</a:t>
            </a:r>
          </a:p>
        </p:txBody>
      </p:sp>
      <p:sp>
        <p:nvSpPr>
          <p:cNvPr id="8" name="TextBox 7">
            <a:extLst>
              <a:ext uri="{FF2B5EF4-FFF2-40B4-BE49-F238E27FC236}">
                <a16:creationId xmlns:a16="http://schemas.microsoft.com/office/drawing/2014/main" id="{B9A78559-69A8-1438-7F6D-239DBCE9576F}"/>
              </a:ext>
            </a:extLst>
          </p:cNvPr>
          <p:cNvSpPr txBox="1"/>
          <p:nvPr/>
        </p:nvSpPr>
        <p:spPr>
          <a:xfrm>
            <a:off x="3057646" y="3966830"/>
            <a:ext cx="3359061" cy="400110"/>
          </a:xfrm>
          <a:prstGeom prst="rect">
            <a:avLst/>
          </a:prstGeom>
          <a:noFill/>
        </p:spPr>
        <p:txBody>
          <a:bodyPr wrap="none" rtlCol="0">
            <a:spAutoFit/>
          </a:bodyPr>
          <a:lstStyle/>
          <a:p>
            <a:r>
              <a:rPr lang="en-GB" sz="2000" b="1" dirty="0">
                <a:highlight>
                  <a:srgbClr val="FFFF00"/>
                </a:highlight>
              </a:rPr>
              <a:t>“Inside envelope throughout”</a:t>
            </a:r>
          </a:p>
        </p:txBody>
      </p:sp>
      <p:sp>
        <p:nvSpPr>
          <p:cNvPr id="9" name="TextBox 8">
            <a:extLst>
              <a:ext uri="{FF2B5EF4-FFF2-40B4-BE49-F238E27FC236}">
                <a16:creationId xmlns:a16="http://schemas.microsoft.com/office/drawing/2014/main" id="{A690BEC6-B60F-5BEE-E115-B9B5B9C93C03}"/>
              </a:ext>
            </a:extLst>
          </p:cNvPr>
          <p:cNvSpPr txBox="1"/>
          <p:nvPr/>
        </p:nvSpPr>
        <p:spPr>
          <a:xfrm>
            <a:off x="6583592" y="1561744"/>
            <a:ext cx="1976888" cy="400110"/>
          </a:xfrm>
          <a:prstGeom prst="rect">
            <a:avLst/>
          </a:prstGeom>
          <a:noFill/>
        </p:spPr>
        <p:txBody>
          <a:bodyPr wrap="none" rtlCol="0">
            <a:spAutoFit/>
          </a:bodyPr>
          <a:lstStyle/>
          <a:p>
            <a:r>
              <a:rPr lang="en-GB" sz="2000" b="1" dirty="0">
                <a:highlight>
                  <a:srgbClr val="FFFF00"/>
                </a:highlight>
              </a:rPr>
              <a:t>“~0 Throughout”</a:t>
            </a:r>
          </a:p>
        </p:txBody>
      </p:sp>
    </p:spTree>
    <p:extLst>
      <p:ext uri="{BB962C8B-B14F-4D97-AF65-F5344CB8AC3E}">
        <p14:creationId xmlns:p14="http://schemas.microsoft.com/office/powerpoint/2010/main" val="26058829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D19215AE-5093-A15D-AB36-D656FA8C616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E9FC364-3676-7D13-B7A2-7542AB8ECFED}"/>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9F581D52-4B7F-0D92-24FE-452C610260FD}"/>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07  —  Multi-FOV Pipeline</a:t>
            </a:r>
            <a:endParaRPr lang="en-US" sz="1400" dirty="0"/>
          </a:p>
        </p:txBody>
      </p:sp>
      <p:pic>
        <p:nvPicPr>
          <p:cNvPr id="2050" name="Picture 2" descr="Dancing Frog GIFs - Find &amp; Share on GIPHY">
            <a:extLst>
              <a:ext uri="{FF2B5EF4-FFF2-40B4-BE49-F238E27FC236}">
                <a16:creationId xmlns:a16="http://schemas.microsoft.com/office/drawing/2014/main" id="{D9C6EAE1-F000-9B48-82C9-A29F30CA66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 y="1399331"/>
            <a:ext cx="4052887" cy="294755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BC20FD6-100B-95ED-7A32-8988D991F2D0}"/>
              </a:ext>
            </a:extLst>
          </p:cNvPr>
          <p:cNvSpPr txBox="1"/>
          <p:nvPr/>
        </p:nvSpPr>
        <p:spPr>
          <a:xfrm>
            <a:off x="4838218" y="1410905"/>
            <a:ext cx="3912243" cy="2862322"/>
          </a:xfrm>
          <a:prstGeom prst="rect">
            <a:avLst/>
          </a:prstGeom>
          <a:noFill/>
        </p:spPr>
        <p:txBody>
          <a:bodyPr wrap="square" rtlCol="0">
            <a:spAutoFit/>
          </a:bodyPr>
          <a:lstStyle/>
          <a:p>
            <a:r>
              <a:rPr lang="en-GB" b="1" dirty="0"/>
              <a:t>1. </a:t>
            </a:r>
            <a:r>
              <a:rPr lang="en-GB" dirty="0"/>
              <a:t>Clearly not enough understanding about my tests, data, or results</a:t>
            </a:r>
          </a:p>
          <a:p>
            <a:endParaRPr lang="en-GB" b="1" dirty="0"/>
          </a:p>
          <a:p>
            <a:r>
              <a:rPr lang="en-GB" b="1" dirty="0"/>
              <a:t>2. </a:t>
            </a:r>
            <a:r>
              <a:rPr lang="en-GB" dirty="0"/>
              <a:t>Thus far, focus has been purely statistical and technical</a:t>
            </a:r>
          </a:p>
          <a:p>
            <a:endParaRPr lang="en-GB" b="1" dirty="0"/>
          </a:p>
          <a:p>
            <a:r>
              <a:rPr lang="en-GB" b="1" dirty="0"/>
              <a:t>3. </a:t>
            </a:r>
            <a:r>
              <a:rPr lang="en-GB" dirty="0"/>
              <a:t>Need to return to the biology for greater understanding</a:t>
            </a:r>
          </a:p>
          <a:p>
            <a:endParaRPr lang="en-GB" b="1" dirty="0"/>
          </a:p>
          <a:p>
            <a:r>
              <a:rPr lang="en-GB" b="1" dirty="0"/>
              <a:t>4. </a:t>
            </a:r>
            <a:r>
              <a:rPr lang="en-GB" dirty="0"/>
              <a:t>Scaffolding is now there though</a:t>
            </a:r>
            <a:endParaRPr lang="en-GB" b="1" dirty="0"/>
          </a:p>
        </p:txBody>
      </p:sp>
    </p:spTree>
    <p:extLst>
      <p:ext uri="{BB962C8B-B14F-4D97-AF65-F5344CB8AC3E}">
        <p14:creationId xmlns:p14="http://schemas.microsoft.com/office/powerpoint/2010/main" val="21064438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76CE7D9B-AADD-2D87-4369-6C27E355D4C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C4BD0B6-C025-E42C-7238-245544126C6A}"/>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288B384F-6122-64AC-8BD4-06841544139E}"/>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07  —  Multi-FOV Pipeline</a:t>
            </a:r>
            <a:endParaRPr lang="en-US" sz="1400" dirty="0"/>
          </a:p>
        </p:txBody>
      </p:sp>
      <p:sp>
        <p:nvSpPr>
          <p:cNvPr id="6" name="Shape 4">
            <a:extLst>
              <a:ext uri="{FF2B5EF4-FFF2-40B4-BE49-F238E27FC236}">
                <a16:creationId xmlns:a16="http://schemas.microsoft.com/office/drawing/2014/main" id="{DB46C27F-237E-2904-93C0-7D4187790A75}"/>
              </a:ext>
            </a:extLst>
          </p:cNvPr>
          <p:cNvSpPr/>
          <p:nvPr/>
        </p:nvSpPr>
        <p:spPr>
          <a:xfrm>
            <a:off x="548639" y="1041722"/>
            <a:ext cx="8062925" cy="3507129"/>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b="1" dirty="0"/>
          </a:p>
          <a:p>
            <a:r>
              <a:rPr lang="en-GB" b="1" dirty="0"/>
              <a:t>	</a:t>
            </a:r>
            <a:r>
              <a:rPr lang="en-GB" sz="2400" b="1" dirty="0"/>
              <a:t>Ripley’s K function assumptions:</a:t>
            </a:r>
          </a:p>
          <a:p>
            <a:endParaRPr lang="en-GB" b="1" dirty="0"/>
          </a:p>
          <a:p>
            <a:r>
              <a:rPr lang="en-GB" b="1" dirty="0"/>
              <a:t>	1. Stationarity (mean density is constant across the study area)</a:t>
            </a:r>
          </a:p>
          <a:p>
            <a:r>
              <a:rPr lang="en-GB" b="1" dirty="0"/>
              <a:t>	2. Isotropy (pattern properties are independent of direction)</a:t>
            </a:r>
          </a:p>
          <a:p>
            <a:endParaRPr lang="en-GB" b="1" dirty="0"/>
          </a:p>
          <a:p>
            <a:r>
              <a:rPr lang="en-GB" dirty="0"/>
              <a:t>Currently my window functions are purely rectangular, and so are almost entirely white space with my tissue data. The tissue itself is also long and thing, meaning edge effects are strong, and vary between X and Y. </a:t>
            </a:r>
            <a:r>
              <a:rPr lang="en-GB" b="1" dirty="0"/>
              <a:t>Both assumptions violated.</a:t>
            </a:r>
            <a:endParaRPr lang="en-GB" dirty="0"/>
          </a:p>
          <a:p>
            <a:r>
              <a:rPr lang="en-GB" b="1" dirty="0"/>
              <a:t>	</a:t>
            </a:r>
          </a:p>
        </p:txBody>
      </p:sp>
    </p:spTree>
    <p:extLst>
      <p:ext uri="{BB962C8B-B14F-4D97-AF65-F5344CB8AC3E}">
        <p14:creationId xmlns:p14="http://schemas.microsoft.com/office/powerpoint/2010/main" val="30460305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F9F2E243-916B-EFD8-7CA5-7E61EB3F3A3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8EAD0BC-4864-6729-97E3-3969181C11E8}"/>
              </a:ext>
            </a:extLst>
          </p:cNvPr>
          <p:cNvSpPr/>
          <p:nvPr/>
        </p:nvSpPr>
        <p:spPr>
          <a:xfrm>
            <a:off x="0" y="0"/>
            <a:ext cx="9144000" cy="731520"/>
          </a:xfrm>
          <a:prstGeom prst="rect">
            <a:avLst/>
          </a:prstGeom>
          <a:solidFill>
            <a:srgbClr val="0B1D3A"/>
          </a:solidFill>
          <a:ln/>
        </p:spPr>
        <p:txBody>
          <a:bodyPr/>
          <a:lstStyle/>
          <a:p>
            <a:endParaRPr lang="en-GB"/>
          </a:p>
        </p:txBody>
      </p:sp>
      <p:sp>
        <p:nvSpPr>
          <p:cNvPr id="3" name="Text 1">
            <a:extLst>
              <a:ext uri="{FF2B5EF4-FFF2-40B4-BE49-F238E27FC236}">
                <a16:creationId xmlns:a16="http://schemas.microsoft.com/office/drawing/2014/main" id="{FF848A3C-0BC3-AA31-CFC6-8443C4B5F628}"/>
              </a:ext>
            </a:extLst>
          </p:cNvPr>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07  —  Multi-FOV Pipeline</a:t>
            </a:r>
            <a:endParaRPr lang="en-US" sz="1400" dirty="0"/>
          </a:p>
        </p:txBody>
      </p:sp>
      <p:sp>
        <p:nvSpPr>
          <p:cNvPr id="6" name="Shape 4">
            <a:extLst>
              <a:ext uri="{FF2B5EF4-FFF2-40B4-BE49-F238E27FC236}">
                <a16:creationId xmlns:a16="http://schemas.microsoft.com/office/drawing/2014/main" id="{8E8A4CA2-E696-BE5D-C50D-8F5F458D3E14}"/>
              </a:ext>
            </a:extLst>
          </p:cNvPr>
          <p:cNvSpPr/>
          <p:nvPr/>
        </p:nvSpPr>
        <p:spPr>
          <a:xfrm>
            <a:off x="548640" y="1041722"/>
            <a:ext cx="4972484" cy="3507129"/>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b="1" dirty="0"/>
          </a:p>
          <a:p>
            <a:r>
              <a:rPr lang="en-GB" b="1" dirty="0"/>
              <a:t>Solutions:</a:t>
            </a:r>
          </a:p>
          <a:p>
            <a:endParaRPr lang="en-GB" b="1" dirty="0"/>
          </a:p>
          <a:p>
            <a:r>
              <a:rPr lang="en-GB" b="1" dirty="0"/>
              <a:t>1. </a:t>
            </a:r>
            <a:r>
              <a:rPr lang="en-GB" dirty="0"/>
              <a:t>More coherent QC to clear up random unassigned points in the viewing window</a:t>
            </a:r>
            <a:endParaRPr lang="en-GB" b="1" dirty="0"/>
          </a:p>
          <a:p>
            <a:endParaRPr lang="en-GB" b="1" dirty="0"/>
          </a:p>
          <a:p>
            <a:r>
              <a:rPr lang="en-GB" b="1" dirty="0"/>
              <a:t>2. </a:t>
            </a:r>
            <a:r>
              <a:rPr lang="en-GB" dirty="0"/>
              <a:t>More choice for the window functions</a:t>
            </a:r>
          </a:p>
          <a:p>
            <a:endParaRPr lang="en-GB" dirty="0"/>
          </a:p>
          <a:p>
            <a:r>
              <a:rPr lang="en-GB" dirty="0"/>
              <a:t>         I’ll keep the rectangular/histogram      </a:t>
            </a:r>
          </a:p>
          <a:p>
            <a:r>
              <a:rPr lang="en-GB" dirty="0"/>
              <a:t>         functionality for simplicity but also add  </a:t>
            </a:r>
          </a:p>
          <a:p>
            <a:r>
              <a:rPr lang="en-GB" dirty="0"/>
              <a:t>         polygonal and convex hull options</a:t>
            </a:r>
          </a:p>
        </p:txBody>
      </p:sp>
      <p:pic>
        <p:nvPicPr>
          <p:cNvPr id="3074" name="Picture 2" descr="Convex Hull Algorithm - GeeksforGeeks">
            <a:extLst>
              <a:ext uri="{FF2B5EF4-FFF2-40B4-BE49-F238E27FC236}">
                <a16:creationId xmlns:a16="http://schemas.microsoft.com/office/drawing/2014/main" id="{EE95F7F0-6990-30D8-4B2A-8AB7AC98B94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62" b="11930"/>
          <a:stretch>
            <a:fillRect/>
          </a:stretch>
        </p:blipFill>
        <p:spPr bwMode="auto">
          <a:xfrm>
            <a:off x="5752418" y="3243574"/>
            <a:ext cx="2928829" cy="13052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754E279-F9FD-26CA-CBB3-6C110AD3E76B}"/>
              </a:ext>
            </a:extLst>
          </p:cNvPr>
          <p:cNvPicPr>
            <a:picLocks noChangeAspect="1"/>
          </p:cNvPicPr>
          <p:nvPr/>
        </p:nvPicPr>
        <p:blipFill>
          <a:blip r:embed="rId4"/>
          <a:stretch>
            <a:fillRect/>
          </a:stretch>
        </p:blipFill>
        <p:spPr>
          <a:xfrm>
            <a:off x="6179795" y="1074345"/>
            <a:ext cx="2074074" cy="2064102"/>
          </a:xfrm>
          <a:prstGeom prst="rect">
            <a:avLst/>
          </a:prstGeom>
        </p:spPr>
      </p:pic>
    </p:spTree>
    <p:extLst>
      <p:ext uri="{BB962C8B-B14F-4D97-AF65-F5344CB8AC3E}">
        <p14:creationId xmlns:p14="http://schemas.microsoft.com/office/powerpoint/2010/main" val="27995874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24">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1371600" y="2743200"/>
            <a:ext cx="3657600" cy="3657600"/>
          </a:xfrm>
          <a:prstGeom prst="ellipse">
            <a:avLst/>
          </a:prstGeom>
          <a:solidFill>
            <a:srgbClr val="1E3A5F">
              <a:alpha val="45000"/>
            </a:srgbClr>
          </a:solidFill>
          <a:ln/>
        </p:spPr>
        <p:txBody>
          <a:bodyPr/>
          <a:lstStyle/>
          <a:p>
            <a:endParaRPr lang="en-GB"/>
          </a:p>
        </p:txBody>
      </p:sp>
      <p:sp>
        <p:nvSpPr>
          <p:cNvPr id="3" name="Shape 1"/>
          <p:cNvSpPr/>
          <p:nvPr/>
        </p:nvSpPr>
        <p:spPr>
          <a:xfrm>
            <a:off x="7315200" y="-914400"/>
            <a:ext cx="3200400" cy="3200400"/>
          </a:xfrm>
          <a:prstGeom prst="ellipse">
            <a:avLst/>
          </a:prstGeom>
          <a:solidFill>
            <a:srgbClr val="0D9488">
              <a:alpha val="25000"/>
            </a:srgbClr>
          </a:solidFill>
          <a:ln/>
        </p:spPr>
        <p:txBody>
          <a:bodyPr/>
          <a:lstStyle/>
          <a:p>
            <a:endParaRPr lang="en-GB"/>
          </a:p>
        </p:txBody>
      </p:sp>
      <p:sp>
        <p:nvSpPr>
          <p:cNvPr id="4" name="Text 2"/>
          <p:cNvSpPr/>
          <p:nvPr/>
        </p:nvSpPr>
        <p:spPr>
          <a:xfrm>
            <a:off x="548640" y="457200"/>
            <a:ext cx="1828800" cy="1645920"/>
          </a:xfrm>
          <a:prstGeom prst="rect">
            <a:avLst/>
          </a:prstGeom>
          <a:noFill/>
          <a:ln/>
        </p:spPr>
        <p:txBody>
          <a:bodyPr wrap="square" lIns="0" tIns="0" rIns="0" bIns="0" rtlCol="0" anchor="ctr"/>
          <a:lstStyle/>
          <a:p>
            <a:pPr marL="0" indent="0">
              <a:buNone/>
            </a:pPr>
            <a:r>
              <a:rPr lang="en-US" sz="7200" b="1" dirty="0">
                <a:solidFill>
                  <a:srgbClr val="0D9488"/>
                </a:solidFill>
                <a:latin typeface="Georgia" pitchFamily="34" charset="0"/>
                <a:ea typeface="Georgia" pitchFamily="34" charset="-122"/>
                <a:cs typeface="Georgia" pitchFamily="34" charset="-120"/>
              </a:rPr>
              <a:t>08</a:t>
            </a:r>
            <a:endParaRPr lang="en-US" sz="7200" dirty="0"/>
          </a:p>
        </p:txBody>
      </p:sp>
      <p:sp>
        <p:nvSpPr>
          <p:cNvPr id="5" name="Shape 3"/>
          <p:cNvSpPr/>
          <p:nvPr/>
        </p:nvSpPr>
        <p:spPr>
          <a:xfrm>
            <a:off x="548640" y="2194560"/>
            <a:ext cx="3200400" cy="36576"/>
          </a:xfrm>
          <a:prstGeom prst="rect">
            <a:avLst/>
          </a:prstGeom>
          <a:solidFill>
            <a:srgbClr val="0D9488"/>
          </a:solidFill>
          <a:ln/>
        </p:spPr>
        <p:txBody>
          <a:bodyPr/>
          <a:lstStyle/>
          <a:p>
            <a:endParaRPr lang="en-GB"/>
          </a:p>
        </p:txBody>
      </p:sp>
      <p:sp>
        <p:nvSpPr>
          <p:cNvPr id="6" name="Text 4"/>
          <p:cNvSpPr/>
          <p:nvPr/>
        </p:nvSpPr>
        <p:spPr>
          <a:xfrm>
            <a:off x="548640" y="2468880"/>
            <a:ext cx="6400800" cy="91440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Network &amp; Module Discovery</a:t>
            </a:r>
            <a:endParaRPr lang="en-US" sz="3200" dirty="0"/>
          </a:p>
        </p:txBody>
      </p:sp>
      <p:sp>
        <p:nvSpPr>
          <p:cNvPr id="7" name="Text 5"/>
          <p:cNvSpPr/>
          <p:nvPr/>
        </p:nvSpPr>
        <p:spPr>
          <a:xfrm>
            <a:off x="548640" y="3383280"/>
            <a:ext cx="3657600" cy="457200"/>
          </a:xfrm>
          <a:prstGeom prst="rect">
            <a:avLst/>
          </a:prstGeom>
          <a:noFill/>
          <a:ln/>
        </p:spPr>
        <p:txBody>
          <a:bodyPr wrap="square" lIns="0" tIns="0" rIns="0" bIns="0" rtlCol="0" anchor="ctr"/>
          <a:lstStyle/>
          <a:p>
            <a:pPr marL="0" indent="0">
              <a:buNone/>
            </a:pPr>
            <a:r>
              <a:rPr lang="en-US" sz="1600" dirty="0">
                <a:solidFill>
                  <a:srgbClr val="5EEAD4"/>
                </a:solidFill>
                <a:latin typeface="Calibri" pitchFamily="34" charset="0"/>
                <a:ea typeface="Calibri" pitchFamily="34" charset="-122"/>
                <a:cs typeface="Calibri" pitchFamily="34" charset="-120"/>
              </a:rPr>
              <a:t>Introduction</a:t>
            </a:r>
            <a:endParaRPr lang="en-US" sz="1600" dirty="0"/>
          </a:p>
        </p:txBody>
      </p:sp>
      <p:pic>
        <p:nvPicPr>
          <p:cNvPr id="8" name="Image 0" descr="preencoded.png"/>
          <p:cNvPicPr>
            <a:picLocks noChangeAspect="1"/>
          </p:cNvPicPr>
          <p:nvPr/>
        </p:nvPicPr>
        <p:blipFill>
          <a:blip r:embed="rId3"/>
          <a:stretch>
            <a:fillRect/>
          </a:stretch>
        </p:blipFill>
        <p:spPr>
          <a:xfrm>
            <a:off x="8046720" y="4114800"/>
            <a:ext cx="640080" cy="64008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D3A"/>
          </a:solidFill>
          <a:ln/>
        </p:spPr>
        <p:txBody>
          <a:bodyPr/>
          <a:lstStyle/>
          <a:p>
            <a:endParaRPr lang="en-GB"/>
          </a:p>
        </p:txBody>
      </p:sp>
      <p:sp>
        <p:nvSpPr>
          <p:cNvPr id="3" name="Text 1"/>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08  —  Network &amp; Module Discovery</a:t>
            </a:r>
            <a:endParaRPr lang="en-US" sz="1400" dirty="0"/>
          </a:p>
        </p:txBody>
      </p:sp>
      <p:sp>
        <p:nvSpPr>
          <p:cNvPr id="4" name="Shape 2"/>
          <p:cNvSpPr/>
          <p:nvPr/>
        </p:nvSpPr>
        <p:spPr>
          <a:xfrm>
            <a:off x="548640" y="1051560"/>
            <a:ext cx="54864" cy="457200"/>
          </a:xfrm>
          <a:prstGeom prst="rect">
            <a:avLst/>
          </a:prstGeom>
          <a:solidFill>
            <a:srgbClr val="0D9488"/>
          </a:solidFill>
          <a:ln/>
        </p:spPr>
        <p:txBody>
          <a:bodyPr/>
          <a:lstStyle/>
          <a:p>
            <a:endParaRPr lang="en-GB"/>
          </a:p>
        </p:txBody>
      </p:sp>
      <p:sp>
        <p:nvSpPr>
          <p:cNvPr id="5" name="Text 3"/>
          <p:cNvSpPr/>
          <p:nvPr/>
        </p:nvSpPr>
        <p:spPr>
          <a:xfrm>
            <a:off x="777240" y="1051560"/>
            <a:ext cx="2743200" cy="45720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Method</a:t>
            </a:r>
            <a:endParaRPr lang="en-US" sz="2600" dirty="0"/>
          </a:p>
        </p:txBody>
      </p:sp>
      <p:sp>
        <p:nvSpPr>
          <p:cNvPr id="6" name="Shape 4"/>
          <p:cNvSpPr/>
          <p:nvPr/>
        </p:nvSpPr>
        <p:spPr>
          <a:xfrm>
            <a:off x="548640" y="1737360"/>
            <a:ext cx="804672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a:p>
        </p:txBody>
      </p:sp>
      <p:sp>
        <p:nvSpPr>
          <p:cNvPr id="7" name="Text 5"/>
          <p:cNvSpPr/>
          <p:nvPr/>
        </p:nvSpPr>
        <p:spPr>
          <a:xfrm>
            <a:off x="914400" y="2011680"/>
            <a:ext cx="7315200" cy="365760"/>
          </a:xfrm>
          <a:prstGeom prst="rect">
            <a:avLst/>
          </a:prstGeom>
          <a:noFill/>
          <a:ln/>
        </p:spPr>
        <p:txBody>
          <a:bodyPr wrap="square" lIns="0" tIns="0" rIns="0" bIns="0"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Add your method content here</a:t>
            </a:r>
            <a:endParaRPr lang="en-US" sz="1300" dirty="0"/>
          </a:p>
        </p:txBody>
      </p:sp>
      <p:pic>
        <p:nvPicPr>
          <p:cNvPr id="8" name="Image 0" descr="preencoded.png"/>
          <p:cNvPicPr>
            <a:picLocks noChangeAspect="1"/>
          </p:cNvPicPr>
          <p:nvPr/>
        </p:nvPicPr>
        <p:blipFill>
          <a:blip r:embed="rId3"/>
          <a:stretch>
            <a:fillRect/>
          </a:stretch>
        </p:blipFill>
        <p:spPr>
          <a:xfrm>
            <a:off x="8046720" y="4206240"/>
            <a:ext cx="411480" cy="41148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D3A"/>
          </a:solidFill>
          <a:ln/>
        </p:spPr>
        <p:txBody>
          <a:bodyPr/>
          <a:lstStyle/>
          <a:p>
            <a:endParaRPr lang="en-GB"/>
          </a:p>
        </p:txBody>
      </p:sp>
      <p:sp>
        <p:nvSpPr>
          <p:cNvPr id="3" name="Text 1"/>
          <p:cNvSpPr/>
          <p:nvPr/>
        </p:nvSpPr>
        <p:spPr>
          <a:xfrm>
            <a:off x="548640" y="109728"/>
            <a:ext cx="64008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08  —  Network &amp; Module Discovery</a:t>
            </a:r>
            <a:endParaRPr lang="en-US" sz="1400" dirty="0"/>
          </a:p>
        </p:txBody>
      </p:sp>
      <p:sp>
        <p:nvSpPr>
          <p:cNvPr id="4" name="Shape 2"/>
          <p:cNvSpPr/>
          <p:nvPr/>
        </p:nvSpPr>
        <p:spPr>
          <a:xfrm>
            <a:off x="548640" y="1051560"/>
            <a:ext cx="54864" cy="457200"/>
          </a:xfrm>
          <a:prstGeom prst="rect">
            <a:avLst/>
          </a:prstGeom>
          <a:solidFill>
            <a:srgbClr val="F59E0B"/>
          </a:solidFill>
          <a:ln/>
        </p:spPr>
        <p:txBody>
          <a:bodyPr/>
          <a:lstStyle/>
          <a:p>
            <a:endParaRPr lang="en-GB"/>
          </a:p>
        </p:txBody>
      </p:sp>
      <p:sp>
        <p:nvSpPr>
          <p:cNvPr id="5" name="Text 3"/>
          <p:cNvSpPr/>
          <p:nvPr/>
        </p:nvSpPr>
        <p:spPr>
          <a:xfrm>
            <a:off x="777240" y="1051560"/>
            <a:ext cx="2743200" cy="45720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Conclusion</a:t>
            </a:r>
            <a:endParaRPr lang="en-US" sz="2600" dirty="0"/>
          </a:p>
        </p:txBody>
      </p:sp>
      <p:sp>
        <p:nvSpPr>
          <p:cNvPr id="6" name="Shape 4"/>
          <p:cNvSpPr/>
          <p:nvPr/>
        </p:nvSpPr>
        <p:spPr>
          <a:xfrm>
            <a:off x="548640" y="1737360"/>
            <a:ext cx="384048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a:p>
        </p:txBody>
      </p:sp>
      <p:sp>
        <p:nvSpPr>
          <p:cNvPr id="7" name="Text 5"/>
          <p:cNvSpPr/>
          <p:nvPr/>
        </p:nvSpPr>
        <p:spPr>
          <a:xfrm>
            <a:off x="822960" y="1920240"/>
            <a:ext cx="3200400" cy="365760"/>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Key Findings</a:t>
            </a:r>
            <a:endParaRPr lang="en-US" sz="1400" dirty="0"/>
          </a:p>
        </p:txBody>
      </p:sp>
      <p:sp>
        <p:nvSpPr>
          <p:cNvPr id="8" name="Shape 6"/>
          <p:cNvSpPr/>
          <p:nvPr/>
        </p:nvSpPr>
        <p:spPr>
          <a:xfrm>
            <a:off x="4754880" y="1737360"/>
            <a:ext cx="384048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GB"/>
          </a:p>
        </p:txBody>
      </p:sp>
      <p:sp>
        <p:nvSpPr>
          <p:cNvPr id="9" name="Text 7"/>
          <p:cNvSpPr/>
          <p:nvPr/>
        </p:nvSpPr>
        <p:spPr>
          <a:xfrm>
            <a:off x="5029200" y="1920240"/>
            <a:ext cx="3200400" cy="365760"/>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Implications</a:t>
            </a:r>
            <a:endParaRPr lang="en-US" sz="1400" dirty="0"/>
          </a:p>
        </p:txBody>
      </p:sp>
      <p:pic>
        <p:nvPicPr>
          <p:cNvPr id="10" name="Image 0" descr="preencoded.png"/>
          <p:cNvPicPr>
            <a:picLocks noChangeAspect="1"/>
          </p:cNvPicPr>
          <p:nvPr/>
        </p:nvPicPr>
        <p:blipFill>
          <a:blip r:embed="rId3"/>
          <a:stretch>
            <a:fillRect/>
          </a:stretch>
        </p:blipFill>
        <p:spPr>
          <a:xfrm>
            <a:off x="8046720" y="4206240"/>
            <a:ext cx="411480" cy="411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8469</TotalTime>
  <Words>2045</Words>
  <Application>Microsoft Office PowerPoint</Application>
  <PresentationFormat>On-screen Show (16:9)</PresentationFormat>
  <Paragraphs>463</Paragraphs>
  <Slides>65</Slides>
  <Notes>65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Spatial Co-Expression Analysis — Notebook Summary</dc:title>
  <dc:subject>PptxGenJS Presentation</dc:subject>
  <dc:creator>Harry</dc:creator>
  <cp:lastModifiedBy>Harry Woodward</cp:lastModifiedBy>
  <cp:revision>7</cp:revision>
  <dcterms:created xsi:type="dcterms:W3CDTF">2026-03-23T10:59:59Z</dcterms:created>
  <dcterms:modified xsi:type="dcterms:W3CDTF">2026-03-29T08:11:48Z</dcterms:modified>
</cp:coreProperties>
</file>